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addresses a real and pressing challenge faced by rural Karnataka students who study in Kannada medium but must transition to English-medium higher education. Our solution uses Generative AI to bridge this gap through bilingual STEM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a systemic language barrier. In Karnataka, over 60% of school students study in Kannada medium, yet higher education is predominantly in English. This creates a double burden: learning the language AND the subject matter simultaneously. Our AI tool directly addresses this crisis.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consistently shows that mother-tongue-based multilingual education improves STEM outcomes. When students first understand a concept in Kannada and then encounter it in English, comprehension improves dramatically. Our system embodies this bilingual-first pedagogy.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six objectives are tightly aligned with the educational needs of rural students. Each objective was validated by speaking with students and educators in Karnataka. The focus on local analogies is particularly novel — it's not just translation, it's cultural localization of science.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elegantly simple from the student's perspective: enter a concept, pick a level, and instantly receive a complete bilingual learning package. Under the hood, carefully crafted prompt engineering ensures Gemini returns structured JSON with all four content types in a single API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shows a clean 6-layer pipeline: Streamlit captures student input, the Prompt Engineering Layer formats intelligent bilingual prompts, Gemini 2.5 Flash processes and generates content, the Multilingual Module structures the output, gTTS converts text to audio, and finally the Output Layer presents everything in a user-friendly interface. Each layer is independently modular and replaceable.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technology was chosen deliberately. Python and Streamlit allow rapid iteration without sacrificing functionality. Gemini 2.5 Flash provides the latest multimodal AI capabilities at low latency. gTTS was selected for its Kannada language support, which is critical for our target audience. The entire stack is open-source or freely accessible, keeping the solution deployable at zero infrastructure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live testing, all five subject areas returned accurate bilingual explanations with appropriate difficulty scaling. The village analogy for Photosynthesis — comparing it to a local farmer cooking food using sunlight — was particularly well-received by student testers. Audio playback in Kannada worked flawlessly for all tested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of this project extends beyond individual students. By democratizing access to AI-powered bilingual STEM education, we can reduce drop-out rates, improve state-board-to-university transition rates, and contribute to broader digital equity in Karnataka. This is not just a hackathon project — it's a scalable solution for a national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Multilingual STEM Concept Explainer demonstrates that AI can be a powerful equalizer in education. With modest resources, we have built a tool that could meaningfully improve outcomes for thousands of rural Karnataka students. Our roadmap includes voice input, offline support, and expansion to all major Indian languages — making this a truly national-scale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w="12700">
            <a:solidFill>
              <a:srgbClr val="028090"/>
            </a:solidFill>
            <a:prstDash val="solid"/>
          </a:ln>
        </p:spPr>
      </p:sp>
      <p:sp>
        <p:nvSpPr>
          <p:cNvPr id="3" name="Shape 1"/>
          <p:cNvSpPr/>
          <p:nvPr/>
        </p:nvSpPr>
        <p:spPr>
          <a:xfrm>
            <a:off x="164592" y="0"/>
            <a:ext cx="8979408" cy="109728"/>
          </a:xfrm>
          <a:prstGeom prst="rect">
            <a:avLst/>
          </a:prstGeom>
          <a:solidFill>
            <a:srgbClr val="E0F4F7"/>
          </a:solidFill>
          <a:ln w="12700">
            <a:solidFill>
              <a:srgbClr val="E0F4F7"/>
            </a:solidFill>
            <a:prstDash val="solid"/>
          </a:ln>
        </p:spPr>
      </p:sp>
      <p:sp>
        <p:nvSpPr>
          <p:cNvPr id="4" name="Shape 2"/>
          <p:cNvSpPr/>
          <p:nvPr/>
        </p:nvSpPr>
        <p:spPr>
          <a:xfrm>
            <a:off x="164592" y="1188720"/>
            <a:ext cx="5943600" cy="1828800"/>
          </a:xfrm>
          <a:prstGeom prst="rect">
            <a:avLst/>
          </a:prstGeom>
          <a:solidFill>
            <a:srgbClr val="028090"/>
          </a:solidFill>
          <a:ln w="12700">
            <a:solidFill>
              <a:srgbClr val="028090"/>
            </a:solidFill>
            <a:prstDash val="solid"/>
          </a:ln>
        </p:spPr>
      </p:sp>
      <p:sp>
        <p:nvSpPr>
          <p:cNvPr id="5" name="Text 3"/>
          <p:cNvSpPr/>
          <p:nvPr/>
        </p:nvSpPr>
        <p:spPr>
          <a:xfrm>
            <a:off x="320040" y="1234440"/>
            <a:ext cx="5669280" cy="1737360"/>
          </a:xfrm>
          <a:prstGeom prst="rect">
            <a:avLst/>
          </a:prstGeom>
          <a:noFill/>
          <a:ln/>
        </p:spPr>
        <p:txBody>
          <a:bodyPr wrap="square" lIns="0" tIns="0" rIns="0" bIns="0"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Multilingual STEM</a:t>
            </a:r>
            <a:endParaRPr lang="en-US" sz="3600" dirty="0"/>
          </a:p>
          <a:p>
            <a:pPr algn="l" indent="0" marL="0">
              <a:buNone/>
            </a:pPr>
            <a:r>
              <a:rPr lang="en-US" sz="3600" b="1" dirty="0">
                <a:solidFill>
                  <a:srgbClr val="FFFFFF"/>
                </a:solidFill>
                <a:latin typeface="Calibri" pitchFamily="34" charset="0"/>
                <a:ea typeface="Calibri" pitchFamily="34" charset="-122"/>
                <a:cs typeface="Calibri" pitchFamily="34" charset="-120"/>
              </a:rPr>
              <a:t>Concept Explainer</a:t>
            </a:r>
            <a:endParaRPr lang="en-US" sz="3600" dirty="0"/>
          </a:p>
        </p:txBody>
      </p:sp>
      <p:sp>
        <p:nvSpPr>
          <p:cNvPr id="6" name="Text 4"/>
          <p:cNvSpPr/>
          <p:nvPr/>
        </p:nvSpPr>
        <p:spPr>
          <a:xfrm>
            <a:off x="320040" y="3035808"/>
            <a:ext cx="5486400" cy="365760"/>
          </a:xfrm>
          <a:prstGeom prst="rect">
            <a:avLst/>
          </a:prstGeom>
          <a:noFill/>
          <a:ln/>
        </p:spPr>
        <p:txBody>
          <a:bodyPr wrap="square" lIns="0" tIns="0" rIns="0" bIns="0" rtlCol="0" anchor="ctr"/>
          <a:lstStyle/>
          <a:p>
            <a:pPr algn="l" indent="0" marL="0">
              <a:buNone/>
            </a:pPr>
            <a:r>
              <a:rPr lang="en-US" sz="1700" i="1" dirty="0">
                <a:solidFill>
                  <a:srgbClr val="4A7C85"/>
                </a:solidFill>
                <a:latin typeface="Calibri" pitchFamily="34" charset="0"/>
                <a:ea typeface="Calibri" pitchFamily="34" charset="-122"/>
                <a:cs typeface="Calibri" pitchFamily="34" charset="-120"/>
              </a:rPr>
              <a:t>For Rural Karnataka Students</a:t>
            </a:r>
            <a:endParaRPr lang="en-US" sz="1700" dirty="0"/>
          </a:p>
        </p:txBody>
      </p:sp>
      <p:sp>
        <p:nvSpPr>
          <p:cNvPr id="7" name="Shape 5"/>
          <p:cNvSpPr/>
          <p:nvPr/>
        </p:nvSpPr>
        <p:spPr>
          <a:xfrm>
            <a:off x="320040" y="3520440"/>
            <a:ext cx="2194560" cy="347472"/>
          </a:xfrm>
          <a:prstGeom prst="rect">
            <a:avLst/>
          </a:prstGeom>
          <a:solidFill>
            <a:srgbClr val="02C39A"/>
          </a:solidFill>
          <a:ln w="12700">
            <a:solidFill>
              <a:srgbClr val="02C39A"/>
            </a:solidFill>
            <a:prstDash val="solid"/>
          </a:ln>
        </p:spPr>
      </p:sp>
      <p:sp>
        <p:nvSpPr>
          <p:cNvPr id="8" name="Text 6"/>
          <p:cNvSpPr/>
          <p:nvPr/>
        </p:nvSpPr>
        <p:spPr>
          <a:xfrm>
            <a:off x="320040" y="3520440"/>
            <a:ext cx="21945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Education &amp; Learning</a:t>
            </a:r>
            <a:endParaRPr lang="en-US" sz="1200" dirty="0"/>
          </a:p>
        </p:txBody>
      </p:sp>
      <p:sp>
        <p:nvSpPr>
          <p:cNvPr id="9" name="Shape 7"/>
          <p:cNvSpPr/>
          <p:nvPr/>
        </p:nvSpPr>
        <p:spPr>
          <a:xfrm>
            <a:off x="320040" y="3977640"/>
            <a:ext cx="3657600" cy="914400"/>
          </a:xfrm>
          <a:prstGeom prst="rect">
            <a:avLst/>
          </a:prstGeom>
          <a:solidFill>
            <a:srgbClr val="F7FAFB"/>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10" name="Text 8"/>
          <p:cNvSpPr/>
          <p:nvPr/>
        </p:nvSpPr>
        <p:spPr>
          <a:xfrm>
            <a:off x="457200" y="4041648"/>
            <a:ext cx="3383280" cy="256032"/>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Team Details</a:t>
            </a:r>
            <a:endParaRPr lang="en-US" sz="1200" dirty="0"/>
          </a:p>
        </p:txBody>
      </p:sp>
      <p:sp>
        <p:nvSpPr>
          <p:cNvPr id="11" name="Text 9"/>
          <p:cNvSpPr/>
          <p:nvPr/>
        </p:nvSpPr>
        <p:spPr>
          <a:xfrm>
            <a:off x="457200" y="4315968"/>
            <a:ext cx="3383280" cy="502920"/>
          </a:xfrm>
          <a:prstGeom prst="rect">
            <a:avLst/>
          </a:prstGeom>
          <a:noFill/>
          <a:ln/>
        </p:spPr>
        <p:txBody>
          <a:bodyPr wrap="square" lIns="0" tIns="0" rIns="0" bIns="0" rtlCol="0" anchor="ctr"/>
          <a:lstStyle/>
          <a:p>
            <a:pPr indent="0" marL="0">
              <a:buNone/>
            </a:pPr>
            <a:r>
              <a:rPr lang="en-US" sz="1100" dirty="0">
                <a:solidFill>
                  <a:srgbClr val="3D5A60"/>
                </a:solidFill>
                <a:latin typeface="Calibri" pitchFamily="34" charset="0"/>
                <a:ea typeface="Calibri" pitchFamily="34" charset="-122"/>
                <a:cs typeface="Calibri" pitchFamily="34" charset="-120"/>
              </a:rPr>
              <a:t>Hackathon 2025  |  Domain: Education &amp; AI</a:t>
            </a:r>
            <a:endParaRPr lang="en-US" sz="1100" dirty="0"/>
          </a:p>
          <a:p>
            <a:pPr indent="0" marL="0">
              <a:buNone/>
            </a:pPr>
            <a:r>
              <a:rPr lang="en-US" sz="1100" dirty="0">
                <a:solidFill>
                  <a:srgbClr val="3D5A60"/>
                </a:solidFill>
                <a:latin typeface="Calibri" pitchFamily="34" charset="0"/>
                <a:ea typeface="Calibri" pitchFamily="34" charset="-122"/>
                <a:cs typeface="Calibri" pitchFamily="34" charset="-120"/>
              </a:rPr>
              <a:t>Theme: Bridging the Digital Language Divide</a:t>
            </a:r>
            <a:endParaRPr lang="en-US" sz="1100" dirty="0"/>
          </a:p>
        </p:txBody>
      </p:sp>
      <p:sp>
        <p:nvSpPr>
          <p:cNvPr id="12" name="Shape 10"/>
          <p:cNvSpPr/>
          <p:nvPr/>
        </p:nvSpPr>
        <p:spPr>
          <a:xfrm>
            <a:off x="6400800" y="1188720"/>
            <a:ext cx="2514600" cy="3657600"/>
          </a:xfrm>
          <a:prstGeom prst="rect">
            <a:avLst/>
          </a:prstGeom>
          <a:solidFill>
            <a:srgbClr val="F7FAFB"/>
          </a:solidFill>
          <a:ln w="12700">
            <a:solidFill>
              <a:srgbClr val="B2DDE5"/>
            </a:solidFill>
            <a:prstDash val="solid"/>
          </a:ln>
          <a:effectLst>
            <a:outerShdw sx="100000" sy="100000" kx="0" ky="0" algn="bl" rotWithShape="0" blurRad="101600" dist="25400" dir="8100000">
              <a:srgbClr val="000000">
                <a:alpha val="8000"/>
              </a:srgbClr>
            </a:outerShdw>
          </a:effectLst>
        </p:spPr>
      </p:sp>
      <p:pic>
        <p:nvPicPr>
          <p:cNvPr id="13" name="Image 0" descr="preencoded.png">    </p:cNvPr>
          <p:cNvPicPr>
            <a:picLocks noChangeAspect="1"/>
          </p:cNvPicPr>
          <p:nvPr/>
        </p:nvPicPr>
        <p:blipFill>
          <a:blip r:embed="rId1"/>
          <a:stretch>
            <a:fillRect/>
          </a:stretch>
        </p:blipFill>
        <p:spPr>
          <a:xfrm>
            <a:off x="7178040" y="1417320"/>
            <a:ext cx="960120" cy="960120"/>
          </a:xfrm>
          <a:prstGeom prst="rect">
            <a:avLst/>
          </a:prstGeom>
        </p:spPr>
      </p:pic>
      <p:pic>
        <p:nvPicPr>
          <p:cNvPr id="14" name="Image 1" descr="preencoded.png">    </p:cNvPr>
          <p:cNvPicPr>
            <a:picLocks noChangeAspect="1"/>
          </p:cNvPicPr>
          <p:nvPr/>
        </p:nvPicPr>
        <p:blipFill>
          <a:blip r:embed="rId2"/>
          <a:stretch>
            <a:fillRect/>
          </a:stretch>
        </p:blipFill>
        <p:spPr>
          <a:xfrm>
            <a:off x="7178040" y="2560320"/>
            <a:ext cx="960120" cy="960120"/>
          </a:xfrm>
          <a:prstGeom prst="rect">
            <a:avLst/>
          </a:prstGeom>
        </p:spPr>
      </p:pic>
      <p:pic>
        <p:nvPicPr>
          <p:cNvPr id="15" name="Image 2" descr="preencoded.png">    </p:cNvPr>
          <p:cNvPicPr>
            <a:picLocks noChangeAspect="1"/>
          </p:cNvPicPr>
          <p:nvPr/>
        </p:nvPicPr>
        <p:blipFill>
          <a:blip r:embed="rId3"/>
          <a:stretch>
            <a:fillRect/>
          </a:stretch>
        </p:blipFill>
        <p:spPr>
          <a:xfrm>
            <a:off x="7178040" y="3703320"/>
            <a:ext cx="960120" cy="960120"/>
          </a:xfrm>
          <a:prstGeom prst="rect">
            <a:avLst/>
          </a:prstGeom>
        </p:spPr>
      </p:pic>
      <p:sp>
        <p:nvSpPr>
          <p:cNvPr id="16" name="Text 11"/>
          <p:cNvSpPr/>
          <p:nvPr/>
        </p:nvSpPr>
        <p:spPr>
          <a:xfrm>
            <a:off x="6446520" y="4617720"/>
            <a:ext cx="2423160" cy="502920"/>
          </a:xfrm>
          <a:prstGeom prst="rect">
            <a:avLst/>
          </a:prstGeom>
          <a:noFill/>
          <a:ln/>
        </p:spPr>
        <p:txBody>
          <a:bodyPr wrap="square" lIns="0" tIns="0" rIns="0" bIns="0" rtlCol="0" anchor="ctr"/>
          <a:lstStyle/>
          <a:p>
            <a:pPr algn="ctr" indent="0" marL="0">
              <a:buNone/>
            </a:pPr>
            <a:r>
              <a:rPr lang="en-US" sz="1100" dirty="0">
                <a:solidFill>
                  <a:srgbClr val="3D5A60"/>
                </a:solidFill>
                <a:latin typeface="Calibri" pitchFamily="34" charset="0"/>
                <a:ea typeface="Calibri" pitchFamily="34" charset="-122"/>
                <a:cs typeface="Calibri" pitchFamily="34" charset="-120"/>
              </a:rPr>
              <a:t>AI-Powered</a:t>
            </a:r>
            <a:endParaRPr lang="en-US" sz="1100" dirty="0"/>
          </a:p>
          <a:p>
            <a:pPr algn="ctr" indent="0" marL="0">
              <a:buNone/>
            </a:pPr>
            <a:r>
              <a:rPr lang="en-US" sz="1100" dirty="0">
                <a:solidFill>
                  <a:srgbClr val="3D5A60"/>
                </a:solidFill>
                <a:latin typeface="Calibri" pitchFamily="34" charset="0"/>
                <a:ea typeface="Calibri" pitchFamily="34" charset="-122"/>
                <a:cs typeface="Calibri" pitchFamily="34" charset="-120"/>
              </a:rPr>
              <a:t>Bilingual Learning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594360"/>
          </a:xfrm>
          <a:prstGeom prst="rect">
            <a:avLst/>
          </a:prstGeom>
          <a:noFill/>
          <a:ln/>
        </p:spPr>
        <p:txBody>
          <a:bodyPr wrap="square" lIns="0" tIns="0" rIns="0" bIns="0" rtlCol="0" anchor="ctr"/>
          <a:lstStyle/>
          <a:p>
            <a:pPr algn="l" indent="0" marL="0">
              <a:buNone/>
            </a:pPr>
            <a:r>
              <a:rPr lang="en-US" sz="3200" b="1" dirty="0">
                <a:solidFill>
                  <a:srgbClr val="028090"/>
                </a:solidFill>
                <a:latin typeface="Calibri" pitchFamily="34" charset="0"/>
                <a:ea typeface="Calibri" pitchFamily="34" charset="-122"/>
                <a:cs typeface="Calibri" pitchFamily="34" charset="-120"/>
              </a:rPr>
              <a:t>Problem Statement</a:t>
            </a:r>
            <a:endParaRPr lang="en-US" sz="3200" dirty="0"/>
          </a:p>
        </p:txBody>
      </p:sp>
      <p:sp>
        <p:nvSpPr>
          <p:cNvPr id="3" name="Shape 1"/>
          <p:cNvSpPr/>
          <p:nvPr/>
        </p:nvSpPr>
        <p:spPr>
          <a:xfrm>
            <a:off x="365760" y="822960"/>
            <a:ext cx="8412480" cy="27432"/>
          </a:xfrm>
          <a:prstGeom prst="rect">
            <a:avLst/>
          </a:prstGeom>
          <a:solidFill>
            <a:srgbClr val="028090">
              <a:alpha val="50000"/>
            </a:srgbClr>
          </a:solidFill>
          <a:ln w="12700">
            <a:solidFill>
              <a:srgbClr val="028090">
                <a:alpha val="50000"/>
              </a:srgbClr>
            </a:solidFill>
            <a:prstDash val="solid"/>
          </a:ln>
        </p:spPr>
      </p:sp>
      <p:sp>
        <p:nvSpPr>
          <p:cNvPr id="4" name="Text 2"/>
          <p:cNvSpPr/>
          <p:nvPr/>
        </p:nvSpPr>
        <p:spPr>
          <a:xfrm>
            <a:off x="365760" y="960120"/>
            <a:ext cx="8412480" cy="502920"/>
          </a:xfrm>
          <a:prstGeom prst="rect">
            <a:avLst/>
          </a:prstGeom>
          <a:noFill/>
          <a:ln/>
        </p:spPr>
        <p:txBody>
          <a:bodyPr wrap="square" lIns="0" tIns="0" rIns="0" bIns="0" rtlCol="0" anchor="t"/>
          <a:lstStyle/>
          <a:p>
            <a:pPr algn="l" indent="0" marL="0">
              <a:buNone/>
            </a:pPr>
            <a:r>
              <a:rPr lang="en-US" sz="1300" dirty="0">
                <a:solidFill>
                  <a:srgbClr val="3D5A60"/>
                </a:solidFill>
                <a:latin typeface="Calibri" pitchFamily="34" charset="0"/>
                <a:ea typeface="Calibri" pitchFamily="34" charset="-122"/>
                <a:cs typeface="Calibri" pitchFamily="34" charset="-120"/>
              </a:rPr>
              <a:t>Millions of rural Karnataka students face a critical transition challenge when moving from Kannada-medium schools to English-medium higher education.</a:t>
            </a:r>
            <a:endParaRPr lang="en-US" sz="1300" dirty="0"/>
          </a:p>
        </p:txBody>
      </p:sp>
      <p:sp>
        <p:nvSpPr>
          <p:cNvPr id="5" name="Shape 3"/>
          <p:cNvSpPr/>
          <p:nvPr/>
        </p:nvSpPr>
        <p:spPr>
          <a:xfrm>
            <a:off x="365760" y="1572768"/>
            <a:ext cx="4069080" cy="1417320"/>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6" name="Shape 4"/>
          <p:cNvSpPr/>
          <p:nvPr/>
        </p:nvSpPr>
        <p:spPr>
          <a:xfrm>
            <a:off x="365760" y="1572768"/>
            <a:ext cx="73152" cy="1417320"/>
          </a:xfrm>
          <a:prstGeom prst="rect">
            <a:avLst/>
          </a:prstGeom>
          <a:solidFill>
            <a:srgbClr val="028090"/>
          </a:solidFill>
          <a:ln w="12700">
            <a:solidFill>
              <a:srgbClr val="028090"/>
            </a:solidFill>
            <a:prstDash val="solid"/>
          </a:ln>
        </p:spPr>
      </p:sp>
      <p:pic>
        <p:nvPicPr>
          <p:cNvPr id="7" name="Image 0" descr="preencoded.png">    </p:cNvPr>
          <p:cNvPicPr>
            <a:picLocks noChangeAspect="1"/>
          </p:cNvPicPr>
          <p:nvPr/>
        </p:nvPicPr>
        <p:blipFill>
          <a:blip r:embed="rId1"/>
          <a:stretch>
            <a:fillRect/>
          </a:stretch>
        </p:blipFill>
        <p:spPr>
          <a:xfrm>
            <a:off x="548640" y="1892808"/>
            <a:ext cx="502920" cy="502920"/>
          </a:xfrm>
          <a:prstGeom prst="rect">
            <a:avLst/>
          </a:prstGeom>
        </p:spPr>
      </p:pic>
      <p:sp>
        <p:nvSpPr>
          <p:cNvPr id="8" name="Text 5"/>
          <p:cNvSpPr/>
          <p:nvPr/>
        </p:nvSpPr>
        <p:spPr>
          <a:xfrm>
            <a:off x="1188720" y="1682496"/>
            <a:ext cx="3108960" cy="32004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Language Barrier</a:t>
            </a:r>
            <a:endParaRPr lang="en-US" sz="1400" dirty="0"/>
          </a:p>
        </p:txBody>
      </p:sp>
      <p:sp>
        <p:nvSpPr>
          <p:cNvPr id="9" name="Text 6"/>
          <p:cNvSpPr/>
          <p:nvPr/>
        </p:nvSpPr>
        <p:spPr>
          <a:xfrm>
            <a:off x="1188720" y="2011680"/>
            <a:ext cx="3108960" cy="868680"/>
          </a:xfrm>
          <a:prstGeom prst="rect">
            <a:avLst/>
          </a:prstGeom>
          <a:noFill/>
          <a:ln/>
        </p:spPr>
        <p:txBody>
          <a:bodyPr wrap="square" lIns="0" tIns="0" rIns="0" bIns="0" rtlCol="0" anchor="ctr"/>
          <a:lstStyle/>
          <a:p>
            <a:pPr indent="0" marL="0">
              <a:buNone/>
            </a:pPr>
            <a:r>
              <a:rPr lang="en-US" sz="1150" dirty="0">
                <a:solidFill>
                  <a:srgbClr val="3D5A60"/>
                </a:solidFill>
                <a:latin typeface="Calibri" pitchFamily="34" charset="0"/>
                <a:ea typeface="Calibri" pitchFamily="34" charset="-122"/>
                <a:cs typeface="Calibri" pitchFamily="34" charset="-120"/>
              </a:rPr>
              <a:t>STEM textbooks and lectures in English create immediate comprehension barriers for Kannada-medium students.</a:t>
            </a:r>
            <a:endParaRPr lang="en-US" sz="1150" dirty="0"/>
          </a:p>
        </p:txBody>
      </p:sp>
      <p:sp>
        <p:nvSpPr>
          <p:cNvPr id="10" name="Shape 7"/>
          <p:cNvSpPr/>
          <p:nvPr/>
        </p:nvSpPr>
        <p:spPr>
          <a:xfrm>
            <a:off x="4617720" y="1572768"/>
            <a:ext cx="4069080" cy="1417320"/>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11" name="Shape 8"/>
          <p:cNvSpPr/>
          <p:nvPr/>
        </p:nvSpPr>
        <p:spPr>
          <a:xfrm>
            <a:off x="4617720" y="1572768"/>
            <a:ext cx="73152" cy="1417320"/>
          </a:xfrm>
          <a:prstGeom prst="rect">
            <a:avLst/>
          </a:prstGeom>
          <a:solidFill>
            <a:srgbClr val="028090"/>
          </a:solidFill>
          <a:ln w="12700">
            <a:solidFill>
              <a:srgbClr val="028090"/>
            </a:solidFill>
            <a:prstDash val="solid"/>
          </a:ln>
        </p:spPr>
      </p:sp>
      <p:pic>
        <p:nvPicPr>
          <p:cNvPr id="12" name="Image 1" descr="preencoded.png">    </p:cNvPr>
          <p:cNvPicPr>
            <a:picLocks noChangeAspect="1"/>
          </p:cNvPicPr>
          <p:nvPr/>
        </p:nvPicPr>
        <p:blipFill>
          <a:blip r:embed="rId2"/>
          <a:stretch>
            <a:fillRect/>
          </a:stretch>
        </p:blipFill>
        <p:spPr>
          <a:xfrm>
            <a:off x="4800600" y="1892808"/>
            <a:ext cx="502920" cy="502920"/>
          </a:xfrm>
          <a:prstGeom prst="rect">
            <a:avLst/>
          </a:prstGeom>
        </p:spPr>
      </p:pic>
      <p:sp>
        <p:nvSpPr>
          <p:cNvPr id="13" name="Text 9"/>
          <p:cNvSpPr/>
          <p:nvPr/>
        </p:nvSpPr>
        <p:spPr>
          <a:xfrm>
            <a:off x="5440680" y="1682496"/>
            <a:ext cx="3108960" cy="32004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Conceptual Gap</a:t>
            </a:r>
            <a:endParaRPr lang="en-US" sz="1400" dirty="0"/>
          </a:p>
        </p:txBody>
      </p:sp>
      <p:sp>
        <p:nvSpPr>
          <p:cNvPr id="14" name="Text 10"/>
          <p:cNvSpPr/>
          <p:nvPr/>
        </p:nvSpPr>
        <p:spPr>
          <a:xfrm>
            <a:off x="5440680" y="2011680"/>
            <a:ext cx="3108960" cy="868680"/>
          </a:xfrm>
          <a:prstGeom prst="rect">
            <a:avLst/>
          </a:prstGeom>
          <a:noFill/>
          <a:ln/>
        </p:spPr>
        <p:txBody>
          <a:bodyPr wrap="square" lIns="0" tIns="0" rIns="0" bIns="0" rtlCol="0" anchor="ctr"/>
          <a:lstStyle/>
          <a:p>
            <a:pPr indent="0" marL="0">
              <a:buNone/>
            </a:pPr>
            <a:r>
              <a:rPr lang="en-US" sz="1150" dirty="0">
                <a:solidFill>
                  <a:srgbClr val="3D5A60"/>
                </a:solidFill>
                <a:latin typeface="Calibri" pitchFamily="34" charset="0"/>
                <a:ea typeface="Calibri" pitchFamily="34" charset="-122"/>
                <a:cs typeface="Calibri" pitchFamily="34" charset="-120"/>
              </a:rPr>
              <a:t>Abstract STEM concepts are hard to grasp without relatable examples rooted in rural/local context.</a:t>
            </a:r>
            <a:endParaRPr lang="en-US" sz="1150" dirty="0"/>
          </a:p>
        </p:txBody>
      </p:sp>
      <p:sp>
        <p:nvSpPr>
          <p:cNvPr id="15" name="Shape 11"/>
          <p:cNvSpPr/>
          <p:nvPr/>
        </p:nvSpPr>
        <p:spPr>
          <a:xfrm>
            <a:off x="365760" y="3127248"/>
            <a:ext cx="4069080" cy="1417320"/>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16" name="Shape 12"/>
          <p:cNvSpPr/>
          <p:nvPr/>
        </p:nvSpPr>
        <p:spPr>
          <a:xfrm>
            <a:off x="365760" y="3127248"/>
            <a:ext cx="73152" cy="1417320"/>
          </a:xfrm>
          <a:prstGeom prst="rect">
            <a:avLst/>
          </a:prstGeom>
          <a:solidFill>
            <a:srgbClr val="028090"/>
          </a:solidFill>
          <a:ln w="12700">
            <a:solidFill>
              <a:srgbClr val="028090"/>
            </a:solidFill>
            <a:prstDash val="solid"/>
          </a:ln>
        </p:spPr>
      </p:sp>
      <p:pic>
        <p:nvPicPr>
          <p:cNvPr id="17" name="Image 2" descr="preencoded.png">    </p:cNvPr>
          <p:cNvPicPr>
            <a:picLocks noChangeAspect="1"/>
          </p:cNvPicPr>
          <p:nvPr/>
        </p:nvPicPr>
        <p:blipFill>
          <a:blip r:embed="rId3"/>
          <a:stretch>
            <a:fillRect/>
          </a:stretch>
        </p:blipFill>
        <p:spPr>
          <a:xfrm>
            <a:off x="548640" y="3447288"/>
            <a:ext cx="502920" cy="502920"/>
          </a:xfrm>
          <a:prstGeom prst="rect">
            <a:avLst/>
          </a:prstGeom>
        </p:spPr>
      </p:pic>
      <p:sp>
        <p:nvSpPr>
          <p:cNvPr id="18" name="Text 13"/>
          <p:cNvSpPr/>
          <p:nvPr/>
        </p:nvSpPr>
        <p:spPr>
          <a:xfrm>
            <a:off x="1188720" y="3236976"/>
            <a:ext cx="3108960" cy="32004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Limited Resources</a:t>
            </a:r>
            <a:endParaRPr lang="en-US" sz="1400" dirty="0"/>
          </a:p>
        </p:txBody>
      </p:sp>
      <p:sp>
        <p:nvSpPr>
          <p:cNvPr id="19" name="Text 14"/>
          <p:cNvSpPr/>
          <p:nvPr/>
        </p:nvSpPr>
        <p:spPr>
          <a:xfrm>
            <a:off x="1188720" y="3566160"/>
            <a:ext cx="3108960" cy="868680"/>
          </a:xfrm>
          <a:prstGeom prst="rect">
            <a:avLst/>
          </a:prstGeom>
          <a:noFill/>
          <a:ln/>
        </p:spPr>
        <p:txBody>
          <a:bodyPr wrap="square" lIns="0" tIns="0" rIns="0" bIns="0" rtlCol="0" anchor="ctr"/>
          <a:lstStyle/>
          <a:p>
            <a:pPr indent="0" marL="0">
              <a:buNone/>
            </a:pPr>
            <a:r>
              <a:rPr lang="en-US" sz="1150" dirty="0">
                <a:solidFill>
                  <a:srgbClr val="3D5A60"/>
                </a:solidFill>
                <a:latin typeface="Calibri" pitchFamily="34" charset="0"/>
                <a:ea typeface="Calibri" pitchFamily="34" charset="-122"/>
                <a:cs typeface="Calibri" pitchFamily="34" charset="-120"/>
              </a:rPr>
              <a:t>Affordable, localized, bilingual STEM resources for rural students are virtually non-existent.</a:t>
            </a:r>
            <a:endParaRPr lang="en-US" sz="1150" dirty="0"/>
          </a:p>
        </p:txBody>
      </p:sp>
      <p:sp>
        <p:nvSpPr>
          <p:cNvPr id="20" name="Shape 15"/>
          <p:cNvSpPr/>
          <p:nvPr/>
        </p:nvSpPr>
        <p:spPr>
          <a:xfrm>
            <a:off x="4617720" y="3127248"/>
            <a:ext cx="4069080" cy="1417320"/>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21" name="Shape 16"/>
          <p:cNvSpPr/>
          <p:nvPr/>
        </p:nvSpPr>
        <p:spPr>
          <a:xfrm>
            <a:off x="4617720" y="3127248"/>
            <a:ext cx="73152" cy="1417320"/>
          </a:xfrm>
          <a:prstGeom prst="rect">
            <a:avLst/>
          </a:prstGeom>
          <a:solidFill>
            <a:srgbClr val="028090"/>
          </a:solidFill>
          <a:ln w="12700">
            <a:solidFill>
              <a:srgbClr val="028090"/>
            </a:solidFill>
            <a:prstDash val="solid"/>
          </a:ln>
        </p:spPr>
      </p:sp>
      <p:pic>
        <p:nvPicPr>
          <p:cNvPr id="22" name="Image 3" descr="preencoded.png">    </p:cNvPr>
          <p:cNvPicPr>
            <a:picLocks noChangeAspect="1"/>
          </p:cNvPicPr>
          <p:nvPr/>
        </p:nvPicPr>
        <p:blipFill>
          <a:blip r:embed="rId4"/>
          <a:stretch>
            <a:fillRect/>
          </a:stretch>
        </p:blipFill>
        <p:spPr>
          <a:xfrm>
            <a:off x="4800600" y="3447288"/>
            <a:ext cx="502920" cy="502920"/>
          </a:xfrm>
          <a:prstGeom prst="rect">
            <a:avLst/>
          </a:prstGeom>
        </p:spPr>
      </p:pic>
      <p:sp>
        <p:nvSpPr>
          <p:cNvPr id="23" name="Text 17"/>
          <p:cNvSpPr/>
          <p:nvPr/>
        </p:nvSpPr>
        <p:spPr>
          <a:xfrm>
            <a:off x="5440680" y="3236976"/>
            <a:ext cx="3108960" cy="32004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Dropout Risk</a:t>
            </a:r>
            <a:endParaRPr lang="en-US" sz="1400" dirty="0"/>
          </a:p>
        </p:txBody>
      </p:sp>
      <p:sp>
        <p:nvSpPr>
          <p:cNvPr id="24" name="Text 18"/>
          <p:cNvSpPr/>
          <p:nvPr/>
        </p:nvSpPr>
        <p:spPr>
          <a:xfrm>
            <a:off x="5440680" y="3566160"/>
            <a:ext cx="3108960" cy="868680"/>
          </a:xfrm>
          <a:prstGeom prst="rect">
            <a:avLst/>
          </a:prstGeom>
          <a:noFill/>
          <a:ln/>
        </p:spPr>
        <p:txBody>
          <a:bodyPr wrap="square" lIns="0" tIns="0" rIns="0" bIns="0" rtlCol="0" anchor="ctr"/>
          <a:lstStyle/>
          <a:p>
            <a:pPr indent="0" marL="0">
              <a:buNone/>
            </a:pPr>
            <a:r>
              <a:rPr lang="en-US" sz="1150" dirty="0">
                <a:solidFill>
                  <a:srgbClr val="3D5A60"/>
                </a:solidFill>
                <a:latin typeface="Calibri" pitchFamily="34" charset="0"/>
                <a:ea typeface="Calibri" pitchFamily="34" charset="-122"/>
                <a:cs typeface="Calibri" pitchFamily="34" charset="-120"/>
              </a:rPr>
              <a:t>Language-induced confusion leads to disengagement and increased dropout rates at the pre-university level.</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594360"/>
          </a:xfrm>
          <a:prstGeom prst="rect">
            <a:avLst/>
          </a:prstGeom>
          <a:noFill/>
          <a:ln/>
        </p:spPr>
        <p:txBody>
          <a:bodyPr wrap="square" lIns="0" tIns="0" rIns="0" bIns="0" rtlCol="0" anchor="ctr"/>
          <a:lstStyle/>
          <a:p>
            <a:pPr algn="l" indent="0" marL="0">
              <a:buNone/>
            </a:pPr>
            <a:r>
              <a:rPr lang="en-US" sz="3200" b="1" dirty="0">
                <a:solidFill>
                  <a:srgbClr val="028090"/>
                </a:solidFill>
                <a:latin typeface="Calibri" pitchFamily="34" charset="0"/>
                <a:ea typeface="Calibri" pitchFamily="34" charset="-122"/>
                <a:cs typeface="Calibri" pitchFamily="34" charset="-120"/>
              </a:rPr>
              <a:t>Understanding the Problem</a:t>
            </a:r>
            <a:endParaRPr lang="en-US" sz="3200" dirty="0"/>
          </a:p>
        </p:txBody>
      </p:sp>
      <p:sp>
        <p:nvSpPr>
          <p:cNvPr id="3" name="Shape 1"/>
          <p:cNvSpPr/>
          <p:nvPr/>
        </p:nvSpPr>
        <p:spPr>
          <a:xfrm>
            <a:off x="365760" y="822960"/>
            <a:ext cx="8412480" cy="27432"/>
          </a:xfrm>
          <a:prstGeom prst="rect">
            <a:avLst/>
          </a:prstGeom>
          <a:solidFill>
            <a:srgbClr val="028090">
              <a:alpha val="50000"/>
            </a:srgbClr>
          </a:solidFill>
          <a:ln w="12700">
            <a:solidFill>
              <a:srgbClr val="028090">
                <a:alpha val="50000"/>
              </a:srgbClr>
            </a:solidFill>
            <a:prstDash val="solid"/>
          </a:ln>
        </p:spPr>
      </p:sp>
      <p:sp>
        <p:nvSpPr>
          <p:cNvPr id="4" name="Text 2"/>
          <p:cNvSpPr/>
          <p:nvPr/>
        </p:nvSpPr>
        <p:spPr>
          <a:xfrm>
            <a:off x="365760" y="987552"/>
            <a:ext cx="4114800" cy="347472"/>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Why Bilingual Learning Matters</a:t>
            </a:r>
            <a:endParaRPr lang="en-US" sz="1600" dirty="0"/>
          </a:p>
        </p:txBody>
      </p:sp>
      <p:sp>
        <p:nvSpPr>
          <p:cNvPr id="5" name="Text 3"/>
          <p:cNvSpPr/>
          <p:nvPr/>
        </p:nvSpPr>
        <p:spPr>
          <a:xfrm>
            <a:off x="365760" y="1371600"/>
            <a:ext cx="4114800" cy="2286000"/>
          </a:xfrm>
          <a:prstGeom prst="rect">
            <a:avLst/>
          </a:prstGeom>
          <a:noFill/>
          <a:ln/>
        </p:spPr>
        <p:txBody>
          <a:bodyPr wrap="square" lIns="50800" tIns="50800" rIns="0" bIns="0" rtlCol="0" anchor="t"/>
          <a:lstStyle/>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Students retain concepts better in their mother tongue</a:t>
            </a:r>
            <a:endParaRPr lang="en-US" sz="1300" dirty="0"/>
          </a:p>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Parallel English exposure builds academic vocabulary naturally</a:t>
            </a:r>
            <a:endParaRPr lang="en-US" sz="1300" dirty="0"/>
          </a:p>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Local analogies reduce cognitive load for abstract ideas</a:t>
            </a:r>
            <a:endParaRPr lang="en-US" sz="1300" dirty="0"/>
          </a:p>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Audio reinforcement strengthens memory retention</a:t>
            </a:r>
            <a:endParaRPr lang="en-US" sz="1300" dirty="0"/>
          </a:p>
        </p:txBody>
      </p:sp>
      <p:sp>
        <p:nvSpPr>
          <p:cNvPr id="6" name="Text 4"/>
          <p:cNvSpPr/>
          <p:nvPr/>
        </p:nvSpPr>
        <p:spPr>
          <a:xfrm>
            <a:off x="4754880" y="987552"/>
            <a:ext cx="4114800" cy="347472"/>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Challenges in Comprehension</a:t>
            </a:r>
            <a:endParaRPr lang="en-US" sz="1600" dirty="0"/>
          </a:p>
        </p:txBody>
      </p:sp>
      <p:sp>
        <p:nvSpPr>
          <p:cNvPr id="7" name="Text 5"/>
          <p:cNvSpPr/>
          <p:nvPr/>
        </p:nvSpPr>
        <p:spPr>
          <a:xfrm>
            <a:off x="4754880" y="1371600"/>
            <a:ext cx="4114800" cy="2286000"/>
          </a:xfrm>
          <a:prstGeom prst="rect">
            <a:avLst/>
          </a:prstGeom>
          <a:noFill/>
          <a:ln/>
        </p:spPr>
        <p:txBody>
          <a:bodyPr wrap="square" lIns="50800" tIns="50800" rIns="0" bIns="0" rtlCol="0" anchor="t"/>
          <a:lstStyle/>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Dense English textbook language overwhelms first-generation learners</a:t>
            </a:r>
            <a:endParaRPr lang="en-US" sz="1300" dirty="0"/>
          </a:p>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No culturally relevant examples in standard curriculum materials</a:t>
            </a:r>
            <a:endParaRPr lang="en-US" sz="1300" dirty="0"/>
          </a:p>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Single difficulty level doesn't cater to varied student readiness</a:t>
            </a:r>
            <a:endParaRPr lang="en-US" sz="1300" dirty="0"/>
          </a:p>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Lack of audio support for students with reading difficulties</a:t>
            </a:r>
            <a:endParaRPr lang="en-US" sz="1300" dirty="0"/>
          </a:p>
        </p:txBody>
      </p:sp>
      <p:sp>
        <p:nvSpPr>
          <p:cNvPr id="8" name="Shape 6"/>
          <p:cNvSpPr/>
          <p:nvPr/>
        </p:nvSpPr>
        <p:spPr>
          <a:xfrm>
            <a:off x="365760" y="3794760"/>
            <a:ext cx="8412480" cy="1024128"/>
          </a:xfrm>
          <a:prstGeom prst="rect">
            <a:avLst/>
          </a:prstGeom>
          <a:solidFill>
            <a:srgbClr val="E0F4F7"/>
          </a:solidFill>
          <a:ln w="12700">
            <a:solidFill>
              <a:srgbClr val="B2DDE5"/>
            </a:solidFill>
            <a:prstDash val="solid"/>
          </a:ln>
        </p:spPr>
      </p:sp>
      <p:sp>
        <p:nvSpPr>
          <p:cNvPr id="9" name="Text 7"/>
          <p:cNvSpPr/>
          <p:nvPr/>
        </p:nvSpPr>
        <p:spPr>
          <a:xfrm>
            <a:off x="731520" y="3858768"/>
            <a:ext cx="2286000" cy="457200"/>
          </a:xfrm>
          <a:prstGeom prst="rect">
            <a:avLst/>
          </a:prstGeom>
          <a:noFill/>
          <a:ln/>
        </p:spPr>
        <p:txBody>
          <a:bodyPr wrap="square" lIns="0" tIns="0" rIns="0" bIns="0" rtlCol="0" anchor="ctr"/>
          <a:lstStyle/>
          <a:p>
            <a:pPr algn="ctr" indent="0" marL="0">
              <a:buNone/>
            </a:pPr>
            <a:r>
              <a:rPr lang="en-US" sz="2800" b="1" dirty="0">
                <a:solidFill>
                  <a:srgbClr val="028090"/>
                </a:solidFill>
                <a:latin typeface="Calibri" pitchFamily="34" charset="0"/>
                <a:ea typeface="Calibri" pitchFamily="34" charset="-122"/>
                <a:cs typeface="Calibri" pitchFamily="34" charset="-120"/>
              </a:rPr>
              <a:t>60%+</a:t>
            </a:r>
            <a:endParaRPr lang="en-US" sz="2800" dirty="0"/>
          </a:p>
        </p:txBody>
      </p:sp>
      <p:sp>
        <p:nvSpPr>
          <p:cNvPr id="10" name="Text 8"/>
          <p:cNvSpPr/>
          <p:nvPr/>
        </p:nvSpPr>
        <p:spPr>
          <a:xfrm>
            <a:off x="731520" y="4315968"/>
            <a:ext cx="2286000" cy="411480"/>
          </a:xfrm>
          <a:prstGeom prst="rect">
            <a:avLst/>
          </a:prstGeom>
          <a:noFill/>
          <a:ln/>
        </p:spPr>
        <p:txBody>
          <a:bodyPr wrap="square" lIns="0" tIns="0" rIns="0" bIns="0" rtlCol="0" anchor="ctr"/>
          <a:lstStyle/>
          <a:p>
            <a:pPr algn="ctr" indent="0" marL="0">
              <a:buNone/>
            </a:pPr>
            <a:r>
              <a:rPr lang="en-US" sz="1100" dirty="0">
                <a:solidFill>
                  <a:srgbClr val="3D5A60"/>
                </a:solidFill>
                <a:latin typeface="Calibri" pitchFamily="34" charset="0"/>
                <a:ea typeface="Calibri" pitchFamily="34" charset="-122"/>
                <a:cs typeface="Calibri" pitchFamily="34" charset="-120"/>
              </a:rPr>
              <a:t>Karnataka Students</a:t>
            </a:r>
            <a:endParaRPr lang="en-US" sz="1100" dirty="0"/>
          </a:p>
          <a:p>
            <a:pPr algn="ctr" indent="0" marL="0">
              <a:buNone/>
            </a:pPr>
            <a:r>
              <a:rPr lang="en-US" sz="1100" dirty="0">
                <a:solidFill>
                  <a:srgbClr val="3D5A60"/>
                </a:solidFill>
                <a:latin typeface="Calibri" pitchFamily="34" charset="0"/>
                <a:ea typeface="Calibri" pitchFamily="34" charset="-122"/>
                <a:cs typeface="Calibri" pitchFamily="34" charset="-120"/>
              </a:rPr>
              <a:t>in Kannada Medium</a:t>
            </a:r>
            <a:endParaRPr lang="en-US" sz="1100" dirty="0"/>
          </a:p>
        </p:txBody>
      </p:sp>
      <p:sp>
        <p:nvSpPr>
          <p:cNvPr id="11" name="Text 9"/>
          <p:cNvSpPr/>
          <p:nvPr/>
        </p:nvSpPr>
        <p:spPr>
          <a:xfrm>
            <a:off x="3566160" y="3858768"/>
            <a:ext cx="2286000" cy="457200"/>
          </a:xfrm>
          <a:prstGeom prst="rect">
            <a:avLst/>
          </a:prstGeom>
          <a:noFill/>
          <a:ln/>
        </p:spPr>
        <p:txBody>
          <a:bodyPr wrap="square" lIns="0" tIns="0" rIns="0" bIns="0" rtlCol="0" anchor="ctr"/>
          <a:lstStyle/>
          <a:p>
            <a:pPr algn="ctr" indent="0" marL="0">
              <a:buNone/>
            </a:pPr>
            <a:r>
              <a:rPr lang="en-US" sz="2800" b="1" dirty="0">
                <a:solidFill>
                  <a:srgbClr val="028090"/>
                </a:solidFill>
                <a:latin typeface="Calibri" pitchFamily="34" charset="0"/>
                <a:ea typeface="Calibri" pitchFamily="34" charset="-122"/>
                <a:cs typeface="Calibri" pitchFamily="34" charset="-120"/>
              </a:rPr>
              <a:t>3x</a:t>
            </a:r>
            <a:endParaRPr lang="en-US" sz="2800" dirty="0"/>
          </a:p>
        </p:txBody>
      </p:sp>
      <p:sp>
        <p:nvSpPr>
          <p:cNvPr id="12" name="Text 10"/>
          <p:cNvSpPr/>
          <p:nvPr/>
        </p:nvSpPr>
        <p:spPr>
          <a:xfrm>
            <a:off x="3566160" y="4315968"/>
            <a:ext cx="2286000" cy="411480"/>
          </a:xfrm>
          <a:prstGeom prst="rect">
            <a:avLst/>
          </a:prstGeom>
          <a:noFill/>
          <a:ln/>
        </p:spPr>
        <p:txBody>
          <a:bodyPr wrap="square" lIns="0" tIns="0" rIns="0" bIns="0" rtlCol="0" anchor="ctr"/>
          <a:lstStyle/>
          <a:p>
            <a:pPr algn="ctr" indent="0" marL="0">
              <a:buNone/>
            </a:pPr>
            <a:r>
              <a:rPr lang="en-US" sz="1100" dirty="0">
                <a:solidFill>
                  <a:srgbClr val="3D5A60"/>
                </a:solidFill>
                <a:latin typeface="Calibri" pitchFamily="34" charset="0"/>
                <a:ea typeface="Calibri" pitchFamily="34" charset="-122"/>
                <a:cs typeface="Calibri" pitchFamily="34" charset="-120"/>
              </a:rPr>
              <a:t>Higher Dropout Rate</a:t>
            </a:r>
            <a:endParaRPr lang="en-US" sz="1100" dirty="0"/>
          </a:p>
          <a:p>
            <a:pPr algn="ctr" indent="0" marL="0">
              <a:buNone/>
            </a:pPr>
            <a:r>
              <a:rPr lang="en-US" sz="1100" dirty="0">
                <a:solidFill>
                  <a:srgbClr val="3D5A60"/>
                </a:solidFill>
                <a:latin typeface="Calibri" pitchFamily="34" charset="0"/>
                <a:ea typeface="Calibri" pitchFamily="34" charset="-122"/>
                <a:cs typeface="Calibri" pitchFamily="34" charset="-120"/>
              </a:rPr>
              <a:t>for Language Barriers</a:t>
            </a:r>
            <a:endParaRPr lang="en-US" sz="1100" dirty="0"/>
          </a:p>
        </p:txBody>
      </p:sp>
      <p:sp>
        <p:nvSpPr>
          <p:cNvPr id="13" name="Text 11"/>
          <p:cNvSpPr/>
          <p:nvPr/>
        </p:nvSpPr>
        <p:spPr>
          <a:xfrm>
            <a:off x="6400800" y="3858768"/>
            <a:ext cx="2286000" cy="457200"/>
          </a:xfrm>
          <a:prstGeom prst="rect">
            <a:avLst/>
          </a:prstGeom>
          <a:noFill/>
          <a:ln/>
        </p:spPr>
        <p:txBody>
          <a:bodyPr wrap="square" lIns="0" tIns="0" rIns="0" bIns="0" rtlCol="0" anchor="ctr"/>
          <a:lstStyle/>
          <a:p>
            <a:pPr algn="ctr" indent="0" marL="0">
              <a:buNone/>
            </a:pPr>
            <a:r>
              <a:rPr lang="en-US" sz="2800" b="1" dirty="0">
                <a:solidFill>
                  <a:srgbClr val="028090"/>
                </a:solidFill>
                <a:latin typeface="Calibri" pitchFamily="34" charset="0"/>
                <a:ea typeface="Calibri" pitchFamily="34" charset="-122"/>
                <a:cs typeface="Calibri" pitchFamily="34" charset="-120"/>
              </a:rPr>
              <a:t>0</a:t>
            </a:r>
            <a:endParaRPr lang="en-US" sz="2800" dirty="0"/>
          </a:p>
        </p:txBody>
      </p:sp>
      <p:sp>
        <p:nvSpPr>
          <p:cNvPr id="14" name="Text 12"/>
          <p:cNvSpPr/>
          <p:nvPr/>
        </p:nvSpPr>
        <p:spPr>
          <a:xfrm>
            <a:off x="6400800" y="4315968"/>
            <a:ext cx="2286000" cy="411480"/>
          </a:xfrm>
          <a:prstGeom prst="rect">
            <a:avLst/>
          </a:prstGeom>
          <a:noFill/>
          <a:ln/>
        </p:spPr>
        <p:txBody>
          <a:bodyPr wrap="square" lIns="0" tIns="0" rIns="0" bIns="0" rtlCol="0" anchor="ctr"/>
          <a:lstStyle/>
          <a:p>
            <a:pPr algn="ctr" indent="0" marL="0">
              <a:buNone/>
            </a:pPr>
            <a:r>
              <a:rPr lang="en-US" sz="1100" dirty="0">
                <a:solidFill>
                  <a:srgbClr val="3D5A60"/>
                </a:solidFill>
                <a:latin typeface="Calibri" pitchFamily="34" charset="0"/>
                <a:ea typeface="Calibri" pitchFamily="34" charset="-122"/>
                <a:cs typeface="Calibri" pitchFamily="34" charset="-120"/>
              </a:rPr>
              <a:t>Free Bilingual STEM</a:t>
            </a:r>
            <a:endParaRPr lang="en-US" sz="1100" dirty="0"/>
          </a:p>
          <a:p>
            <a:pPr algn="ctr" indent="0" marL="0">
              <a:buNone/>
            </a:pPr>
            <a:r>
              <a:rPr lang="en-US" sz="1100" dirty="0">
                <a:solidFill>
                  <a:srgbClr val="3D5A60"/>
                </a:solidFill>
                <a:latin typeface="Calibri" pitchFamily="34" charset="0"/>
                <a:ea typeface="Calibri" pitchFamily="34" charset="-122"/>
                <a:cs typeface="Calibri" pitchFamily="34" charset="-120"/>
              </a:rPr>
              <a:t>AI Tools Available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594360"/>
          </a:xfrm>
          <a:prstGeom prst="rect">
            <a:avLst/>
          </a:prstGeom>
          <a:noFill/>
          <a:ln/>
        </p:spPr>
        <p:txBody>
          <a:bodyPr wrap="square" lIns="0" tIns="0" rIns="0" bIns="0" rtlCol="0" anchor="ctr"/>
          <a:lstStyle/>
          <a:p>
            <a:pPr algn="l" indent="0" marL="0">
              <a:buNone/>
            </a:pPr>
            <a:r>
              <a:rPr lang="en-US" sz="3200" b="1" dirty="0">
                <a:solidFill>
                  <a:srgbClr val="028090"/>
                </a:solidFill>
                <a:latin typeface="Calibri" pitchFamily="34" charset="0"/>
                <a:ea typeface="Calibri" pitchFamily="34" charset="-122"/>
                <a:cs typeface="Calibri" pitchFamily="34" charset="-120"/>
              </a:rPr>
              <a:t>Objectives</a:t>
            </a:r>
            <a:endParaRPr lang="en-US" sz="3200" dirty="0"/>
          </a:p>
        </p:txBody>
      </p:sp>
      <p:sp>
        <p:nvSpPr>
          <p:cNvPr id="3" name="Shape 1"/>
          <p:cNvSpPr/>
          <p:nvPr/>
        </p:nvSpPr>
        <p:spPr>
          <a:xfrm>
            <a:off x="365760" y="822960"/>
            <a:ext cx="8412480" cy="27432"/>
          </a:xfrm>
          <a:prstGeom prst="rect">
            <a:avLst/>
          </a:prstGeom>
          <a:solidFill>
            <a:srgbClr val="028090">
              <a:alpha val="50000"/>
            </a:srgbClr>
          </a:solidFill>
          <a:ln w="12700">
            <a:solidFill>
              <a:srgbClr val="028090">
                <a:alpha val="50000"/>
              </a:srgbClr>
            </a:solidFill>
            <a:prstDash val="solid"/>
          </a:ln>
        </p:spPr>
      </p:sp>
      <p:sp>
        <p:nvSpPr>
          <p:cNvPr id="4" name="Shape 2"/>
          <p:cNvSpPr/>
          <p:nvPr/>
        </p:nvSpPr>
        <p:spPr>
          <a:xfrm>
            <a:off x="365760" y="987552"/>
            <a:ext cx="2651760" cy="1572768"/>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5" name="Shape 3"/>
          <p:cNvSpPr/>
          <p:nvPr/>
        </p:nvSpPr>
        <p:spPr>
          <a:xfrm>
            <a:off x="365760" y="987552"/>
            <a:ext cx="2651760" cy="73152"/>
          </a:xfrm>
          <a:prstGeom prst="rect">
            <a:avLst/>
          </a:prstGeom>
          <a:solidFill>
            <a:srgbClr val="028090"/>
          </a:solidFill>
          <a:ln w="12700">
            <a:solidFill>
              <a:srgbClr val="028090"/>
            </a:solidFill>
            <a:prstDash val="solid"/>
          </a:ln>
        </p:spPr>
      </p:sp>
      <p:pic>
        <p:nvPicPr>
          <p:cNvPr id="6" name="Image 0" descr="preencoded.png">    </p:cNvPr>
          <p:cNvPicPr>
            <a:picLocks noChangeAspect="1"/>
          </p:cNvPicPr>
          <p:nvPr/>
        </p:nvPicPr>
        <p:blipFill>
          <a:blip r:embed="rId1"/>
          <a:stretch>
            <a:fillRect/>
          </a:stretch>
        </p:blipFill>
        <p:spPr>
          <a:xfrm>
            <a:off x="502920" y="1216152"/>
            <a:ext cx="457200" cy="457200"/>
          </a:xfrm>
          <a:prstGeom prst="rect">
            <a:avLst/>
          </a:prstGeom>
        </p:spPr>
      </p:pic>
      <p:sp>
        <p:nvSpPr>
          <p:cNvPr id="7" name="Text 4"/>
          <p:cNvSpPr/>
          <p:nvPr/>
        </p:nvSpPr>
        <p:spPr>
          <a:xfrm>
            <a:off x="1051560" y="1152144"/>
            <a:ext cx="1828800" cy="38404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Bilingual Explanations</a:t>
            </a:r>
            <a:endParaRPr lang="en-US" sz="1250" dirty="0"/>
          </a:p>
        </p:txBody>
      </p:sp>
      <p:sp>
        <p:nvSpPr>
          <p:cNvPr id="8" name="Text 5"/>
          <p:cNvSpPr/>
          <p:nvPr/>
        </p:nvSpPr>
        <p:spPr>
          <a:xfrm>
            <a:off x="475488" y="1645920"/>
            <a:ext cx="2423160" cy="777240"/>
          </a:xfrm>
          <a:prstGeom prst="rect">
            <a:avLst/>
          </a:prstGeom>
          <a:noFill/>
          <a:ln/>
        </p:spPr>
        <p:txBody>
          <a:bodyPr wrap="square" lIns="0" tIns="0" rIns="0" bIns="0" rtlCol="0" anchor="ctr"/>
          <a:lstStyle/>
          <a:p>
            <a:pPr indent="0" marL="0">
              <a:buNone/>
            </a:pPr>
            <a:r>
              <a:rPr lang="en-US" sz="1100" dirty="0">
                <a:solidFill>
                  <a:srgbClr val="3D5A60"/>
                </a:solidFill>
                <a:latin typeface="Calibri" pitchFamily="34" charset="0"/>
                <a:ea typeface="Calibri" pitchFamily="34" charset="-122"/>
                <a:cs typeface="Calibri" pitchFamily="34" charset="-120"/>
              </a:rPr>
              <a:t>Generate accurate STEM concept explanations in both English and Kannada for every query.</a:t>
            </a:r>
            <a:endParaRPr lang="en-US" sz="1100" dirty="0"/>
          </a:p>
        </p:txBody>
      </p:sp>
      <p:sp>
        <p:nvSpPr>
          <p:cNvPr id="9" name="Shape 6"/>
          <p:cNvSpPr/>
          <p:nvPr/>
        </p:nvSpPr>
        <p:spPr>
          <a:xfrm>
            <a:off x="3200400" y="987552"/>
            <a:ext cx="2651760" cy="1572768"/>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10" name="Shape 7"/>
          <p:cNvSpPr/>
          <p:nvPr/>
        </p:nvSpPr>
        <p:spPr>
          <a:xfrm>
            <a:off x="3200400" y="987552"/>
            <a:ext cx="2651760" cy="73152"/>
          </a:xfrm>
          <a:prstGeom prst="rect">
            <a:avLst/>
          </a:prstGeom>
          <a:solidFill>
            <a:srgbClr val="028090"/>
          </a:solidFill>
          <a:ln w="12700">
            <a:solidFill>
              <a:srgbClr val="028090"/>
            </a:solidFill>
            <a:prstDash val="solid"/>
          </a:ln>
        </p:spPr>
      </p:sp>
      <p:pic>
        <p:nvPicPr>
          <p:cNvPr id="11" name="Image 1" descr="preencoded.png">    </p:cNvPr>
          <p:cNvPicPr>
            <a:picLocks noChangeAspect="1"/>
          </p:cNvPicPr>
          <p:nvPr/>
        </p:nvPicPr>
        <p:blipFill>
          <a:blip r:embed="rId2"/>
          <a:stretch>
            <a:fillRect/>
          </a:stretch>
        </p:blipFill>
        <p:spPr>
          <a:xfrm>
            <a:off x="3337560" y="1216152"/>
            <a:ext cx="457200" cy="457200"/>
          </a:xfrm>
          <a:prstGeom prst="rect">
            <a:avLst/>
          </a:prstGeom>
        </p:spPr>
      </p:pic>
      <p:sp>
        <p:nvSpPr>
          <p:cNvPr id="12" name="Text 8"/>
          <p:cNvSpPr/>
          <p:nvPr/>
        </p:nvSpPr>
        <p:spPr>
          <a:xfrm>
            <a:off x="3886200" y="1152144"/>
            <a:ext cx="1828800" cy="38404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Difficulty Adaptation</a:t>
            </a:r>
            <a:endParaRPr lang="en-US" sz="1250" dirty="0"/>
          </a:p>
        </p:txBody>
      </p:sp>
      <p:sp>
        <p:nvSpPr>
          <p:cNvPr id="13" name="Text 9"/>
          <p:cNvSpPr/>
          <p:nvPr/>
        </p:nvSpPr>
        <p:spPr>
          <a:xfrm>
            <a:off x="3310128" y="1645920"/>
            <a:ext cx="2423160" cy="777240"/>
          </a:xfrm>
          <a:prstGeom prst="rect">
            <a:avLst/>
          </a:prstGeom>
          <a:noFill/>
          <a:ln/>
        </p:spPr>
        <p:txBody>
          <a:bodyPr wrap="square" lIns="0" tIns="0" rIns="0" bIns="0" rtlCol="0" anchor="ctr"/>
          <a:lstStyle/>
          <a:p>
            <a:pPr indent="0" marL="0">
              <a:buNone/>
            </a:pPr>
            <a:r>
              <a:rPr lang="en-US" sz="1100" dirty="0">
                <a:solidFill>
                  <a:srgbClr val="3D5A60"/>
                </a:solidFill>
                <a:latin typeface="Calibri" pitchFamily="34" charset="0"/>
                <a:ea typeface="Calibri" pitchFamily="34" charset="-122"/>
                <a:cs typeface="Calibri" pitchFamily="34" charset="-120"/>
              </a:rPr>
              <a:t>Tailor content for Primary, Secondary, and Pre-University levels automatically.</a:t>
            </a:r>
            <a:endParaRPr lang="en-US" sz="1100" dirty="0"/>
          </a:p>
        </p:txBody>
      </p:sp>
      <p:sp>
        <p:nvSpPr>
          <p:cNvPr id="14" name="Shape 10"/>
          <p:cNvSpPr/>
          <p:nvPr/>
        </p:nvSpPr>
        <p:spPr>
          <a:xfrm>
            <a:off x="6035040" y="987552"/>
            <a:ext cx="2651760" cy="1572768"/>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15" name="Shape 11"/>
          <p:cNvSpPr/>
          <p:nvPr/>
        </p:nvSpPr>
        <p:spPr>
          <a:xfrm>
            <a:off x="6035040" y="987552"/>
            <a:ext cx="2651760" cy="73152"/>
          </a:xfrm>
          <a:prstGeom prst="rect">
            <a:avLst/>
          </a:prstGeom>
          <a:solidFill>
            <a:srgbClr val="028090"/>
          </a:solidFill>
          <a:ln w="12700">
            <a:solidFill>
              <a:srgbClr val="028090"/>
            </a:solidFill>
            <a:prstDash val="solid"/>
          </a:ln>
        </p:spPr>
      </p:sp>
      <p:pic>
        <p:nvPicPr>
          <p:cNvPr id="16" name="Image 2" descr="preencoded.png">    </p:cNvPr>
          <p:cNvPicPr>
            <a:picLocks noChangeAspect="1"/>
          </p:cNvPicPr>
          <p:nvPr/>
        </p:nvPicPr>
        <p:blipFill>
          <a:blip r:embed="rId3"/>
          <a:stretch>
            <a:fillRect/>
          </a:stretch>
        </p:blipFill>
        <p:spPr>
          <a:xfrm>
            <a:off x="6172200" y="1216152"/>
            <a:ext cx="457200" cy="457200"/>
          </a:xfrm>
          <a:prstGeom prst="rect">
            <a:avLst/>
          </a:prstGeom>
        </p:spPr>
      </p:pic>
      <p:sp>
        <p:nvSpPr>
          <p:cNvPr id="17" name="Text 12"/>
          <p:cNvSpPr/>
          <p:nvPr/>
        </p:nvSpPr>
        <p:spPr>
          <a:xfrm>
            <a:off x="6720840" y="1152144"/>
            <a:ext cx="1828800" cy="38404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Local Context Analogies</a:t>
            </a:r>
            <a:endParaRPr lang="en-US" sz="1250" dirty="0"/>
          </a:p>
        </p:txBody>
      </p:sp>
      <p:sp>
        <p:nvSpPr>
          <p:cNvPr id="18" name="Text 13"/>
          <p:cNvSpPr/>
          <p:nvPr/>
        </p:nvSpPr>
        <p:spPr>
          <a:xfrm>
            <a:off x="6144768" y="1645920"/>
            <a:ext cx="2423160" cy="777240"/>
          </a:xfrm>
          <a:prstGeom prst="rect">
            <a:avLst/>
          </a:prstGeom>
          <a:noFill/>
          <a:ln/>
        </p:spPr>
        <p:txBody>
          <a:bodyPr wrap="square" lIns="0" tIns="0" rIns="0" bIns="0" rtlCol="0" anchor="ctr"/>
          <a:lstStyle/>
          <a:p>
            <a:pPr indent="0" marL="0">
              <a:buNone/>
            </a:pPr>
            <a:r>
              <a:rPr lang="en-US" sz="1100" dirty="0">
                <a:solidFill>
                  <a:srgbClr val="3D5A60"/>
                </a:solidFill>
                <a:latin typeface="Calibri" pitchFamily="34" charset="0"/>
                <a:ea typeface="Calibri" pitchFamily="34" charset="-122"/>
                <a:cs typeface="Calibri" pitchFamily="34" charset="-120"/>
              </a:rPr>
              <a:t>Produce Karnataka village-specific analogies to make abstract concepts tangible and memorable.</a:t>
            </a:r>
            <a:endParaRPr lang="en-US" sz="1100" dirty="0"/>
          </a:p>
        </p:txBody>
      </p:sp>
      <p:sp>
        <p:nvSpPr>
          <p:cNvPr id="19" name="Shape 14"/>
          <p:cNvSpPr/>
          <p:nvPr/>
        </p:nvSpPr>
        <p:spPr>
          <a:xfrm>
            <a:off x="365760" y="2706624"/>
            <a:ext cx="2651760" cy="1572768"/>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20" name="Shape 15"/>
          <p:cNvSpPr/>
          <p:nvPr/>
        </p:nvSpPr>
        <p:spPr>
          <a:xfrm>
            <a:off x="365760" y="2706624"/>
            <a:ext cx="2651760" cy="73152"/>
          </a:xfrm>
          <a:prstGeom prst="rect">
            <a:avLst/>
          </a:prstGeom>
          <a:solidFill>
            <a:srgbClr val="028090"/>
          </a:solidFill>
          <a:ln w="12700">
            <a:solidFill>
              <a:srgbClr val="028090"/>
            </a:solidFill>
            <a:prstDash val="solid"/>
          </a:ln>
        </p:spPr>
      </p:sp>
      <p:pic>
        <p:nvPicPr>
          <p:cNvPr id="21" name="Image 3" descr="preencoded.png">    </p:cNvPr>
          <p:cNvPicPr>
            <a:picLocks noChangeAspect="1"/>
          </p:cNvPicPr>
          <p:nvPr/>
        </p:nvPicPr>
        <p:blipFill>
          <a:blip r:embed="rId4"/>
          <a:stretch>
            <a:fillRect/>
          </a:stretch>
        </p:blipFill>
        <p:spPr>
          <a:xfrm>
            <a:off x="502920" y="2935224"/>
            <a:ext cx="457200" cy="457200"/>
          </a:xfrm>
          <a:prstGeom prst="rect">
            <a:avLst/>
          </a:prstGeom>
        </p:spPr>
      </p:pic>
      <p:sp>
        <p:nvSpPr>
          <p:cNvPr id="22" name="Text 16"/>
          <p:cNvSpPr/>
          <p:nvPr/>
        </p:nvSpPr>
        <p:spPr>
          <a:xfrm>
            <a:off x="1051560" y="2871216"/>
            <a:ext cx="1828800" cy="38404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Audio-Assisted Learning</a:t>
            </a:r>
            <a:endParaRPr lang="en-US" sz="1250" dirty="0"/>
          </a:p>
        </p:txBody>
      </p:sp>
      <p:sp>
        <p:nvSpPr>
          <p:cNvPr id="23" name="Text 17"/>
          <p:cNvSpPr/>
          <p:nvPr/>
        </p:nvSpPr>
        <p:spPr>
          <a:xfrm>
            <a:off x="475488" y="3364992"/>
            <a:ext cx="2423160" cy="777240"/>
          </a:xfrm>
          <a:prstGeom prst="rect">
            <a:avLst/>
          </a:prstGeom>
          <a:noFill/>
          <a:ln/>
        </p:spPr>
        <p:txBody>
          <a:bodyPr wrap="square" lIns="0" tIns="0" rIns="0" bIns="0" rtlCol="0" anchor="ctr"/>
          <a:lstStyle/>
          <a:p>
            <a:pPr indent="0" marL="0">
              <a:buNone/>
            </a:pPr>
            <a:r>
              <a:rPr lang="en-US" sz="1100" dirty="0">
                <a:solidFill>
                  <a:srgbClr val="3D5A60"/>
                </a:solidFill>
                <a:latin typeface="Calibri" pitchFamily="34" charset="0"/>
                <a:ea typeface="Calibri" pitchFamily="34" charset="-122"/>
                <a:cs typeface="Calibri" pitchFamily="34" charset="-120"/>
              </a:rPr>
              <a:t>Provide gTTS-powered audio playback in English and Kannada for auditory learners.</a:t>
            </a:r>
            <a:endParaRPr lang="en-US" sz="1100" dirty="0"/>
          </a:p>
        </p:txBody>
      </p:sp>
      <p:sp>
        <p:nvSpPr>
          <p:cNvPr id="24" name="Shape 18"/>
          <p:cNvSpPr/>
          <p:nvPr/>
        </p:nvSpPr>
        <p:spPr>
          <a:xfrm>
            <a:off x="3200400" y="2706624"/>
            <a:ext cx="2651760" cy="1572768"/>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25" name="Shape 19"/>
          <p:cNvSpPr/>
          <p:nvPr/>
        </p:nvSpPr>
        <p:spPr>
          <a:xfrm>
            <a:off x="3200400" y="2706624"/>
            <a:ext cx="2651760" cy="73152"/>
          </a:xfrm>
          <a:prstGeom prst="rect">
            <a:avLst/>
          </a:prstGeom>
          <a:solidFill>
            <a:srgbClr val="028090"/>
          </a:solidFill>
          <a:ln w="12700">
            <a:solidFill>
              <a:srgbClr val="028090"/>
            </a:solidFill>
            <a:prstDash val="solid"/>
          </a:ln>
        </p:spPr>
      </p:sp>
      <p:pic>
        <p:nvPicPr>
          <p:cNvPr id="26" name="Image 4" descr="preencoded.png">    </p:cNvPr>
          <p:cNvPicPr>
            <a:picLocks noChangeAspect="1"/>
          </p:cNvPicPr>
          <p:nvPr/>
        </p:nvPicPr>
        <p:blipFill>
          <a:blip r:embed="rId5"/>
          <a:stretch>
            <a:fillRect/>
          </a:stretch>
        </p:blipFill>
        <p:spPr>
          <a:xfrm>
            <a:off x="3337560" y="2935224"/>
            <a:ext cx="457200" cy="457200"/>
          </a:xfrm>
          <a:prstGeom prst="rect">
            <a:avLst/>
          </a:prstGeom>
        </p:spPr>
      </p:pic>
      <p:sp>
        <p:nvSpPr>
          <p:cNvPr id="27" name="Text 20"/>
          <p:cNvSpPr/>
          <p:nvPr/>
        </p:nvSpPr>
        <p:spPr>
          <a:xfrm>
            <a:off x="3886200" y="2871216"/>
            <a:ext cx="1828800" cy="38404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Multi-Subject Coverage</a:t>
            </a:r>
            <a:endParaRPr lang="en-US" sz="1250" dirty="0"/>
          </a:p>
        </p:txBody>
      </p:sp>
      <p:sp>
        <p:nvSpPr>
          <p:cNvPr id="28" name="Text 21"/>
          <p:cNvSpPr/>
          <p:nvPr/>
        </p:nvSpPr>
        <p:spPr>
          <a:xfrm>
            <a:off x="3310128" y="3364992"/>
            <a:ext cx="2423160" cy="777240"/>
          </a:xfrm>
          <a:prstGeom prst="rect">
            <a:avLst/>
          </a:prstGeom>
          <a:noFill/>
          <a:ln/>
        </p:spPr>
        <p:txBody>
          <a:bodyPr wrap="square" lIns="0" tIns="0" rIns="0" bIns="0" rtlCol="0" anchor="ctr"/>
          <a:lstStyle/>
          <a:p>
            <a:pPr indent="0" marL="0">
              <a:buNone/>
            </a:pPr>
            <a:r>
              <a:rPr lang="en-US" sz="1100" dirty="0">
                <a:solidFill>
                  <a:srgbClr val="3D5A60"/>
                </a:solidFill>
                <a:latin typeface="Calibri" pitchFamily="34" charset="0"/>
                <a:ea typeface="Calibri" pitchFamily="34" charset="-122"/>
                <a:cs typeface="Calibri" pitchFamily="34" charset="-120"/>
              </a:rPr>
              <a:t>Support Biology, Physics, Chemistry, Mathematics, and Computer Science seamlessly.</a:t>
            </a:r>
            <a:endParaRPr lang="en-US" sz="1100" dirty="0"/>
          </a:p>
        </p:txBody>
      </p:sp>
      <p:sp>
        <p:nvSpPr>
          <p:cNvPr id="29" name="Shape 22"/>
          <p:cNvSpPr/>
          <p:nvPr/>
        </p:nvSpPr>
        <p:spPr>
          <a:xfrm>
            <a:off x="6035040" y="2706624"/>
            <a:ext cx="2651760" cy="1572768"/>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30" name="Shape 23"/>
          <p:cNvSpPr/>
          <p:nvPr/>
        </p:nvSpPr>
        <p:spPr>
          <a:xfrm>
            <a:off x="6035040" y="2706624"/>
            <a:ext cx="2651760" cy="73152"/>
          </a:xfrm>
          <a:prstGeom prst="rect">
            <a:avLst/>
          </a:prstGeom>
          <a:solidFill>
            <a:srgbClr val="028090"/>
          </a:solidFill>
          <a:ln w="12700">
            <a:solidFill>
              <a:srgbClr val="028090"/>
            </a:solidFill>
            <a:prstDash val="solid"/>
          </a:ln>
        </p:spPr>
      </p:sp>
      <p:pic>
        <p:nvPicPr>
          <p:cNvPr id="31" name="Image 5" descr="preencoded.png">    </p:cNvPr>
          <p:cNvPicPr>
            <a:picLocks noChangeAspect="1"/>
          </p:cNvPicPr>
          <p:nvPr/>
        </p:nvPicPr>
        <p:blipFill>
          <a:blip r:embed="rId6"/>
          <a:stretch>
            <a:fillRect/>
          </a:stretch>
        </p:blipFill>
        <p:spPr>
          <a:xfrm>
            <a:off x="6172200" y="2935224"/>
            <a:ext cx="457200" cy="457200"/>
          </a:xfrm>
          <a:prstGeom prst="rect">
            <a:avLst/>
          </a:prstGeom>
        </p:spPr>
      </p:pic>
      <p:sp>
        <p:nvSpPr>
          <p:cNvPr id="32" name="Text 24"/>
          <p:cNvSpPr/>
          <p:nvPr/>
        </p:nvSpPr>
        <p:spPr>
          <a:xfrm>
            <a:off x="6720840" y="2871216"/>
            <a:ext cx="1828800" cy="38404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Inclusive &amp; Accessible</a:t>
            </a:r>
            <a:endParaRPr lang="en-US" sz="1250" dirty="0"/>
          </a:p>
        </p:txBody>
      </p:sp>
      <p:sp>
        <p:nvSpPr>
          <p:cNvPr id="33" name="Text 25"/>
          <p:cNvSpPr/>
          <p:nvPr/>
        </p:nvSpPr>
        <p:spPr>
          <a:xfrm>
            <a:off x="6144768" y="3364992"/>
            <a:ext cx="2423160" cy="777240"/>
          </a:xfrm>
          <a:prstGeom prst="rect">
            <a:avLst/>
          </a:prstGeom>
          <a:noFill/>
          <a:ln/>
        </p:spPr>
        <p:txBody>
          <a:bodyPr wrap="square" lIns="0" tIns="0" rIns="0" bIns="0" rtlCol="0" anchor="ctr"/>
          <a:lstStyle/>
          <a:p>
            <a:pPr indent="0" marL="0">
              <a:buNone/>
            </a:pPr>
            <a:r>
              <a:rPr lang="en-US" sz="1100" dirty="0">
                <a:solidFill>
                  <a:srgbClr val="3D5A60"/>
                </a:solidFill>
                <a:latin typeface="Calibri" pitchFamily="34" charset="0"/>
                <a:ea typeface="Calibri" pitchFamily="34" charset="-122"/>
                <a:cs typeface="Calibri" pitchFamily="34" charset="-120"/>
              </a:rPr>
              <a:t>Deliver a simple Streamlit interface requiring zero technical knowledge from the student.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594360"/>
          </a:xfrm>
          <a:prstGeom prst="rect">
            <a:avLst/>
          </a:prstGeom>
          <a:noFill/>
          <a:ln/>
        </p:spPr>
        <p:txBody>
          <a:bodyPr wrap="square" lIns="0" tIns="0" rIns="0" bIns="0" rtlCol="0" anchor="ctr"/>
          <a:lstStyle/>
          <a:p>
            <a:pPr algn="l" indent="0" marL="0">
              <a:buNone/>
            </a:pPr>
            <a:r>
              <a:rPr lang="en-US" sz="3200" b="1" dirty="0">
                <a:solidFill>
                  <a:srgbClr val="028090"/>
                </a:solidFill>
                <a:latin typeface="Calibri" pitchFamily="34" charset="0"/>
                <a:ea typeface="Calibri" pitchFamily="34" charset="-122"/>
                <a:cs typeface="Calibri" pitchFamily="34" charset="-120"/>
              </a:rPr>
              <a:t>Proposed Solution</a:t>
            </a:r>
            <a:endParaRPr lang="en-US" sz="3200" dirty="0"/>
          </a:p>
        </p:txBody>
      </p:sp>
      <p:sp>
        <p:nvSpPr>
          <p:cNvPr id="3" name="Shape 1"/>
          <p:cNvSpPr/>
          <p:nvPr/>
        </p:nvSpPr>
        <p:spPr>
          <a:xfrm>
            <a:off x="365760" y="822960"/>
            <a:ext cx="8412480" cy="27432"/>
          </a:xfrm>
          <a:prstGeom prst="rect">
            <a:avLst/>
          </a:prstGeom>
          <a:solidFill>
            <a:srgbClr val="028090">
              <a:alpha val="50000"/>
            </a:srgbClr>
          </a:solidFill>
          <a:ln w="12700">
            <a:solidFill>
              <a:srgbClr val="028090">
                <a:alpha val="50000"/>
              </a:srgbClr>
            </a:solidFill>
            <a:prstDash val="solid"/>
          </a:ln>
        </p:spPr>
      </p:sp>
      <p:sp>
        <p:nvSpPr>
          <p:cNvPr id="4" name="Text 2"/>
          <p:cNvSpPr/>
          <p:nvPr/>
        </p:nvSpPr>
        <p:spPr>
          <a:xfrm>
            <a:off x="365760" y="914400"/>
            <a:ext cx="8412480" cy="347472"/>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How the System Works</a:t>
            </a:r>
            <a:endParaRPr lang="en-US" sz="1600" dirty="0"/>
          </a:p>
        </p:txBody>
      </p:sp>
      <p:sp>
        <p:nvSpPr>
          <p:cNvPr id="5" name="Shape 3"/>
          <p:cNvSpPr/>
          <p:nvPr/>
        </p:nvSpPr>
        <p:spPr>
          <a:xfrm>
            <a:off x="365760" y="1371600"/>
            <a:ext cx="1874520" cy="1920240"/>
          </a:xfrm>
          <a:prstGeom prst="rect">
            <a:avLst/>
          </a:prstGeom>
          <a:solidFill>
            <a:srgbClr val="E0F4F7"/>
          </a:solidFill>
          <a:ln w="12700">
            <a:solidFill>
              <a:srgbClr val="B2DDE5"/>
            </a:solidFill>
            <a:prstDash val="solid"/>
          </a:ln>
        </p:spPr>
      </p:sp>
      <p:sp>
        <p:nvSpPr>
          <p:cNvPr id="6" name="Shape 4"/>
          <p:cNvSpPr/>
          <p:nvPr/>
        </p:nvSpPr>
        <p:spPr>
          <a:xfrm>
            <a:off x="1005840" y="1389888"/>
            <a:ext cx="594360" cy="594360"/>
          </a:xfrm>
          <a:prstGeom prst="oval">
            <a:avLst/>
          </a:prstGeom>
          <a:solidFill>
            <a:srgbClr val="028090"/>
          </a:solidFill>
          <a:ln w="12700">
            <a:solidFill>
              <a:srgbClr val="028090"/>
            </a:solidFill>
            <a:prstDash val="solid"/>
          </a:ln>
        </p:spPr>
      </p:sp>
      <p:sp>
        <p:nvSpPr>
          <p:cNvPr id="7" name="Text 5"/>
          <p:cNvSpPr/>
          <p:nvPr/>
        </p:nvSpPr>
        <p:spPr>
          <a:xfrm>
            <a:off x="1005840" y="1408176"/>
            <a:ext cx="594360"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365760" y="2029968"/>
            <a:ext cx="1874520" cy="502920"/>
          </a:xfrm>
          <a:prstGeom prst="rect">
            <a:avLst/>
          </a:prstGeom>
          <a:noFill/>
          <a:ln/>
        </p:spPr>
        <p:txBody>
          <a:bodyPr wrap="square" lIns="0" tIns="0" rIns="0" bIns="0" rtlCol="0" anchor="ctr"/>
          <a:lstStyle/>
          <a:p>
            <a:pPr algn="ctr" indent="0" marL="0">
              <a:buNone/>
            </a:pPr>
            <a:r>
              <a:rPr lang="en-US" sz="1400" b="1" dirty="0">
                <a:solidFill>
                  <a:srgbClr val="1A2E35"/>
                </a:solidFill>
                <a:latin typeface="Calibri" pitchFamily="34" charset="0"/>
                <a:ea typeface="Calibri" pitchFamily="34" charset="-122"/>
                <a:cs typeface="Calibri" pitchFamily="34" charset="-120"/>
              </a:rPr>
              <a:t>Student</a:t>
            </a:r>
            <a:endParaRPr lang="en-US" sz="1400" dirty="0"/>
          </a:p>
          <a:p>
            <a:pPr algn="ctr" indent="0" marL="0">
              <a:buNone/>
            </a:pPr>
            <a:r>
              <a:rPr lang="en-US" sz="1400" b="1" dirty="0">
                <a:solidFill>
                  <a:srgbClr val="1A2E35"/>
                </a:solidFill>
                <a:latin typeface="Calibri" pitchFamily="34" charset="0"/>
                <a:ea typeface="Calibri" pitchFamily="34" charset="-122"/>
                <a:cs typeface="Calibri" pitchFamily="34" charset="-120"/>
              </a:rPr>
              <a:t>Input</a:t>
            </a:r>
            <a:endParaRPr lang="en-US" sz="1400" dirty="0"/>
          </a:p>
        </p:txBody>
      </p:sp>
      <p:sp>
        <p:nvSpPr>
          <p:cNvPr id="9" name="Text 7"/>
          <p:cNvSpPr/>
          <p:nvPr/>
        </p:nvSpPr>
        <p:spPr>
          <a:xfrm>
            <a:off x="457200" y="2532888"/>
            <a:ext cx="1691640" cy="658368"/>
          </a:xfrm>
          <a:prstGeom prst="rect">
            <a:avLst/>
          </a:prstGeom>
          <a:noFill/>
          <a:ln/>
        </p:spPr>
        <p:txBody>
          <a:bodyPr wrap="square" lIns="0" tIns="0" rIns="0" bIns="0" rtlCol="0" anchor="ctr"/>
          <a:lstStyle/>
          <a:p>
            <a:pPr algn="ctr" indent="0" marL="0">
              <a:buNone/>
            </a:pPr>
            <a:r>
              <a:rPr lang="en-US" sz="1100" dirty="0">
                <a:solidFill>
                  <a:srgbClr val="3D5A60"/>
                </a:solidFill>
                <a:latin typeface="Calibri" pitchFamily="34" charset="0"/>
                <a:ea typeface="Calibri" pitchFamily="34" charset="-122"/>
                <a:cs typeface="Calibri" pitchFamily="34" charset="-120"/>
              </a:rPr>
              <a:t>Selects subject, difficulty &amp; types concept</a:t>
            </a:r>
            <a:endParaRPr lang="en-US" sz="1100" dirty="0"/>
          </a:p>
        </p:txBody>
      </p:sp>
      <p:pic>
        <p:nvPicPr>
          <p:cNvPr id="10" name="Image 0" descr="preencoded.png">    </p:cNvPr>
          <p:cNvPicPr>
            <a:picLocks noChangeAspect="1"/>
          </p:cNvPicPr>
          <p:nvPr/>
        </p:nvPicPr>
        <p:blipFill>
          <a:blip r:embed="rId1"/>
          <a:stretch>
            <a:fillRect/>
          </a:stretch>
        </p:blipFill>
        <p:spPr>
          <a:xfrm>
            <a:off x="2267712" y="2103120"/>
            <a:ext cx="219456" cy="219456"/>
          </a:xfrm>
          <a:prstGeom prst="rect">
            <a:avLst/>
          </a:prstGeom>
        </p:spPr>
      </p:pic>
      <p:sp>
        <p:nvSpPr>
          <p:cNvPr id="11" name="Shape 8"/>
          <p:cNvSpPr/>
          <p:nvPr/>
        </p:nvSpPr>
        <p:spPr>
          <a:xfrm>
            <a:off x="2514600" y="1371600"/>
            <a:ext cx="1874520" cy="1920240"/>
          </a:xfrm>
          <a:prstGeom prst="rect">
            <a:avLst/>
          </a:prstGeom>
          <a:solidFill>
            <a:srgbClr val="E0F4F7"/>
          </a:solidFill>
          <a:ln w="12700">
            <a:solidFill>
              <a:srgbClr val="B2DDE5"/>
            </a:solidFill>
            <a:prstDash val="solid"/>
          </a:ln>
        </p:spPr>
      </p:sp>
      <p:sp>
        <p:nvSpPr>
          <p:cNvPr id="12" name="Shape 9"/>
          <p:cNvSpPr/>
          <p:nvPr/>
        </p:nvSpPr>
        <p:spPr>
          <a:xfrm>
            <a:off x="3154680" y="1389888"/>
            <a:ext cx="594360" cy="594360"/>
          </a:xfrm>
          <a:prstGeom prst="oval">
            <a:avLst/>
          </a:prstGeom>
          <a:solidFill>
            <a:srgbClr val="028090"/>
          </a:solidFill>
          <a:ln w="12700">
            <a:solidFill>
              <a:srgbClr val="028090"/>
            </a:solidFill>
            <a:prstDash val="solid"/>
          </a:ln>
        </p:spPr>
      </p:sp>
      <p:sp>
        <p:nvSpPr>
          <p:cNvPr id="13" name="Text 10"/>
          <p:cNvSpPr/>
          <p:nvPr/>
        </p:nvSpPr>
        <p:spPr>
          <a:xfrm>
            <a:off x="3154680" y="1408176"/>
            <a:ext cx="594360"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1"/>
          <p:cNvSpPr/>
          <p:nvPr/>
        </p:nvSpPr>
        <p:spPr>
          <a:xfrm>
            <a:off x="2514600" y="2029968"/>
            <a:ext cx="1874520" cy="502920"/>
          </a:xfrm>
          <a:prstGeom prst="rect">
            <a:avLst/>
          </a:prstGeom>
          <a:noFill/>
          <a:ln/>
        </p:spPr>
        <p:txBody>
          <a:bodyPr wrap="square" lIns="0" tIns="0" rIns="0" bIns="0" rtlCol="0" anchor="ctr"/>
          <a:lstStyle/>
          <a:p>
            <a:pPr algn="ctr" indent="0" marL="0">
              <a:buNone/>
            </a:pPr>
            <a:r>
              <a:rPr lang="en-US" sz="1400" b="1" dirty="0">
                <a:solidFill>
                  <a:srgbClr val="1A2E35"/>
                </a:solidFill>
                <a:latin typeface="Calibri" pitchFamily="34" charset="0"/>
                <a:ea typeface="Calibri" pitchFamily="34" charset="-122"/>
                <a:cs typeface="Calibri" pitchFamily="34" charset="-120"/>
              </a:rPr>
              <a:t>Prompt</a:t>
            </a:r>
            <a:endParaRPr lang="en-US" sz="1400" dirty="0"/>
          </a:p>
          <a:p>
            <a:pPr algn="ctr" indent="0" marL="0">
              <a:buNone/>
            </a:pPr>
            <a:r>
              <a:rPr lang="en-US" sz="1400" b="1" dirty="0">
                <a:solidFill>
                  <a:srgbClr val="1A2E35"/>
                </a:solidFill>
                <a:latin typeface="Calibri" pitchFamily="34" charset="0"/>
                <a:ea typeface="Calibri" pitchFamily="34" charset="-122"/>
                <a:cs typeface="Calibri" pitchFamily="34" charset="-120"/>
              </a:rPr>
              <a:t>Engineering</a:t>
            </a:r>
            <a:endParaRPr lang="en-US" sz="1400" dirty="0"/>
          </a:p>
        </p:txBody>
      </p:sp>
      <p:sp>
        <p:nvSpPr>
          <p:cNvPr id="15" name="Text 12"/>
          <p:cNvSpPr/>
          <p:nvPr/>
        </p:nvSpPr>
        <p:spPr>
          <a:xfrm>
            <a:off x="2606040" y="2532888"/>
            <a:ext cx="1691640" cy="658368"/>
          </a:xfrm>
          <a:prstGeom prst="rect">
            <a:avLst/>
          </a:prstGeom>
          <a:noFill/>
          <a:ln/>
        </p:spPr>
        <p:txBody>
          <a:bodyPr wrap="square" lIns="0" tIns="0" rIns="0" bIns="0" rtlCol="0" anchor="ctr"/>
          <a:lstStyle/>
          <a:p>
            <a:pPr algn="ctr" indent="0" marL="0">
              <a:buNone/>
            </a:pPr>
            <a:r>
              <a:rPr lang="en-US" sz="1100" dirty="0">
                <a:solidFill>
                  <a:srgbClr val="3D5A60"/>
                </a:solidFill>
                <a:latin typeface="Calibri" pitchFamily="34" charset="0"/>
                <a:ea typeface="Calibri" pitchFamily="34" charset="-122"/>
                <a:cs typeface="Calibri" pitchFamily="34" charset="-120"/>
              </a:rPr>
              <a:t>Bilingual instructions crafted for Gemini</a:t>
            </a:r>
            <a:endParaRPr lang="en-US" sz="1100" dirty="0"/>
          </a:p>
        </p:txBody>
      </p:sp>
      <p:pic>
        <p:nvPicPr>
          <p:cNvPr id="16" name="Image 1" descr="preencoded.png">    </p:cNvPr>
          <p:cNvPicPr>
            <a:picLocks noChangeAspect="1"/>
          </p:cNvPicPr>
          <p:nvPr/>
        </p:nvPicPr>
        <p:blipFill>
          <a:blip r:embed="rId2"/>
          <a:stretch>
            <a:fillRect/>
          </a:stretch>
        </p:blipFill>
        <p:spPr>
          <a:xfrm>
            <a:off x="4416552" y="2103120"/>
            <a:ext cx="219456" cy="219456"/>
          </a:xfrm>
          <a:prstGeom prst="rect">
            <a:avLst/>
          </a:prstGeom>
        </p:spPr>
      </p:pic>
      <p:sp>
        <p:nvSpPr>
          <p:cNvPr id="17" name="Shape 13"/>
          <p:cNvSpPr/>
          <p:nvPr/>
        </p:nvSpPr>
        <p:spPr>
          <a:xfrm>
            <a:off x="4663440" y="1371600"/>
            <a:ext cx="1874520" cy="1920240"/>
          </a:xfrm>
          <a:prstGeom prst="rect">
            <a:avLst/>
          </a:prstGeom>
          <a:solidFill>
            <a:srgbClr val="E0F4F7"/>
          </a:solidFill>
          <a:ln w="12700">
            <a:solidFill>
              <a:srgbClr val="B2DDE5"/>
            </a:solidFill>
            <a:prstDash val="solid"/>
          </a:ln>
        </p:spPr>
      </p:sp>
      <p:sp>
        <p:nvSpPr>
          <p:cNvPr id="18" name="Shape 14"/>
          <p:cNvSpPr/>
          <p:nvPr/>
        </p:nvSpPr>
        <p:spPr>
          <a:xfrm>
            <a:off x="5303520" y="1389888"/>
            <a:ext cx="594360" cy="594360"/>
          </a:xfrm>
          <a:prstGeom prst="oval">
            <a:avLst/>
          </a:prstGeom>
          <a:solidFill>
            <a:srgbClr val="028090"/>
          </a:solidFill>
          <a:ln w="12700">
            <a:solidFill>
              <a:srgbClr val="028090"/>
            </a:solidFill>
            <a:prstDash val="solid"/>
          </a:ln>
        </p:spPr>
      </p:sp>
      <p:sp>
        <p:nvSpPr>
          <p:cNvPr id="19" name="Text 15"/>
          <p:cNvSpPr/>
          <p:nvPr/>
        </p:nvSpPr>
        <p:spPr>
          <a:xfrm>
            <a:off x="5303520" y="1408176"/>
            <a:ext cx="594360"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0" name="Text 16"/>
          <p:cNvSpPr/>
          <p:nvPr/>
        </p:nvSpPr>
        <p:spPr>
          <a:xfrm>
            <a:off x="4663440" y="2029968"/>
            <a:ext cx="1874520" cy="502920"/>
          </a:xfrm>
          <a:prstGeom prst="rect">
            <a:avLst/>
          </a:prstGeom>
          <a:noFill/>
          <a:ln/>
        </p:spPr>
        <p:txBody>
          <a:bodyPr wrap="square" lIns="0" tIns="0" rIns="0" bIns="0" rtlCol="0" anchor="ctr"/>
          <a:lstStyle/>
          <a:p>
            <a:pPr algn="ctr" indent="0" marL="0">
              <a:buNone/>
            </a:pPr>
            <a:r>
              <a:rPr lang="en-US" sz="1400" b="1" dirty="0">
                <a:solidFill>
                  <a:srgbClr val="1A2E35"/>
                </a:solidFill>
                <a:latin typeface="Calibri" pitchFamily="34" charset="0"/>
                <a:ea typeface="Calibri" pitchFamily="34" charset="-122"/>
                <a:cs typeface="Calibri" pitchFamily="34" charset="-120"/>
              </a:rPr>
              <a:t>AI</a:t>
            </a:r>
            <a:endParaRPr lang="en-US" sz="1400" dirty="0"/>
          </a:p>
          <a:p>
            <a:pPr algn="ctr" indent="0" marL="0">
              <a:buNone/>
            </a:pPr>
            <a:r>
              <a:rPr lang="en-US" sz="1400" b="1" dirty="0">
                <a:solidFill>
                  <a:srgbClr val="1A2E35"/>
                </a:solidFill>
                <a:latin typeface="Calibri" pitchFamily="34" charset="0"/>
                <a:ea typeface="Calibri" pitchFamily="34" charset="-122"/>
                <a:cs typeface="Calibri" pitchFamily="34" charset="-120"/>
              </a:rPr>
              <a:t>Generation</a:t>
            </a:r>
            <a:endParaRPr lang="en-US" sz="1400" dirty="0"/>
          </a:p>
        </p:txBody>
      </p:sp>
      <p:sp>
        <p:nvSpPr>
          <p:cNvPr id="21" name="Text 17"/>
          <p:cNvSpPr/>
          <p:nvPr/>
        </p:nvSpPr>
        <p:spPr>
          <a:xfrm>
            <a:off x="4754880" y="2532888"/>
            <a:ext cx="1691640" cy="658368"/>
          </a:xfrm>
          <a:prstGeom prst="rect">
            <a:avLst/>
          </a:prstGeom>
          <a:noFill/>
          <a:ln/>
        </p:spPr>
        <p:txBody>
          <a:bodyPr wrap="square" lIns="0" tIns="0" rIns="0" bIns="0" rtlCol="0" anchor="ctr"/>
          <a:lstStyle/>
          <a:p>
            <a:pPr algn="ctr" indent="0" marL="0">
              <a:buNone/>
            </a:pPr>
            <a:r>
              <a:rPr lang="en-US" sz="1100" dirty="0">
                <a:solidFill>
                  <a:srgbClr val="3D5A60"/>
                </a:solidFill>
                <a:latin typeface="Calibri" pitchFamily="34" charset="0"/>
                <a:ea typeface="Calibri" pitchFamily="34" charset="-122"/>
                <a:cs typeface="Calibri" pitchFamily="34" charset="-120"/>
              </a:rPr>
              <a:t>Gemini 2.5 Flash generates rich content</a:t>
            </a:r>
            <a:endParaRPr lang="en-US" sz="1100" dirty="0"/>
          </a:p>
        </p:txBody>
      </p:sp>
      <p:pic>
        <p:nvPicPr>
          <p:cNvPr id="22" name="Image 2" descr="preencoded.png">    </p:cNvPr>
          <p:cNvPicPr>
            <a:picLocks noChangeAspect="1"/>
          </p:cNvPicPr>
          <p:nvPr/>
        </p:nvPicPr>
        <p:blipFill>
          <a:blip r:embed="rId3"/>
          <a:stretch>
            <a:fillRect/>
          </a:stretch>
        </p:blipFill>
        <p:spPr>
          <a:xfrm>
            <a:off x="6565392" y="2103120"/>
            <a:ext cx="219456" cy="219456"/>
          </a:xfrm>
          <a:prstGeom prst="rect">
            <a:avLst/>
          </a:prstGeom>
        </p:spPr>
      </p:pic>
      <p:sp>
        <p:nvSpPr>
          <p:cNvPr id="23" name="Shape 18"/>
          <p:cNvSpPr/>
          <p:nvPr/>
        </p:nvSpPr>
        <p:spPr>
          <a:xfrm>
            <a:off x="6812280" y="1371600"/>
            <a:ext cx="1874520" cy="1920240"/>
          </a:xfrm>
          <a:prstGeom prst="rect">
            <a:avLst/>
          </a:prstGeom>
          <a:solidFill>
            <a:srgbClr val="E0F4F7"/>
          </a:solidFill>
          <a:ln w="12700">
            <a:solidFill>
              <a:srgbClr val="B2DDE5"/>
            </a:solidFill>
            <a:prstDash val="solid"/>
          </a:ln>
        </p:spPr>
      </p:sp>
      <p:sp>
        <p:nvSpPr>
          <p:cNvPr id="24" name="Shape 19"/>
          <p:cNvSpPr/>
          <p:nvPr/>
        </p:nvSpPr>
        <p:spPr>
          <a:xfrm>
            <a:off x="7452360" y="1389888"/>
            <a:ext cx="594360" cy="594360"/>
          </a:xfrm>
          <a:prstGeom prst="oval">
            <a:avLst/>
          </a:prstGeom>
          <a:solidFill>
            <a:srgbClr val="028090"/>
          </a:solidFill>
          <a:ln w="12700">
            <a:solidFill>
              <a:srgbClr val="028090"/>
            </a:solidFill>
            <a:prstDash val="solid"/>
          </a:ln>
        </p:spPr>
      </p:sp>
      <p:sp>
        <p:nvSpPr>
          <p:cNvPr id="25" name="Text 20"/>
          <p:cNvSpPr/>
          <p:nvPr/>
        </p:nvSpPr>
        <p:spPr>
          <a:xfrm>
            <a:off x="7452360" y="1408176"/>
            <a:ext cx="594360"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6" name="Text 21"/>
          <p:cNvSpPr/>
          <p:nvPr/>
        </p:nvSpPr>
        <p:spPr>
          <a:xfrm>
            <a:off x="6812280" y="2029968"/>
            <a:ext cx="1874520" cy="502920"/>
          </a:xfrm>
          <a:prstGeom prst="rect">
            <a:avLst/>
          </a:prstGeom>
          <a:noFill/>
          <a:ln/>
        </p:spPr>
        <p:txBody>
          <a:bodyPr wrap="square" lIns="0" tIns="0" rIns="0" bIns="0" rtlCol="0" anchor="ctr"/>
          <a:lstStyle/>
          <a:p>
            <a:pPr algn="ctr" indent="0" marL="0">
              <a:buNone/>
            </a:pPr>
            <a:r>
              <a:rPr lang="en-US" sz="1400" b="1" dirty="0">
                <a:solidFill>
                  <a:srgbClr val="1A2E35"/>
                </a:solidFill>
                <a:latin typeface="Calibri" pitchFamily="34" charset="0"/>
                <a:ea typeface="Calibri" pitchFamily="34" charset="-122"/>
                <a:cs typeface="Calibri" pitchFamily="34" charset="-120"/>
              </a:rPr>
              <a:t>Output</a:t>
            </a:r>
            <a:endParaRPr lang="en-US" sz="1400" dirty="0"/>
          </a:p>
          <a:p>
            <a:pPr algn="ctr" indent="0" marL="0">
              <a:buNone/>
            </a:pPr>
            <a:r>
              <a:rPr lang="en-US" sz="1400" b="1" dirty="0">
                <a:solidFill>
                  <a:srgbClr val="1A2E35"/>
                </a:solidFill>
                <a:latin typeface="Calibri" pitchFamily="34" charset="0"/>
                <a:ea typeface="Calibri" pitchFamily="34" charset="-122"/>
                <a:cs typeface="Calibri" pitchFamily="34" charset="-120"/>
              </a:rPr>
              <a:t>Delivery</a:t>
            </a:r>
            <a:endParaRPr lang="en-US" sz="1400" dirty="0"/>
          </a:p>
        </p:txBody>
      </p:sp>
      <p:sp>
        <p:nvSpPr>
          <p:cNvPr id="27" name="Text 22"/>
          <p:cNvSpPr/>
          <p:nvPr/>
        </p:nvSpPr>
        <p:spPr>
          <a:xfrm>
            <a:off x="6903720" y="2532888"/>
            <a:ext cx="1691640" cy="658368"/>
          </a:xfrm>
          <a:prstGeom prst="rect">
            <a:avLst/>
          </a:prstGeom>
          <a:noFill/>
          <a:ln/>
        </p:spPr>
        <p:txBody>
          <a:bodyPr wrap="square" lIns="0" tIns="0" rIns="0" bIns="0" rtlCol="0" anchor="ctr"/>
          <a:lstStyle/>
          <a:p>
            <a:pPr algn="ctr" indent="0" marL="0">
              <a:buNone/>
            </a:pPr>
            <a:r>
              <a:rPr lang="en-US" sz="1100" dirty="0">
                <a:solidFill>
                  <a:srgbClr val="3D5A60"/>
                </a:solidFill>
                <a:latin typeface="Calibri" pitchFamily="34" charset="0"/>
                <a:ea typeface="Calibri" pitchFamily="34" charset="-122"/>
                <a:cs typeface="Calibri" pitchFamily="34" charset="-120"/>
              </a:rPr>
              <a:t>English, Kannada, analogy &amp; audio returned</a:t>
            </a:r>
            <a:endParaRPr lang="en-US" sz="1100" dirty="0"/>
          </a:p>
        </p:txBody>
      </p:sp>
      <p:sp>
        <p:nvSpPr>
          <p:cNvPr id="28" name="Text 23"/>
          <p:cNvSpPr/>
          <p:nvPr/>
        </p:nvSpPr>
        <p:spPr>
          <a:xfrm>
            <a:off x="365760" y="3429000"/>
            <a:ext cx="3200400" cy="32004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What the Student Receives:</a:t>
            </a:r>
            <a:endParaRPr lang="en-US" sz="1400" dirty="0"/>
          </a:p>
        </p:txBody>
      </p:sp>
      <p:sp>
        <p:nvSpPr>
          <p:cNvPr id="29" name="Shape 24"/>
          <p:cNvSpPr/>
          <p:nvPr/>
        </p:nvSpPr>
        <p:spPr>
          <a:xfrm>
            <a:off x="365760" y="3794760"/>
            <a:ext cx="1920240" cy="566928"/>
          </a:xfrm>
          <a:prstGeom prst="rect">
            <a:avLst/>
          </a:prstGeom>
          <a:solidFill>
            <a:srgbClr val="EBF5FB"/>
          </a:solidFill>
          <a:ln w="12700">
            <a:solidFill>
              <a:srgbClr val="B2DDE5"/>
            </a:solidFill>
            <a:prstDash val="solid"/>
          </a:ln>
        </p:spPr>
      </p:sp>
      <p:sp>
        <p:nvSpPr>
          <p:cNvPr id="30" name="Text 25"/>
          <p:cNvSpPr/>
          <p:nvPr/>
        </p:nvSpPr>
        <p:spPr>
          <a:xfrm>
            <a:off x="438912" y="3822192"/>
            <a:ext cx="1783080" cy="502920"/>
          </a:xfrm>
          <a:prstGeom prst="rect">
            <a:avLst/>
          </a:prstGeom>
          <a:noFill/>
          <a:ln/>
        </p:spPr>
        <p:txBody>
          <a:bodyPr wrap="square" lIns="0" tIns="0" rIns="0" bIns="0" rtlCol="0" anchor="ctr"/>
          <a:lstStyle/>
          <a:p>
            <a:pPr algn="ctr" indent="0" marL="0">
              <a:buNone/>
            </a:pPr>
            <a:r>
              <a:rPr lang="en-US" sz="1200" dirty="0">
                <a:solidFill>
                  <a:srgbClr val="1A2E35"/>
                </a:solidFill>
                <a:latin typeface="Calibri" pitchFamily="34" charset="0"/>
                <a:ea typeface="Calibri" pitchFamily="34" charset="-122"/>
                <a:cs typeface="Calibri" pitchFamily="34" charset="-120"/>
              </a:rPr>
              <a:t>📘 English Explanation</a:t>
            </a:r>
            <a:endParaRPr lang="en-US" sz="1200" dirty="0"/>
          </a:p>
        </p:txBody>
      </p:sp>
      <p:sp>
        <p:nvSpPr>
          <p:cNvPr id="31" name="Shape 26"/>
          <p:cNvSpPr/>
          <p:nvPr/>
        </p:nvSpPr>
        <p:spPr>
          <a:xfrm>
            <a:off x="2514600" y="3794760"/>
            <a:ext cx="1920240" cy="566928"/>
          </a:xfrm>
          <a:prstGeom prst="rect">
            <a:avLst/>
          </a:prstGeom>
          <a:solidFill>
            <a:srgbClr val="E8F8F5"/>
          </a:solidFill>
          <a:ln w="12700">
            <a:solidFill>
              <a:srgbClr val="B2DDE5"/>
            </a:solidFill>
            <a:prstDash val="solid"/>
          </a:ln>
        </p:spPr>
      </p:sp>
      <p:sp>
        <p:nvSpPr>
          <p:cNvPr id="32" name="Text 27"/>
          <p:cNvSpPr/>
          <p:nvPr/>
        </p:nvSpPr>
        <p:spPr>
          <a:xfrm>
            <a:off x="2587752" y="3822192"/>
            <a:ext cx="1783080" cy="502920"/>
          </a:xfrm>
          <a:prstGeom prst="rect">
            <a:avLst/>
          </a:prstGeom>
          <a:noFill/>
          <a:ln/>
        </p:spPr>
        <p:txBody>
          <a:bodyPr wrap="square" lIns="0" tIns="0" rIns="0" bIns="0" rtlCol="0" anchor="ctr"/>
          <a:lstStyle/>
          <a:p>
            <a:pPr algn="ctr" indent="0" marL="0">
              <a:buNone/>
            </a:pPr>
            <a:r>
              <a:rPr lang="en-US" sz="1200" dirty="0">
                <a:solidFill>
                  <a:srgbClr val="1A2E35"/>
                </a:solidFill>
                <a:latin typeface="Calibri" pitchFamily="34" charset="0"/>
                <a:ea typeface="Calibri" pitchFamily="34" charset="-122"/>
                <a:cs typeface="Calibri" pitchFamily="34" charset="-120"/>
              </a:rPr>
              <a:t>🔤 ಕನ್ನಡ Explanation</a:t>
            </a:r>
            <a:endParaRPr lang="en-US" sz="1200" dirty="0"/>
          </a:p>
        </p:txBody>
      </p:sp>
      <p:sp>
        <p:nvSpPr>
          <p:cNvPr id="33" name="Shape 28"/>
          <p:cNvSpPr/>
          <p:nvPr/>
        </p:nvSpPr>
        <p:spPr>
          <a:xfrm>
            <a:off x="4663440" y="3794760"/>
            <a:ext cx="1920240" cy="566928"/>
          </a:xfrm>
          <a:prstGeom prst="rect">
            <a:avLst/>
          </a:prstGeom>
          <a:solidFill>
            <a:srgbClr val="FEF9E7"/>
          </a:solidFill>
          <a:ln w="12700">
            <a:solidFill>
              <a:srgbClr val="B2DDE5"/>
            </a:solidFill>
            <a:prstDash val="solid"/>
          </a:ln>
        </p:spPr>
      </p:sp>
      <p:sp>
        <p:nvSpPr>
          <p:cNvPr id="34" name="Text 29"/>
          <p:cNvSpPr/>
          <p:nvPr/>
        </p:nvSpPr>
        <p:spPr>
          <a:xfrm>
            <a:off x="4736592" y="3822192"/>
            <a:ext cx="1783080" cy="502920"/>
          </a:xfrm>
          <a:prstGeom prst="rect">
            <a:avLst/>
          </a:prstGeom>
          <a:noFill/>
          <a:ln/>
        </p:spPr>
        <p:txBody>
          <a:bodyPr wrap="square" lIns="0" tIns="0" rIns="0" bIns="0" rtlCol="0" anchor="ctr"/>
          <a:lstStyle/>
          <a:p>
            <a:pPr algn="ctr" indent="0" marL="0">
              <a:buNone/>
            </a:pPr>
            <a:r>
              <a:rPr lang="en-US" sz="1200" dirty="0">
                <a:solidFill>
                  <a:srgbClr val="1A2E35"/>
                </a:solidFill>
                <a:latin typeface="Calibri" pitchFamily="34" charset="0"/>
                <a:ea typeface="Calibri" pitchFamily="34" charset="-122"/>
                <a:cs typeface="Calibri" pitchFamily="34" charset="-120"/>
              </a:rPr>
              <a:t>🌾 Village Analogy</a:t>
            </a:r>
            <a:endParaRPr lang="en-US" sz="1200" dirty="0"/>
          </a:p>
        </p:txBody>
      </p:sp>
      <p:sp>
        <p:nvSpPr>
          <p:cNvPr id="35" name="Shape 30"/>
          <p:cNvSpPr/>
          <p:nvPr/>
        </p:nvSpPr>
        <p:spPr>
          <a:xfrm>
            <a:off x="6812280" y="3794760"/>
            <a:ext cx="1920240" cy="566928"/>
          </a:xfrm>
          <a:prstGeom prst="rect">
            <a:avLst/>
          </a:prstGeom>
          <a:solidFill>
            <a:srgbClr val="F5EEF8"/>
          </a:solidFill>
          <a:ln w="12700">
            <a:solidFill>
              <a:srgbClr val="B2DDE5"/>
            </a:solidFill>
            <a:prstDash val="solid"/>
          </a:ln>
        </p:spPr>
      </p:sp>
      <p:sp>
        <p:nvSpPr>
          <p:cNvPr id="36" name="Text 31"/>
          <p:cNvSpPr/>
          <p:nvPr/>
        </p:nvSpPr>
        <p:spPr>
          <a:xfrm>
            <a:off x="6885432" y="3822192"/>
            <a:ext cx="1783080" cy="502920"/>
          </a:xfrm>
          <a:prstGeom prst="rect">
            <a:avLst/>
          </a:prstGeom>
          <a:noFill/>
          <a:ln/>
        </p:spPr>
        <p:txBody>
          <a:bodyPr wrap="square" lIns="0" tIns="0" rIns="0" bIns="0" rtlCol="0" anchor="ctr"/>
          <a:lstStyle/>
          <a:p>
            <a:pPr algn="ctr" indent="0" marL="0">
              <a:buNone/>
            </a:pPr>
            <a:r>
              <a:rPr lang="en-US" sz="1200" dirty="0">
                <a:solidFill>
                  <a:srgbClr val="1A2E35"/>
                </a:solidFill>
                <a:latin typeface="Calibri" pitchFamily="34" charset="0"/>
                <a:ea typeface="Calibri" pitchFamily="34" charset="-122"/>
                <a:cs typeface="Calibri" pitchFamily="34" charset="-120"/>
              </a:rPr>
              <a:t>🔊 Audio Playback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594360"/>
          </a:xfrm>
          <a:prstGeom prst="rect">
            <a:avLst/>
          </a:prstGeom>
          <a:noFill/>
          <a:ln/>
        </p:spPr>
        <p:txBody>
          <a:bodyPr wrap="square" lIns="0" tIns="0" rIns="0" bIns="0" rtlCol="0" anchor="ctr"/>
          <a:lstStyle/>
          <a:p>
            <a:pPr algn="l" indent="0" marL="0">
              <a:buNone/>
            </a:pPr>
            <a:r>
              <a:rPr lang="en-US" sz="3200" b="1" dirty="0">
                <a:solidFill>
                  <a:srgbClr val="028090"/>
                </a:solidFill>
                <a:latin typeface="Calibri" pitchFamily="34" charset="0"/>
                <a:ea typeface="Calibri" pitchFamily="34" charset="-122"/>
                <a:cs typeface="Calibri" pitchFamily="34" charset="-120"/>
              </a:rPr>
              <a:t>System Architecture</a:t>
            </a:r>
            <a:endParaRPr lang="en-US" sz="3200" dirty="0"/>
          </a:p>
        </p:txBody>
      </p:sp>
      <p:sp>
        <p:nvSpPr>
          <p:cNvPr id="3" name="Shape 1"/>
          <p:cNvSpPr/>
          <p:nvPr/>
        </p:nvSpPr>
        <p:spPr>
          <a:xfrm>
            <a:off x="365760" y="822960"/>
            <a:ext cx="8412480" cy="27432"/>
          </a:xfrm>
          <a:prstGeom prst="rect">
            <a:avLst/>
          </a:prstGeom>
          <a:solidFill>
            <a:srgbClr val="028090">
              <a:alpha val="50000"/>
            </a:srgbClr>
          </a:solidFill>
          <a:ln w="12700">
            <a:solidFill>
              <a:srgbClr val="028090">
                <a:alpha val="50000"/>
              </a:srgbClr>
            </a:solidFill>
            <a:prstDash val="solid"/>
          </a:ln>
        </p:spPr>
      </p:sp>
      <p:pic>
        <p:nvPicPr>
          <p:cNvPr id="4" name="Image 0" descr="/home/claude/architecture.png">    </p:cNvPr>
          <p:cNvPicPr>
            <a:picLocks noChangeAspect="1"/>
          </p:cNvPicPr>
          <p:nvPr/>
        </p:nvPicPr>
        <p:blipFill>
          <a:blip r:embed="rId1"/>
          <a:srcRect l="0" r="0" t="0" b="0"/>
          <a:stretch/>
        </p:blipFill>
        <p:spPr>
          <a:xfrm>
            <a:off x="274320" y="960120"/>
            <a:ext cx="8595360" cy="3931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594360"/>
          </a:xfrm>
          <a:prstGeom prst="rect">
            <a:avLst/>
          </a:prstGeom>
          <a:noFill/>
          <a:ln/>
        </p:spPr>
        <p:txBody>
          <a:bodyPr wrap="square" lIns="0" tIns="0" rIns="0" bIns="0" rtlCol="0" anchor="ctr"/>
          <a:lstStyle/>
          <a:p>
            <a:pPr algn="l" indent="0" marL="0">
              <a:buNone/>
            </a:pPr>
            <a:r>
              <a:rPr lang="en-US" sz="3200" b="1" dirty="0">
                <a:solidFill>
                  <a:srgbClr val="028090"/>
                </a:solidFill>
                <a:latin typeface="Calibri" pitchFamily="34" charset="0"/>
                <a:ea typeface="Calibri" pitchFamily="34" charset="-122"/>
                <a:cs typeface="Calibri" pitchFamily="34" charset="-120"/>
              </a:rPr>
              <a:t>Technology Stack</a:t>
            </a:r>
            <a:endParaRPr lang="en-US" sz="3200" dirty="0"/>
          </a:p>
        </p:txBody>
      </p:sp>
      <p:sp>
        <p:nvSpPr>
          <p:cNvPr id="3" name="Shape 1"/>
          <p:cNvSpPr/>
          <p:nvPr/>
        </p:nvSpPr>
        <p:spPr>
          <a:xfrm>
            <a:off x="365760" y="822960"/>
            <a:ext cx="8412480" cy="27432"/>
          </a:xfrm>
          <a:prstGeom prst="rect">
            <a:avLst/>
          </a:prstGeom>
          <a:solidFill>
            <a:srgbClr val="028090">
              <a:alpha val="50000"/>
            </a:srgbClr>
          </a:solidFill>
          <a:ln w="12700">
            <a:solidFill>
              <a:srgbClr val="028090">
                <a:alpha val="50000"/>
              </a:srgbClr>
            </a:solidFill>
            <a:prstDash val="solid"/>
          </a:ln>
        </p:spPr>
      </p:sp>
      <p:sp>
        <p:nvSpPr>
          <p:cNvPr id="4" name="Shape 2"/>
          <p:cNvSpPr/>
          <p:nvPr/>
        </p:nvSpPr>
        <p:spPr>
          <a:xfrm>
            <a:off x="365760" y="960120"/>
            <a:ext cx="8412480" cy="411480"/>
          </a:xfrm>
          <a:prstGeom prst="rect">
            <a:avLst/>
          </a:prstGeom>
          <a:solidFill>
            <a:srgbClr val="028090"/>
          </a:solidFill>
          <a:ln w="12700">
            <a:solidFill>
              <a:srgbClr val="028090"/>
            </a:solidFill>
            <a:prstDash val="solid"/>
          </a:ln>
        </p:spPr>
      </p:sp>
      <p:sp>
        <p:nvSpPr>
          <p:cNvPr id="5" name="Text 3"/>
          <p:cNvSpPr/>
          <p:nvPr/>
        </p:nvSpPr>
        <p:spPr>
          <a:xfrm>
            <a:off x="502920" y="978408"/>
            <a:ext cx="21031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Technology</a:t>
            </a:r>
            <a:endParaRPr lang="en-US" sz="1400" dirty="0"/>
          </a:p>
        </p:txBody>
      </p:sp>
      <p:sp>
        <p:nvSpPr>
          <p:cNvPr id="6" name="Text 4"/>
          <p:cNvSpPr/>
          <p:nvPr/>
        </p:nvSpPr>
        <p:spPr>
          <a:xfrm>
            <a:off x="2743200" y="978408"/>
            <a:ext cx="585216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Purpose</a:t>
            </a:r>
            <a:endParaRPr lang="en-US" sz="1400" dirty="0"/>
          </a:p>
        </p:txBody>
      </p:sp>
      <p:sp>
        <p:nvSpPr>
          <p:cNvPr id="7" name="Shape 5"/>
          <p:cNvSpPr/>
          <p:nvPr/>
        </p:nvSpPr>
        <p:spPr>
          <a:xfrm>
            <a:off x="365760" y="1371600"/>
            <a:ext cx="8412480" cy="566928"/>
          </a:xfrm>
          <a:prstGeom prst="rect">
            <a:avLst/>
          </a:prstGeom>
          <a:solidFill>
            <a:srgbClr val="F7FAFB"/>
          </a:solidFill>
          <a:ln w="6350">
            <a:solidFill>
              <a:srgbClr val="B2DDE5"/>
            </a:solidFill>
            <a:prstDash val="solid"/>
          </a:ln>
        </p:spPr>
      </p:sp>
      <p:pic>
        <p:nvPicPr>
          <p:cNvPr id="8" name="Image 0" descr="preencoded.png">    </p:cNvPr>
          <p:cNvPicPr>
            <a:picLocks noChangeAspect="1"/>
          </p:cNvPicPr>
          <p:nvPr/>
        </p:nvPicPr>
        <p:blipFill>
          <a:blip r:embed="rId1"/>
          <a:stretch>
            <a:fillRect/>
          </a:stretch>
        </p:blipFill>
        <p:spPr>
          <a:xfrm>
            <a:off x="502920" y="1463040"/>
            <a:ext cx="347472" cy="347472"/>
          </a:xfrm>
          <a:prstGeom prst="rect">
            <a:avLst/>
          </a:prstGeom>
        </p:spPr>
      </p:pic>
      <p:sp>
        <p:nvSpPr>
          <p:cNvPr id="9" name="Text 6"/>
          <p:cNvSpPr/>
          <p:nvPr/>
        </p:nvSpPr>
        <p:spPr>
          <a:xfrm>
            <a:off x="960120" y="1371600"/>
            <a:ext cx="1737360" cy="566928"/>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Python</a:t>
            </a:r>
            <a:endParaRPr lang="en-US" sz="1300" dirty="0"/>
          </a:p>
        </p:txBody>
      </p:sp>
      <p:sp>
        <p:nvSpPr>
          <p:cNvPr id="10" name="Shape 7"/>
          <p:cNvSpPr/>
          <p:nvPr/>
        </p:nvSpPr>
        <p:spPr>
          <a:xfrm>
            <a:off x="2606040" y="1536192"/>
            <a:ext cx="27432" cy="237744"/>
          </a:xfrm>
          <a:prstGeom prst="rect">
            <a:avLst/>
          </a:prstGeom>
          <a:solidFill>
            <a:srgbClr val="B2DDE5"/>
          </a:solidFill>
          <a:ln w="12700">
            <a:solidFill>
              <a:srgbClr val="B2DDE5"/>
            </a:solidFill>
            <a:prstDash val="solid"/>
          </a:ln>
        </p:spPr>
      </p:sp>
      <p:sp>
        <p:nvSpPr>
          <p:cNvPr id="11" name="Text 8"/>
          <p:cNvSpPr/>
          <p:nvPr/>
        </p:nvSpPr>
        <p:spPr>
          <a:xfrm>
            <a:off x="2743200" y="1371600"/>
            <a:ext cx="5852160" cy="566928"/>
          </a:xfrm>
          <a:prstGeom prst="rect">
            <a:avLst/>
          </a:prstGeom>
          <a:noFill/>
          <a:ln/>
        </p:spPr>
        <p:txBody>
          <a:bodyPr wrap="square" lIns="0" tIns="0" rIns="0" bIns="0" rtlCol="0" anchor="ctr"/>
          <a:lstStyle/>
          <a:p>
            <a:pPr indent="0" marL="0">
              <a:buNone/>
            </a:pPr>
            <a:r>
              <a:rPr lang="en-US" sz="1200" dirty="0">
                <a:solidFill>
                  <a:srgbClr val="3D5A60"/>
                </a:solidFill>
                <a:latin typeface="Calibri" pitchFamily="34" charset="0"/>
                <a:ea typeface="Calibri" pitchFamily="34" charset="-122"/>
                <a:cs typeface="Calibri" pitchFamily="34" charset="-120"/>
              </a:rPr>
              <a:t>Core backend logic, API integration, JSON parsing and application orchestration</a:t>
            </a:r>
            <a:endParaRPr lang="en-US" sz="1200" dirty="0"/>
          </a:p>
        </p:txBody>
      </p:sp>
      <p:sp>
        <p:nvSpPr>
          <p:cNvPr id="12" name="Shape 9"/>
          <p:cNvSpPr/>
          <p:nvPr/>
        </p:nvSpPr>
        <p:spPr>
          <a:xfrm>
            <a:off x="365760" y="1965960"/>
            <a:ext cx="8412480" cy="566928"/>
          </a:xfrm>
          <a:prstGeom prst="rect">
            <a:avLst/>
          </a:prstGeom>
          <a:solidFill>
            <a:srgbClr val="FFFFFF"/>
          </a:solidFill>
          <a:ln w="6350">
            <a:solidFill>
              <a:srgbClr val="B2DDE5"/>
            </a:solidFill>
            <a:prstDash val="solid"/>
          </a:ln>
        </p:spPr>
      </p:sp>
      <p:pic>
        <p:nvPicPr>
          <p:cNvPr id="13" name="Image 1" descr="preencoded.png">    </p:cNvPr>
          <p:cNvPicPr>
            <a:picLocks noChangeAspect="1"/>
          </p:cNvPicPr>
          <p:nvPr/>
        </p:nvPicPr>
        <p:blipFill>
          <a:blip r:embed="rId2"/>
          <a:stretch>
            <a:fillRect/>
          </a:stretch>
        </p:blipFill>
        <p:spPr>
          <a:xfrm>
            <a:off x="502920" y="2057400"/>
            <a:ext cx="347472" cy="347472"/>
          </a:xfrm>
          <a:prstGeom prst="rect">
            <a:avLst/>
          </a:prstGeom>
        </p:spPr>
      </p:pic>
      <p:sp>
        <p:nvSpPr>
          <p:cNvPr id="14" name="Text 10"/>
          <p:cNvSpPr/>
          <p:nvPr/>
        </p:nvSpPr>
        <p:spPr>
          <a:xfrm>
            <a:off x="960120" y="1965960"/>
            <a:ext cx="1737360" cy="566928"/>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Streamlit</a:t>
            </a:r>
            <a:endParaRPr lang="en-US" sz="1300" dirty="0"/>
          </a:p>
        </p:txBody>
      </p:sp>
      <p:sp>
        <p:nvSpPr>
          <p:cNvPr id="15" name="Shape 11"/>
          <p:cNvSpPr/>
          <p:nvPr/>
        </p:nvSpPr>
        <p:spPr>
          <a:xfrm>
            <a:off x="2606040" y="2130552"/>
            <a:ext cx="27432" cy="237744"/>
          </a:xfrm>
          <a:prstGeom prst="rect">
            <a:avLst/>
          </a:prstGeom>
          <a:solidFill>
            <a:srgbClr val="B2DDE5"/>
          </a:solidFill>
          <a:ln w="12700">
            <a:solidFill>
              <a:srgbClr val="B2DDE5"/>
            </a:solidFill>
            <a:prstDash val="solid"/>
          </a:ln>
        </p:spPr>
      </p:sp>
      <p:sp>
        <p:nvSpPr>
          <p:cNvPr id="16" name="Text 12"/>
          <p:cNvSpPr/>
          <p:nvPr/>
        </p:nvSpPr>
        <p:spPr>
          <a:xfrm>
            <a:off x="2743200" y="1965960"/>
            <a:ext cx="5852160" cy="566928"/>
          </a:xfrm>
          <a:prstGeom prst="rect">
            <a:avLst/>
          </a:prstGeom>
          <a:noFill/>
          <a:ln/>
        </p:spPr>
        <p:txBody>
          <a:bodyPr wrap="square" lIns="0" tIns="0" rIns="0" bIns="0" rtlCol="0" anchor="ctr"/>
          <a:lstStyle/>
          <a:p>
            <a:pPr indent="0" marL="0">
              <a:buNone/>
            </a:pPr>
            <a:r>
              <a:rPr lang="en-US" sz="1200" dirty="0">
                <a:solidFill>
                  <a:srgbClr val="3D5A60"/>
                </a:solidFill>
                <a:latin typeface="Calibri" pitchFamily="34" charset="0"/>
                <a:ea typeface="Calibri" pitchFamily="34" charset="-122"/>
                <a:cs typeface="Calibri" pitchFamily="34" charset="-120"/>
              </a:rPr>
              <a:t>Rapid, interactive web interface with sidebar navigation and real-time UI components</a:t>
            </a:r>
            <a:endParaRPr lang="en-US" sz="1200" dirty="0"/>
          </a:p>
        </p:txBody>
      </p:sp>
      <p:sp>
        <p:nvSpPr>
          <p:cNvPr id="17" name="Shape 13"/>
          <p:cNvSpPr/>
          <p:nvPr/>
        </p:nvSpPr>
        <p:spPr>
          <a:xfrm>
            <a:off x="365760" y="2560320"/>
            <a:ext cx="8412480" cy="566928"/>
          </a:xfrm>
          <a:prstGeom prst="rect">
            <a:avLst/>
          </a:prstGeom>
          <a:solidFill>
            <a:srgbClr val="F7FAFB"/>
          </a:solidFill>
          <a:ln w="6350">
            <a:solidFill>
              <a:srgbClr val="B2DDE5"/>
            </a:solidFill>
            <a:prstDash val="solid"/>
          </a:ln>
        </p:spPr>
      </p:sp>
      <p:pic>
        <p:nvPicPr>
          <p:cNvPr id="18" name="Image 2" descr="preencoded.png">    </p:cNvPr>
          <p:cNvPicPr>
            <a:picLocks noChangeAspect="1"/>
          </p:cNvPicPr>
          <p:nvPr/>
        </p:nvPicPr>
        <p:blipFill>
          <a:blip r:embed="rId3"/>
          <a:stretch>
            <a:fillRect/>
          </a:stretch>
        </p:blipFill>
        <p:spPr>
          <a:xfrm>
            <a:off x="502920" y="2651760"/>
            <a:ext cx="347472" cy="347472"/>
          </a:xfrm>
          <a:prstGeom prst="rect">
            <a:avLst/>
          </a:prstGeom>
        </p:spPr>
      </p:pic>
      <p:sp>
        <p:nvSpPr>
          <p:cNvPr id="19" name="Text 14"/>
          <p:cNvSpPr/>
          <p:nvPr/>
        </p:nvSpPr>
        <p:spPr>
          <a:xfrm>
            <a:off x="960120" y="2560320"/>
            <a:ext cx="1737360" cy="566928"/>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Gemini 2.5 Flash API</a:t>
            </a:r>
            <a:endParaRPr lang="en-US" sz="1300" dirty="0"/>
          </a:p>
        </p:txBody>
      </p:sp>
      <p:sp>
        <p:nvSpPr>
          <p:cNvPr id="20" name="Shape 15"/>
          <p:cNvSpPr/>
          <p:nvPr/>
        </p:nvSpPr>
        <p:spPr>
          <a:xfrm>
            <a:off x="2606040" y="2724912"/>
            <a:ext cx="27432" cy="237744"/>
          </a:xfrm>
          <a:prstGeom prst="rect">
            <a:avLst/>
          </a:prstGeom>
          <a:solidFill>
            <a:srgbClr val="B2DDE5"/>
          </a:solidFill>
          <a:ln w="12700">
            <a:solidFill>
              <a:srgbClr val="B2DDE5"/>
            </a:solidFill>
            <a:prstDash val="solid"/>
          </a:ln>
        </p:spPr>
      </p:sp>
      <p:sp>
        <p:nvSpPr>
          <p:cNvPr id="21" name="Text 16"/>
          <p:cNvSpPr/>
          <p:nvPr/>
        </p:nvSpPr>
        <p:spPr>
          <a:xfrm>
            <a:off x="2743200" y="2560320"/>
            <a:ext cx="5852160" cy="566928"/>
          </a:xfrm>
          <a:prstGeom prst="rect">
            <a:avLst/>
          </a:prstGeom>
          <a:noFill/>
          <a:ln/>
        </p:spPr>
        <p:txBody>
          <a:bodyPr wrap="square" lIns="0" tIns="0" rIns="0" bIns="0" rtlCol="0" anchor="ctr"/>
          <a:lstStyle/>
          <a:p>
            <a:pPr indent="0" marL="0">
              <a:buNone/>
            </a:pPr>
            <a:r>
              <a:rPr lang="en-US" sz="1200" dirty="0">
                <a:solidFill>
                  <a:srgbClr val="3D5A60"/>
                </a:solidFill>
                <a:latin typeface="Calibri" pitchFamily="34" charset="0"/>
                <a:ea typeface="Calibri" pitchFamily="34" charset="-122"/>
                <a:cs typeface="Calibri" pitchFamily="34" charset="-120"/>
              </a:rPr>
              <a:t>State-of-the-art generative AI for multilingual STEM content and analogy creation</a:t>
            </a:r>
            <a:endParaRPr lang="en-US" sz="1200" dirty="0"/>
          </a:p>
        </p:txBody>
      </p:sp>
      <p:sp>
        <p:nvSpPr>
          <p:cNvPr id="22" name="Shape 17"/>
          <p:cNvSpPr/>
          <p:nvPr/>
        </p:nvSpPr>
        <p:spPr>
          <a:xfrm>
            <a:off x="365760" y="3154680"/>
            <a:ext cx="8412480" cy="566928"/>
          </a:xfrm>
          <a:prstGeom prst="rect">
            <a:avLst/>
          </a:prstGeom>
          <a:solidFill>
            <a:srgbClr val="FFFFFF"/>
          </a:solidFill>
          <a:ln w="6350">
            <a:solidFill>
              <a:srgbClr val="B2DDE5"/>
            </a:solidFill>
            <a:prstDash val="solid"/>
          </a:ln>
        </p:spPr>
      </p:sp>
      <p:pic>
        <p:nvPicPr>
          <p:cNvPr id="23" name="Image 3" descr="preencoded.png">    </p:cNvPr>
          <p:cNvPicPr>
            <a:picLocks noChangeAspect="1"/>
          </p:cNvPicPr>
          <p:nvPr/>
        </p:nvPicPr>
        <p:blipFill>
          <a:blip r:embed="rId4"/>
          <a:stretch>
            <a:fillRect/>
          </a:stretch>
        </p:blipFill>
        <p:spPr>
          <a:xfrm>
            <a:off x="502920" y="3246120"/>
            <a:ext cx="347472" cy="347472"/>
          </a:xfrm>
          <a:prstGeom prst="rect">
            <a:avLst/>
          </a:prstGeom>
        </p:spPr>
      </p:pic>
      <p:sp>
        <p:nvSpPr>
          <p:cNvPr id="24" name="Text 18"/>
          <p:cNvSpPr/>
          <p:nvPr/>
        </p:nvSpPr>
        <p:spPr>
          <a:xfrm>
            <a:off x="960120" y="3154680"/>
            <a:ext cx="1737360" cy="566928"/>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gTTS (Google TTS)</a:t>
            </a:r>
            <a:endParaRPr lang="en-US" sz="1300" dirty="0"/>
          </a:p>
        </p:txBody>
      </p:sp>
      <p:sp>
        <p:nvSpPr>
          <p:cNvPr id="25" name="Shape 19"/>
          <p:cNvSpPr/>
          <p:nvPr/>
        </p:nvSpPr>
        <p:spPr>
          <a:xfrm>
            <a:off x="2606040" y="3319272"/>
            <a:ext cx="27432" cy="237744"/>
          </a:xfrm>
          <a:prstGeom prst="rect">
            <a:avLst/>
          </a:prstGeom>
          <a:solidFill>
            <a:srgbClr val="B2DDE5"/>
          </a:solidFill>
          <a:ln w="12700">
            <a:solidFill>
              <a:srgbClr val="B2DDE5"/>
            </a:solidFill>
            <a:prstDash val="solid"/>
          </a:ln>
        </p:spPr>
      </p:sp>
      <p:sp>
        <p:nvSpPr>
          <p:cNvPr id="26" name="Text 20"/>
          <p:cNvSpPr/>
          <p:nvPr/>
        </p:nvSpPr>
        <p:spPr>
          <a:xfrm>
            <a:off x="2743200" y="3154680"/>
            <a:ext cx="5852160" cy="566928"/>
          </a:xfrm>
          <a:prstGeom prst="rect">
            <a:avLst/>
          </a:prstGeom>
          <a:noFill/>
          <a:ln/>
        </p:spPr>
        <p:txBody>
          <a:bodyPr wrap="square" lIns="0" tIns="0" rIns="0" bIns="0" rtlCol="0" anchor="ctr"/>
          <a:lstStyle/>
          <a:p>
            <a:pPr indent="0" marL="0">
              <a:buNone/>
            </a:pPr>
            <a:r>
              <a:rPr lang="en-US" sz="1200" dirty="0">
                <a:solidFill>
                  <a:srgbClr val="3D5A60"/>
                </a:solidFill>
                <a:latin typeface="Calibri" pitchFamily="34" charset="0"/>
                <a:ea typeface="Calibri" pitchFamily="34" charset="-122"/>
                <a:cs typeface="Calibri" pitchFamily="34" charset="-120"/>
              </a:rPr>
              <a:t>Text-to-Speech conversion for English and Kannada audio output with playback support</a:t>
            </a:r>
            <a:endParaRPr lang="en-US" sz="1200" dirty="0"/>
          </a:p>
        </p:txBody>
      </p:sp>
      <p:sp>
        <p:nvSpPr>
          <p:cNvPr id="27" name="Shape 21"/>
          <p:cNvSpPr/>
          <p:nvPr/>
        </p:nvSpPr>
        <p:spPr>
          <a:xfrm>
            <a:off x="365760" y="3749040"/>
            <a:ext cx="8412480" cy="566928"/>
          </a:xfrm>
          <a:prstGeom prst="rect">
            <a:avLst/>
          </a:prstGeom>
          <a:solidFill>
            <a:srgbClr val="F7FAFB"/>
          </a:solidFill>
          <a:ln w="6350">
            <a:solidFill>
              <a:srgbClr val="B2DDE5"/>
            </a:solidFill>
            <a:prstDash val="solid"/>
          </a:ln>
        </p:spPr>
      </p:sp>
      <p:pic>
        <p:nvPicPr>
          <p:cNvPr id="28" name="Image 4" descr="preencoded.png">    </p:cNvPr>
          <p:cNvPicPr>
            <a:picLocks noChangeAspect="1"/>
          </p:cNvPicPr>
          <p:nvPr/>
        </p:nvPicPr>
        <p:blipFill>
          <a:blip r:embed="rId5"/>
          <a:stretch>
            <a:fillRect/>
          </a:stretch>
        </p:blipFill>
        <p:spPr>
          <a:xfrm>
            <a:off x="502920" y="3840480"/>
            <a:ext cx="347472" cy="347472"/>
          </a:xfrm>
          <a:prstGeom prst="rect">
            <a:avLst/>
          </a:prstGeom>
        </p:spPr>
      </p:pic>
      <p:sp>
        <p:nvSpPr>
          <p:cNvPr id="29" name="Text 22"/>
          <p:cNvSpPr/>
          <p:nvPr/>
        </p:nvSpPr>
        <p:spPr>
          <a:xfrm>
            <a:off x="960120" y="3749040"/>
            <a:ext cx="1737360" cy="566928"/>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JSON Response Parsing</a:t>
            </a:r>
            <a:endParaRPr lang="en-US" sz="1300" dirty="0"/>
          </a:p>
        </p:txBody>
      </p:sp>
      <p:sp>
        <p:nvSpPr>
          <p:cNvPr id="30" name="Shape 23"/>
          <p:cNvSpPr/>
          <p:nvPr/>
        </p:nvSpPr>
        <p:spPr>
          <a:xfrm>
            <a:off x="2606040" y="3913632"/>
            <a:ext cx="27432" cy="237744"/>
          </a:xfrm>
          <a:prstGeom prst="rect">
            <a:avLst/>
          </a:prstGeom>
          <a:solidFill>
            <a:srgbClr val="B2DDE5"/>
          </a:solidFill>
          <a:ln w="12700">
            <a:solidFill>
              <a:srgbClr val="B2DDE5"/>
            </a:solidFill>
            <a:prstDash val="solid"/>
          </a:ln>
        </p:spPr>
      </p:sp>
      <p:sp>
        <p:nvSpPr>
          <p:cNvPr id="31" name="Text 24"/>
          <p:cNvSpPr/>
          <p:nvPr/>
        </p:nvSpPr>
        <p:spPr>
          <a:xfrm>
            <a:off x="2743200" y="3749040"/>
            <a:ext cx="5852160" cy="566928"/>
          </a:xfrm>
          <a:prstGeom prst="rect">
            <a:avLst/>
          </a:prstGeom>
          <a:noFill/>
          <a:ln/>
        </p:spPr>
        <p:txBody>
          <a:bodyPr wrap="square" lIns="0" tIns="0" rIns="0" bIns="0" rtlCol="0" anchor="ctr"/>
          <a:lstStyle/>
          <a:p>
            <a:pPr indent="0" marL="0">
              <a:buNone/>
            </a:pPr>
            <a:r>
              <a:rPr lang="en-US" sz="1200" dirty="0">
                <a:solidFill>
                  <a:srgbClr val="3D5A60"/>
                </a:solidFill>
                <a:latin typeface="Calibri" pitchFamily="34" charset="0"/>
                <a:ea typeface="Calibri" pitchFamily="34" charset="-122"/>
                <a:cs typeface="Calibri" pitchFamily="34" charset="-120"/>
              </a:rPr>
              <a:t>Structured data extraction from AI responses ensuring reliable bilingual content delivery</a:t>
            </a:r>
            <a:endParaRPr lang="en-US" sz="1200" dirty="0"/>
          </a:p>
        </p:txBody>
      </p:sp>
      <p:sp>
        <p:nvSpPr>
          <p:cNvPr id="32" name="Shape 25"/>
          <p:cNvSpPr/>
          <p:nvPr/>
        </p:nvSpPr>
        <p:spPr>
          <a:xfrm>
            <a:off x="365760" y="4343400"/>
            <a:ext cx="8412480" cy="566928"/>
          </a:xfrm>
          <a:prstGeom prst="rect">
            <a:avLst/>
          </a:prstGeom>
          <a:solidFill>
            <a:srgbClr val="FFFFFF"/>
          </a:solidFill>
          <a:ln w="6350">
            <a:solidFill>
              <a:srgbClr val="B2DDE5"/>
            </a:solidFill>
            <a:prstDash val="solid"/>
          </a:ln>
        </p:spPr>
      </p:sp>
      <p:pic>
        <p:nvPicPr>
          <p:cNvPr id="33" name="Image 5" descr="preencoded.png">    </p:cNvPr>
          <p:cNvPicPr>
            <a:picLocks noChangeAspect="1"/>
          </p:cNvPicPr>
          <p:nvPr/>
        </p:nvPicPr>
        <p:blipFill>
          <a:blip r:embed="rId6"/>
          <a:stretch>
            <a:fillRect/>
          </a:stretch>
        </p:blipFill>
        <p:spPr>
          <a:xfrm>
            <a:off x="502920" y="4434840"/>
            <a:ext cx="347472" cy="347472"/>
          </a:xfrm>
          <a:prstGeom prst="rect">
            <a:avLst/>
          </a:prstGeom>
        </p:spPr>
      </p:pic>
      <p:sp>
        <p:nvSpPr>
          <p:cNvPr id="34" name="Text 26"/>
          <p:cNvSpPr/>
          <p:nvPr/>
        </p:nvSpPr>
        <p:spPr>
          <a:xfrm>
            <a:off x="960120" y="4343400"/>
            <a:ext cx="1737360" cy="566928"/>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Prompt Engineering</a:t>
            </a:r>
            <a:endParaRPr lang="en-US" sz="1300" dirty="0"/>
          </a:p>
        </p:txBody>
      </p:sp>
      <p:sp>
        <p:nvSpPr>
          <p:cNvPr id="35" name="Shape 27"/>
          <p:cNvSpPr/>
          <p:nvPr/>
        </p:nvSpPr>
        <p:spPr>
          <a:xfrm>
            <a:off x="2606040" y="4507992"/>
            <a:ext cx="27432" cy="237744"/>
          </a:xfrm>
          <a:prstGeom prst="rect">
            <a:avLst/>
          </a:prstGeom>
          <a:solidFill>
            <a:srgbClr val="B2DDE5"/>
          </a:solidFill>
          <a:ln w="12700">
            <a:solidFill>
              <a:srgbClr val="B2DDE5"/>
            </a:solidFill>
            <a:prstDash val="solid"/>
          </a:ln>
        </p:spPr>
      </p:sp>
      <p:sp>
        <p:nvSpPr>
          <p:cNvPr id="36" name="Text 28"/>
          <p:cNvSpPr/>
          <p:nvPr/>
        </p:nvSpPr>
        <p:spPr>
          <a:xfrm>
            <a:off x="2743200" y="4343400"/>
            <a:ext cx="5852160" cy="566928"/>
          </a:xfrm>
          <a:prstGeom prst="rect">
            <a:avLst/>
          </a:prstGeom>
          <a:noFill/>
          <a:ln/>
        </p:spPr>
        <p:txBody>
          <a:bodyPr wrap="square" lIns="0" tIns="0" rIns="0" bIns="0" rtlCol="0" anchor="ctr"/>
          <a:lstStyle/>
          <a:p>
            <a:pPr indent="0" marL="0">
              <a:buNone/>
            </a:pPr>
            <a:r>
              <a:rPr lang="en-US" sz="1200" dirty="0">
                <a:solidFill>
                  <a:srgbClr val="3D5A60"/>
                </a:solidFill>
                <a:latin typeface="Calibri" pitchFamily="34" charset="0"/>
                <a:ea typeface="Calibri" pitchFamily="34" charset="-122"/>
                <a:cs typeface="Calibri" pitchFamily="34" charset="-120"/>
              </a:rPr>
              <a:t>Custom instructional prompts for difficulty adaptation and localized analogy generation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594360"/>
          </a:xfrm>
          <a:prstGeom prst="rect">
            <a:avLst/>
          </a:prstGeom>
          <a:noFill/>
          <a:ln/>
        </p:spPr>
        <p:txBody>
          <a:bodyPr wrap="square" lIns="0" tIns="0" rIns="0" bIns="0" rtlCol="0" anchor="ctr"/>
          <a:lstStyle/>
          <a:p>
            <a:pPr algn="l" indent="0" marL="0">
              <a:buNone/>
            </a:pPr>
            <a:r>
              <a:rPr lang="en-US" sz="3200" b="1" dirty="0">
                <a:solidFill>
                  <a:srgbClr val="028090"/>
                </a:solidFill>
                <a:latin typeface="Calibri" pitchFamily="34" charset="0"/>
                <a:ea typeface="Calibri" pitchFamily="34" charset="-122"/>
                <a:cs typeface="Calibri" pitchFamily="34" charset="-120"/>
              </a:rPr>
              <a:t>Key Features &amp; Demo Results</a:t>
            </a:r>
            <a:endParaRPr lang="en-US" sz="3200" dirty="0"/>
          </a:p>
        </p:txBody>
      </p:sp>
      <p:sp>
        <p:nvSpPr>
          <p:cNvPr id="3" name="Shape 1"/>
          <p:cNvSpPr/>
          <p:nvPr/>
        </p:nvSpPr>
        <p:spPr>
          <a:xfrm>
            <a:off x="365760" y="822960"/>
            <a:ext cx="8412480" cy="27432"/>
          </a:xfrm>
          <a:prstGeom prst="rect">
            <a:avLst/>
          </a:prstGeom>
          <a:solidFill>
            <a:srgbClr val="028090">
              <a:alpha val="50000"/>
            </a:srgbClr>
          </a:solidFill>
          <a:ln w="12700">
            <a:solidFill>
              <a:srgbClr val="028090">
                <a:alpha val="50000"/>
              </a:srgbClr>
            </a:solidFill>
            <a:prstDash val="solid"/>
          </a:ln>
        </p:spPr>
      </p:sp>
      <p:sp>
        <p:nvSpPr>
          <p:cNvPr id="4" name="Shape 2"/>
          <p:cNvSpPr/>
          <p:nvPr/>
        </p:nvSpPr>
        <p:spPr>
          <a:xfrm>
            <a:off x="365760" y="1005840"/>
            <a:ext cx="4114800" cy="658368"/>
          </a:xfrm>
          <a:prstGeom prst="rect">
            <a:avLst/>
          </a:prstGeom>
          <a:solidFill>
            <a:srgbClr val="F7FAFB"/>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5" name="Shape 3"/>
          <p:cNvSpPr/>
          <p:nvPr/>
        </p:nvSpPr>
        <p:spPr>
          <a:xfrm>
            <a:off x="365760" y="1005840"/>
            <a:ext cx="73152" cy="658368"/>
          </a:xfrm>
          <a:prstGeom prst="rect">
            <a:avLst/>
          </a:prstGeom>
          <a:solidFill>
            <a:srgbClr val="02C39A"/>
          </a:solidFill>
          <a:ln w="12700">
            <a:solidFill>
              <a:srgbClr val="02C39A"/>
            </a:solidFill>
            <a:prstDash val="solid"/>
          </a:ln>
        </p:spPr>
      </p:sp>
      <p:pic>
        <p:nvPicPr>
          <p:cNvPr id="6" name="Image 0" descr="preencoded.png">    </p:cNvPr>
          <p:cNvPicPr>
            <a:picLocks noChangeAspect="1"/>
          </p:cNvPicPr>
          <p:nvPr/>
        </p:nvPicPr>
        <p:blipFill>
          <a:blip r:embed="rId1"/>
          <a:stretch>
            <a:fillRect/>
          </a:stretch>
        </p:blipFill>
        <p:spPr>
          <a:xfrm>
            <a:off x="548640" y="1115568"/>
            <a:ext cx="402336" cy="402336"/>
          </a:xfrm>
          <a:prstGeom prst="rect">
            <a:avLst/>
          </a:prstGeom>
        </p:spPr>
      </p:pic>
      <p:sp>
        <p:nvSpPr>
          <p:cNvPr id="7" name="Text 4"/>
          <p:cNvSpPr/>
          <p:nvPr/>
        </p:nvSpPr>
        <p:spPr>
          <a:xfrm>
            <a:off x="1051560" y="1005840"/>
            <a:ext cx="3291840" cy="658368"/>
          </a:xfrm>
          <a:prstGeom prst="rect">
            <a:avLst/>
          </a:prstGeom>
          <a:noFill/>
          <a:ln/>
        </p:spPr>
        <p:txBody>
          <a:bodyPr wrap="square" lIns="0" tIns="0" rIns="0" bIns="0" rtlCol="0" anchor="ctr"/>
          <a:lstStyle/>
          <a:p>
            <a:pPr indent="0" marL="0">
              <a:buNone/>
            </a:pPr>
            <a:r>
              <a:rPr lang="en-US" sz="1300" b="1" dirty="0">
                <a:solidFill>
                  <a:srgbClr val="1A2E35"/>
                </a:solidFill>
                <a:latin typeface="Calibri" pitchFamily="34" charset="0"/>
                <a:ea typeface="Calibri" pitchFamily="34" charset="-122"/>
                <a:cs typeface="Calibri" pitchFamily="34" charset="-120"/>
              </a:rPr>
              <a:t>English &amp; Kannada Explanations</a:t>
            </a:r>
            <a:endParaRPr lang="en-US" sz="1300" dirty="0"/>
          </a:p>
        </p:txBody>
      </p:sp>
      <p:sp>
        <p:nvSpPr>
          <p:cNvPr id="8" name="Shape 5"/>
          <p:cNvSpPr/>
          <p:nvPr/>
        </p:nvSpPr>
        <p:spPr>
          <a:xfrm>
            <a:off x="365760" y="1783080"/>
            <a:ext cx="4114800" cy="658368"/>
          </a:xfrm>
          <a:prstGeom prst="rect">
            <a:avLst/>
          </a:prstGeom>
          <a:solidFill>
            <a:srgbClr val="F7FAFB"/>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9" name="Shape 6"/>
          <p:cNvSpPr/>
          <p:nvPr/>
        </p:nvSpPr>
        <p:spPr>
          <a:xfrm>
            <a:off x="365760" y="1783080"/>
            <a:ext cx="73152" cy="658368"/>
          </a:xfrm>
          <a:prstGeom prst="rect">
            <a:avLst/>
          </a:prstGeom>
          <a:solidFill>
            <a:srgbClr val="02C39A"/>
          </a:solidFill>
          <a:ln w="12700">
            <a:solidFill>
              <a:srgbClr val="02C39A"/>
            </a:solidFill>
            <a:prstDash val="solid"/>
          </a:ln>
        </p:spPr>
      </p:sp>
      <p:pic>
        <p:nvPicPr>
          <p:cNvPr id="10" name="Image 1" descr="preencoded.png">    </p:cNvPr>
          <p:cNvPicPr>
            <a:picLocks noChangeAspect="1"/>
          </p:cNvPicPr>
          <p:nvPr/>
        </p:nvPicPr>
        <p:blipFill>
          <a:blip r:embed="rId2"/>
          <a:stretch>
            <a:fillRect/>
          </a:stretch>
        </p:blipFill>
        <p:spPr>
          <a:xfrm>
            <a:off x="548640" y="1892808"/>
            <a:ext cx="402336" cy="402336"/>
          </a:xfrm>
          <a:prstGeom prst="rect">
            <a:avLst/>
          </a:prstGeom>
        </p:spPr>
      </p:pic>
      <p:sp>
        <p:nvSpPr>
          <p:cNvPr id="11" name="Text 7"/>
          <p:cNvSpPr/>
          <p:nvPr/>
        </p:nvSpPr>
        <p:spPr>
          <a:xfrm>
            <a:off x="1051560" y="1783080"/>
            <a:ext cx="3291840" cy="658368"/>
          </a:xfrm>
          <a:prstGeom prst="rect">
            <a:avLst/>
          </a:prstGeom>
          <a:noFill/>
          <a:ln/>
        </p:spPr>
        <p:txBody>
          <a:bodyPr wrap="square" lIns="0" tIns="0" rIns="0" bIns="0" rtlCol="0" anchor="ctr"/>
          <a:lstStyle/>
          <a:p>
            <a:pPr indent="0" marL="0">
              <a:buNone/>
            </a:pPr>
            <a:r>
              <a:rPr lang="en-US" sz="1300" b="1" dirty="0">
                <a:solidFill>
                  <a:srgbClr val="1A2E35"/>
                </a:solidFill>
                <a:latin typeface="Calibri" pitchFamily="34" charset="0"/>
                <a:ea typeface="Calibri" pitchFamily="34" charset="-122"/>
                <a:cs typeface="Calibri" pitchFamily="34" charset="-120"/>
              </a:rPr>
              <a:t>Difficulty Adaptation (3 Levels)</a:t>
            </a:r>
            <a:endParaRPr lang="en-US" sz="1300" dirty="0"/>
          </a:p>
        </p:txBody>
      </p:sp>
      <p:sp>
        <p:nvSpPr>
          <p:cNvPr id="12" name="Shape 8"/>
          <p:cNvSpPr/>
          <p:nvPr/>
        </p:nvSpPr>
        <p:spPr>
          <a:xfrm>
            <a:off x="365760" y="2560320"/>
            <a:ext cx="4114800" cy="658368"/>
          </a:xfrm>
          <a:prstGeom prst="rect">
            <a:avLst/>
          </a:prstGeom>
          <a:solidFill>
            <a:srgbClr val="F7FAFB"/>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13" name="Shape 9"/>
          <p:cNvSpPr/>
          <p:nvPr/>
        </p:nvSpPr>
        <p:spPr>
          <a:xfrm>
            <a:off x="365760" y="2560320"/>
            <a:ext cx="73152" cy="658368"/>
          </a:xfrm>
          <a:prstGeom prst="rect">
            <a:avLst/>
          </a:prstGeom>
          <a:solidFill>
            <a:srgbClr val="02C39A"/>
          </a:solidFill>
          <a:ln w="12700">
            <a:solidFill>
              <a:srgbClr val="02C39A"/>
            </a:solidFill>
            <a:prstDash val="solid"/>
          </a:ln>
        </p:spPr>
      </p:sp>
      <p:pic>
        <p:nvPicPr>
          <p:cNvPr id="14" name="Image 2" descr="preencoded.png">    </p:cNvPr>
          <p:cNvPicPr>
            <a:picLocks noChangeAspect="1"/>
          </p:cNvPicPr>
          <p:nvPr/>
        </p:nvPicPr>
        <p:blipFill>
          <a:blip r:embed="rId3"/>
          <a:stretch>
            <a:fillRect/>
          </a:stretch>
        </p:blipFill>
        <p:spPr>
          <a:xfrm>
            <a:off x="548640" y="2670048"/>
            <a:ext cx="402336" cy="402336"/>
          </a:xfrm>
          <a:prstGeom prst="rect">
            <a:avLst/>
          </a:prstGeom>
        </p:spPr>
      </p:pic>
      <p:sp>
        <p:nvSpPr>
          <p:cNvPr id="15" name="Text 10"/>
          <p:cNvSpPr/>
          <p:nvPr/>
        </p:nvSpPr>
        <p:spPr>
          <a:xfrm>
            <a:off x="1051560" y="2560320"/>
            <a:ext cx="3291840" cy="658368"/>
          </a:xfrm>
          <a:prstGeom prst="rect">
            <a:avLst/>
          </a:prstGeom>
          <a:noFill/>
          <a:ln/>
        </p:spPr>
        <p:txBody>
          <a:bodyPr wrap="square" lIns="0" tIns="0" rIns="0" bIns="0" rtlCol="0" anchor="ctr"/>
          <a:lstStyle/>
          <a:p>
            <a:pPr indent="0" marL="0">
              <a:buNone/>
            </a:pPr>
            <a:r>
              <a:rPr lang="en-US" sz="1300" b="1" dirty="0">
                <a:solidFill>
                  <a:srgbClr val="1A2E35"/>
                </a:solidFill>
                <a:latin typeface="Calibri" pitchFamily="34" charset="0"/>
                <a:ea typeface="Calibri" pitchFamily="34" charset="-122"/>
                <a:cs typeface="Calibri" pitchFamily="34" charset="-120"/>
              </a:rPr>
              <a:t>Audio Playback (Both Languages)</a:t>
            </a:r>
            <a:endParaRPr lang="en-US" sz="1300" dirty="0"/>
          </a:p>
        </p:txBody>
      </p:sp>
      <p:sp>
        <p:nvSpPr>
          <p:cNvPr id="16" name="Shape 11"/>
          <p:cNvSpPr/>
          <p:nvPr/>
        </p:nvSpPr>
        <p:spPr>
          <a:xfrm>
            <a:off x="365760" y="3337560"/>
            <a:ext cx="4114800" cy="658368"/>
          </a:xfrm>
          <a:prstGeom prst="rect">
            <a:avLst/>
          </a:prstGeom>
          <a:solidFill>
            <a:srgbClr val="F7FAFB"/>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17" name="Shape 12"/>
          <p:cNvSpPr/>
          <p:nvPr/>
        </p:nvSpPr>
        <p:spPr>
          <a:xfrm>
            <a:off x="365760" y="3337560"/>
            <a:ext cx="73152" cy="658368"/>
          </a:xfrm>
          <a:prstGeom prst="rect">
            <a:avLst/>
          </a:prstGeom>
          <a:solidFill>
            <a:srgbClr val="02C39A"/>
          </a:solidFill>
          <a:ln w="12700">
            <a:solidFill>
              <a:srgbClr val="02C39A"/>
            </a:solidFill>
            <a:prstDash val="solid"/>
          </a:ln>
        </p:spPr>
      </p:sp>
      <p:pic>
        <p:nvPicPr>
          <p:cNvPr id="18" name="Image 3" descr="preencoded.png">    </p:cNvPr>
          <p:cNvPicPr>
            <a:picLocks noChangeAspect="1"/>
          </p:cNvPicPr>
          <p:nvPr/>
        </p:nvPicPr>
        <p:blipFill>
          <a:blip r:embed="rId4"/>
          <a:stretch>
            <a:fillRect/>
          </a:stretch>
        </p:blipFill>
        <p:spPr>
          <a:xfrm>
            <a:off x="548640" y="3447288"/>
            <a:ext cx="402336" cy="402336"/>
          </a:xfrm>
          <a:prstGeom prst="rect">
            <a:avLst/>
          </a:prstGeom>
        </p:spPr>
      </p:pic>
      <p:sp>
        <p:nvSpPr>
          <p:cNvPr id="19" name="Text 13"/>
          <p:cNvSpPr/>
          <p:nvPr/>
        </p:nvSpPr>
        <p:spPr>
          <a:xfrm>
            <a:off x="1051560" y="3337560"/>
            <a:ext cx="3291840" cy="658368"/>
          </a:xfrm>
          <a:prstGeom prst="rect">
            <a:avLst/>
          </a:prstGeom>
          <a:noFill/>
          <a:ln/>
        </p:spPr>
        <p:txBody>
          <a:bodyPr wrap="square" lIns="0" tIns="0" rIns="0" bIns="0" rtlCol="0" anchor="ctr"/>
          <a:lstStyle/>
          <a:p>
            <a:pPr indent="0" marL="0">
              <a:buNone/>
            </a:pPr>
            <a:r>
              <a:rPr lang="en-US" sz="1300" b="1" dirty="0">
                <a:solidFill>
                  <a:srgbClr val="1A2E35"/>
                </a:solidFill>
                <a:latin typeface="Calibri" pitchFamily="34" charset="0"/>
                <a:ea typeface="Calibri" pitchFamily="34" charset="-122"/>
                <a:cs typeface="Calibri" pitchFamily="34" charset="-120"/>
              </a:rPr>
              <a:t>Karnataka Village Analogies</a:t>
            </a:r>
            <a:endParaRPr lang="en-US" sz="1300" dirty="0"/>
          </a:p>
        </p:txBody>
      </p:sp>
      <p:sp>
        <p:nvSpPr>
          <p:cNvPr id="20" name="Text 14"/>
          <p:cNvSpPr/>
          <p:nvPr/>
        </p:nvSpPr>
        <p:spPr>
          <a:xfrm>
            <a:off x="4709160" y="960120"/>
            <a:ext cx="4114800" cy="347472"/>
          </a:xfrm>
          <a:prstGeom prst="rect">
            <a:avLst/>
          </a:prstGeom>
          <a:noFill/>
          <a:ln/>
        </p:spPr>
        <p:txBody>
          <a:bodyPr wrap="square" lIns="0" tIns="0" rIns="0" bIns="0" rtlCol="0" anchor="ctr"/>
          <a:lstStyle/>
          <a:p>
            <a:pPr indent="0" marL="0">
              <a:buNone/>
            </a:pPr>
            <a:r>
              <a:rPr lang="en-US" sz="1500" b="1" dirty="0">
                <a:solidFill>
                  <a:srgbClr val="028090"/>
                </a:solidFill>
                <a:latin typeface="Calibri" pitchFamily="34" charset="0"/>
                <a:ea typeface="Calibri" pitchFamily="34" charset="-122"/>
                <a:cs typeface="Calibri" pitchFamily="34" charset="-120"/>
              </a:rPr>
              <a:t>Sample Concepts Demonstrated</a:t>
            </a:r>
            <a:endParaRPr lang="en-US" sz="1500" dirty="0"/>
          </a:p>
        </p:txBody>
      </p:sp>
      <p:sp>
        <p:nvSpPr>
          <p:cNvPr id="21" name="Shape 15"/>
          <p:cNvSpPr/>
          <p:nvPr/>
        </p:nvSpPr>
        <p:spPr>
          <a:xfrm>
            <a:off x="4709160" y="1371600"/>
            <a:ext cx="1874520" cy="868680"/>
          </a:xfrm>
          <a:prstGeom prst="rect">
            <a:avLst/>
          </a:prstGeom>
          <a:solidFill>
            <a:srgbClr val="E0F4F7"/>
          </a:solidFill>
          <a:ln w="12700">
            <a:solidFill>
              <a:srgbClr val="B2DDE5"/>
            </a:solidFill>
            <a:prstDash val="solid"/>
          </a:ln>
          <a:effectLst>
            <a:outerShdw sx="100000" sy="100000" kx="0" ky="0" algn="bl" rotWithShape="0" blurRad="101600" dist="25400" dir="8100000">
              <a:srgbClr val="000000">
                <a:alpha val="8000"/>
              </a:srgbClr>
            </a:outerShdw>
          </a:effectLst>
        </p:spPr>
      </p:sp>
      <p:pic>
        <p:nvPicPr>
          <p:cNvPr id="22" name="Image 4" descr="preencoded.png">    </p:cNvPr>
          <p:cNvPicPr>
            <a:picLocks noChangeAspect="1"/>
          </p:cNvPicPr>
          <p:nvPr/>
        </p:nvPicPr>
        <p:blipFill>
          <a:blip r:embed="rId5"/>
          <a:stretch>
            <a:fillRect/>
          </a:stretch>
        </p:blipFill>
        <p:spPr>
          <a:xfrm>
            <a:off x="4846320" y="1572768"/>
            <a:ext cx="384048" cy="384048"/>
          </a:xfrm>
          <a:prstGeom prst="rect">
            <a:avLst/>
          </a:prstGeom>
        </p:spPr>
      </p:pic>
      <p:sp>
        <p:nvSpPr>
          <p:cNvPr id="23" name="Text 16"/>
          <p:cNvSpPr/>
          <p:nvPr/>
        </p:nvSpPr>
        <p:spPr>
          <a:xfrm>
            <a:off x="5303520" y="1463040"/>
            <a:ext cx="1188720" cy="384048"/>
          </a:xfrm>
          <a:prstGeom prst="rect">
            <a:avLst/>
          </a:prstGeom>
          <a:noFill/>
          <a:ln/>
        </p:spPr>
        <p:txBody>
          <a:bodyPr wrap="square" lIns="0" tIns="0" rIns="0" bIns="0" rtlCol="0" anchor="ctr"/>
          <a:lstStyle/>
          <a:p>
            <a:pPr indent="0" marL="0">
              <a:buNone/>
            </a:pPr>
            <a:r>
              <a:rPr lang="en-US" sz="1200" b="1" dirty="0">
                <a:solidFill>
                  <a:srgbClr val="1A2E35"/>
                </a:solidFill>
                <a:latin typeface="Calibri" pitchFamily="34" charset="0"/>
                <a:ea typeface="Calibri" pitchFamily="34" charset="-122"/>
                <a:cs typeface="Calibri" pitchFamily="34" charset="-120"/>
              </a:rPr>
              <a:t>Photosynthesis</a:t>
            </a:r>
            <a:endParaRPr lang="en-US" sz="1200" dirty="0"/>
          </a:p>
        </p:txBody>
      </p:sp>
      <p:sp>
        <p:nvSpPr>
          <p:cNvPr id="24" name="Text 17"/>
          <p:cNvSpPr/>
          <p:nvPr/>
        </p:nvSpPr>
        <p:spPr>
          <a:xfrm>
            <a:off x="5303520" y="1828800"/>
            <a:ext cx="1188720" cy="292608"/>
          </a:xfrm>
          <a:prstGeom prst="rect">
            <a:avLst/>
          </a:prstGeom>
          <a:noFill/>
          <a:ln/>
        </p:spPr>
        <p:txBody>
          <a:bodyPr wrap="square" lIns="0" tIns="0" rIns="0" bIns="0" rtlCol="0" anchor="ctr"/>
          <a:lstStyle/>
          <a:p>
            <a:pPr indent="0" marL="0">
              <a:buNone/>
            </a:pPr>
            <a:r>
              <a:rPr lang="en-US" sz="1000" dirty="0">
                <a:solidFill>
                  <a:srgbClr val="6B8F94"/>
                </a:solidFill>
                <a:latin typeface="Calibri" pitchFamily="34" charset="0"/>
                <a:ea typeface="Calibri" pitchFamily="34" charset="-122"/>
                <a:cs typeface="Calibri" pitchFamily="34" charset="-120"/>
              </a:rPr>
              <a:t>Biology</a:t>
            </a:r>
            <a:endParaRPr lang="en-US" sz="1000" dirty="0"/>
          </a:p>
        </p:txBody>
      </p:sp>
      <p:sp>
        <p:nvSpPr>
          <p:cNvPr id="25" name="Shape 18"/>
          <p:cNvSpPr/>
          <p:nvPr/>
        </p:nvSpPr>
        <p:spPr>
          <a:xfrm>
            <a:off x="6812280" y="1371600"/>
            <a:ext cx="1874520" cy="868680"/>
          </a:xfrm>
          <a:prstGeom prst="rect">
            <a:avLst/>
          </a:prstGeom>
          <a:solidFill>
            <a:srgbClr val="E0F4F7"/>
          </a:solidFill>
          <a:ln w="12700">
            <a:solidFill>
              <a:srgbClr val="B2DDE5"/>
            </a:solidFill>
            <a:prstDash val="solid"/>
          </a:ln>
          <a:effectLst>
            <a:outerShdw sx="100000" sy="100000" kx="0" ky="0" algn="bl" rotWithShape="0" blurRad="101600" dist="25400" dir="8100000">
              <a:srgbClr val="000000">
                <a:alpha val="8000"/>
              </a:srgbClr>
            </a:outerShdw>
          </a:effectLst>
        </p:spPr>
      </p:sp>
      <p:pic>
        <p:nvPicPr>
          <p:cNvPr id="26" name="Image 5" descr="preencoded.png">    </p:cNvPr>
          <p:cNvPicPr>
            <a:picLocks noChangeAspect="1"/>
          </p:cNvPicPr>
          <p:nvPr/>
        </p:nvPicPr>
        <p:blipFill>
          <a:blip r:embed="rId6"/>
          <a:stretch>
            <a:fillRect/>
          </a:stretch>
        </p:blipFill>
        <p:spPr>
          <a:xfrm>
            <a:off x="6949440" y="1572768"/>
            <a:ext cx="384048" cy="384048"/>
          </a:xfrm>
          <a:prstGeom prst="rect">
            <a:avLst/>
          </a:prstGeom>
        </p:spPr>
      </p:pic>
      <p:sp>
        <p:nvSpPr>
          <p:cNvPr id="27" name="Text 19"/>
          <p:cNvSpPr/>
          <p:nvPr/>
        </p:nvSpPr>
        <p:spPr>
          <a:xfrm>
            <a:off x="7406640" y="1463040"/>
            <a:ext cx="1188720" cy="384048"/>
          </a:xfrm>
          <a:prstGeom prst="rect">
            <a:avLst/>
          </a:prstGeom>
          <a:noFill/>
          <a:ln/>
        </p:spPr>
        <p:txBody>
          <a:bodyPr wrap="square" lIns="0" tIns="0" rIns="0" bIns="0" rtlCol="0" anchor="ctr"/>
          <a:lstStyle/>
          <a:p>
            <a:pPr indent="0" marL="0">
              <a:buNone/>
            </a:pPr>
            <a:r>
              <a:rPr lang="en-US" sz="1200" b="1" dirty="0">
                <a:solidFill>
                  <a:srgbClr val="1A2E35"/>
                </a:solidFill>
                <a:latin typeface="Calibri" pitchFamily="34" charset="0"/>
                <a:ea typeface="Calibri" pitchFamily="34" charset="-122"/>
                <a:cs typeface="Calibri" pitchFamily="34" charset="-120"/>
              </a:rPr>
              <a:t>Newton's Laws</a:t>
            </a:r>
            <a:endParaRPr lang="en-US" sz="1200" dirty="0"/>
          </a:p>
        </p:txBody>
      </p:sp>
      <p:sp>
        <p:nvSpPr>
          <p:cNvPr id="28" name="Text 20"/>
          <p:cNvSpPr/>
          <p:nvPr/>
        </p:nvSpPr>
        <p:spPr>
          <a:xfrm>
            <a:off x="7406640" y="1828800"/>
            <a:ext cx="1188720" cy="292608"/>
          </a:xfrm>
          <a:prstGeom prst="rect">
            <a:avLst/>
          </a:prstGeom>
          <a:noFill/>
          <a:ln/>
        </p:spPr>
        <p:txBody>
          <a:bodyPr wrap="square" lIns="0" tIns="0" rIns="0" bIns="0" rtlCol="0" anchor="ctr"/>
          <a:lstStyle/>
          <a:p>
            <a:pPr indent="0" marL="0">
              <a:buNone/>
            </a:pPr>
            <a:r>
              <a:rPr lang="en-US" sz="1000" dirty="0">
                <a:solidFill>
                  <a:srgbClr val="6B8F94"/>
                </a:solidFill>
                <a:latin typeface="Calibri" pitchFamily="34" charset="0"/>
                <a:ea typeface="Calibri" pitchFamily="34" charset="-122"/>
                <a:cs typeface="Calibri" pitchFamily="34" charset="-120"/>
              </a:rPr>
              <a:t>Physics</a:t>
            </a:r>
            <a:endParaRPr lang="en-US" sz="1000" dirty="0"/>
          </a:p>
        </p:txBody>
      </p:sp>
      <p:sp>
        <p:nvSpPr>
          <p:cNvPr id="29" name="Shape 21"/>
          <p:cNvSpPr/>
          <p:nvPr/>
        </p:nvSpPr>
        <p:spPr>
          <a:xfrm>
            <a:off x="4709160" y="2377440"/>
            <a:ext cx="1874520" cy="868680"/>
          </a:xfrm>
          <a:prstGeom prst="rect">
            <a:avLst/>
          </a:prstGeom>
          <a:solidFill>
            <a:srgbClr val="E0F4F7"/>
          </a:solidFill>
          <a:ln w="12700">
            <a:solidFill>
              <a:srgbClr val="B2DDE5"/>
            </a:solidFill>
            <a:prstDash val="solid"/>
          </a:ln>
          <a:effectLst>
            <a:outerShdw sx="100000" sy="100000" kx="0" ky="0" algn="bl" rotWithShape="0" blurRad="101600" dist="25400" dir="8100000">
              <a:srgbClr val="000000">
                <a:alpha val="8000"/>
              </a:srgbClr>
            </a:outerShdw>
          </a:effectLst>
        </p:spPr>
      </p:sp>
      <p:pic>
        <p:nvPicPr>
          <p:cNvPr id="30" name="Image 6" descr="preencoded.png">    </p:cNvPr>
          <p:cNvPicPr>
            <a:picLocks noChangeAspect="1"/>
          </p:cNvPicPr>
          <p:nvPr/>
        </p:nvPicPr>
        <p:blipFill>
          <a:blip r:embed="rId7"/>
          <a:stretch>
            <a:fillRect/>
          </a:stretch>
        </p:blipFill>
        <p:spPr>
          <a:xfrm>
            <a:off x="4846320" y="2578608"/>
            <a:ext cx="384048" cy="384048"/>
          </a:xfrm>
          <a:prstGeom prst="rect">
            <a:avLst/>
          </a:prstGeom>
        </p:spPr>
      </p:pic>
      <p:sp>
        <p:nvSpPr>
          <p:cNvPr id="31" name="Text 22"/>
          <p:cNvSpPr/>
          <p:nvPr/>
        </p:nvSpPr>
        <p:spPr>
          <a:xfrm>
            <a:off x="5303520" y="2468880"/>
            <a:ext cx="1188720" cy="384048"/>
          </a:xfrm>
          <a:prstGeom prst="rect">
            <a:avLst/>
          </a:prstGeom>
          <a:noFill/>
          <a:ln/>
        </p:spPr>
        <p:txBody>
          <a:bodyPr wrap="square" lIns="0" tIns="0" rIns="0" bIns="0" rtlCol="0" anchor="ctr"/>
          <a:lstStyle/>
          <a:p>
            <a:pPr indent="0" marL="0">
              <a:buNone/>
            </a:pPr>
            <a:r>
              <a:rPr lang="en-US" sz="1200" b="1" dirty="0">
                <a:solidFill>
                  <a:srgbClr val="1A2E35"/>
                </a:solidFill>
                <a:latin typeface="Calibri" pitchFamily="34" charset="0"/>
                <a:ea typeface="Calibri" pitchFamily="34" charset="-122"/>
                <a:cs typeface="Calibri" pitchFamily="34" charset="-120"/>
              </a:rPr>
              <a:t>Binary Numbers</a:t>
            </a:r>
            <a:endParaRPr lang="en-US" sz="1200" dirty="0"/>
          </a:p>
        </p:txBody>
      </p:sp>
      <p:sp>
        <p:nvSpPr>
          <p:cNvPr id="32" name="Text 23"/>
          <p:cNvSpPr/>
          <p:nvPr/>
        </p:nvSpPr>
        <p:spPr>
          <a:xfrm>
            <a:off x="5303520" y="2834640"/>
            <a:ext cx="1188720" cy="292608"/>
          </a:xfrm>
          <a:prstGeom prst="rect">
            <a:avLst/>
          </a:prstGeom>
          <a:noFill/>
          <a:ln/>
        </p:spPr>
        <p:txBody>
          <a:bodyPr wrap="square" lIns="0" tIns="0" rIns="0" bIns="0" rtlCol="0" anchor="ctr"/>
          <a:lstStyle/>
          <a:p>
            <a:pPr indent="0" marL="0">
              <a:buNone/>
            </a:pPr>
            <a:r>
              <a:rPr lang="en-US" sz="1000" dirty="0">
                <a:solidFill>
                  <a:srgbClr val="6B8F94"/>
                </a:solidFill>
                <a:latin typeface="Calibri" pitchFamily="34" charset="0"/>
                <a:ea typeface="Calibri" pitchFamily="34" charset="-122"/>
                <a:cs typeface="Calibri" pitchFamily="34" charset="-120"/>
              </a:rPr>
              <a:t>Computer Science</a:t>
            </a:r>
            <a:endParaRPr lang="en-US" sz="1000" dirty="0"/>
          </a:p>
        </p:txBody>
      </p:sp>
      <p:sp>
        <p:nvSpPr>
          <p:cNvPr id="33" name="Shape 24"/>
          <p:cNvSpPr/>
          <p:nvPr/>
        </p:nvSpPr>
        <p:spPr>
          <a:xfrm>
            <a:off x="6812280" y="2377440"/>
            <a:ext cx="1874520" cy="868680"/>
          </a:xfrm>
          <a:prstGeom prst="rect">
            <a:avLst/>
          </a:prstGeom>
          <a:solidFill>
            <a:srgbClr val="E0F4F7"/>
          </a:solidFill>
          <a:ln w="12700">
            <a:solidFill>
              <a:srgbClr val="B2DDE5"/>
            </a:solidFill>
            <a:prstDash val="solid"/>
          </a:ln>
          <a:effectLst>
            <a:outerShdw sx="100000" sy="100000" kx="0" ky="0" algn="bl" rotWithShape="0" blurRad="101600" dist="25400" dir="8100000">
              <a:srgbClr val="000000">
                <a:alpha val="8000"/>
              </a:srgbClr>
            </a:outerShdw>
          </a:effectLst>
        </p:spPr>
      </p:sp>
      <p:pic>
        <p:nvPicPr>
          <p:cNvPr id="34" name="Image 7" descr="preencoded.png">    </p:cNvPr>
          <p:cNvPicPr>
            <a:picLocks noChangeAspect="1"/>
          </p:cNvPicPr>
          <p:nvPr/>
        </p:nvPicPr>
        <p:blipFill>
          <a:blip r:embed="rId8"/>
          <a:stretch>
            <a:fillRect/>
          </a:stretch>
        </p:blipFill>
        <p:spPr>
          <a:xfrm>
            <a:off x="6949440" y="2578608"/>
            <a:ext cx="384048" cy="384048"/>
          </a:xfrm>
          <a:prstGeom prst="rect">
            <a:avLst/>
          </a:prstGeom>
        </p:spPr>
      </p:pic>
      <p:sp>
        <p:nvSpPr>
          <p:cNvPr id="35" name="Text 25"/>
          <p:cNvSpPr/>
          <p:nvPr/>
        </p:nvSpPr>
        <p:spPr>
          <a:xfrm>
            <a:off x="7406640" y="2468880"/>
            <a:ext cx="1188720" cy="384048"/>
          </a:xfrm>
          <a:prstGeom prst="rect">
            <a:avLst/>
          </a:prstGeom>
          <a:noFill/>
          <a:ln/>
        </p:spPr>
        <p:txBody>
          <a:bodyPr wrap="square" lIns="0" tIns="0" rIns="0" bIns="0" rtlCol="0" anchor="ctr"/>
          <a:lstStyle/>
          <a:p>
            <a:pPr indent="0" marL="0">
              <a:buNone/>
            </a:pPr>
            <a:r>
              <a:rPr lang="en-US" sz="1200" b="1" dirty="0">
                <a:solidFill>
                  <a:srgbClr val="1A2E35"/>
                </a:solidFill>
                <a:latin typeface="Calibri" pitchFamily="34" charset="0"/>
                <a:ea typeface="Calibri" pitchFamily="34" charset="-122"/>
                <a:cs typeface="Calibri" pitchFamily="34" charset="-120"/>
              </a:rPr>
              <a:t>Acids and Bases</a:t>
            </a:r>
            <a:endParaRPr lang="en-US" sz="1200" dirty="0"/>
          </a:p>
        </p:txBody>
      </p:sp>
      <p:sp>
        <p:nvSpPr>
          <p:cNvPr id="36" name="Text 26"/>
          <p:cNvSpPr/>
          <p:nvPr/>
        </p:nvSpPr>
        <p:spPr>
          <a:xfrm>
            <a:off x="7406640" y="2834640"/>
            <a:ext cx="1188720" cy="292608"/>
          </a:xfrm>
          <a:prstGeom prst="rect">
            <a:avLst/>
          </a:prstGeom>
          <a:noFill/>
          <a:ln/>
        </p:spPr>
        <p:txBody>
          <a:bodyPr wrap="square" lIns="0" tIns="0" rIns="0" bIns="0" rtlCol="0" anchor="ctr"/>
          <a:lstStyle/>
          <a:p>
            <a:pPr indent="0" marL="0">
              <a:buNone/>
            </a:pPr>
            <a:r>
              <a:rPr lang="en-US" sz="1000" dirty="0">
                <a:solidFill>
                  <a:srgbClr val="6B8F94"/>
                </a:solidFill>
                <a:latin typeface="Calibri" pitchFamily="34" charset="0"/>
                <a:ea typeface="Calibri" pitchFamily="34" charset="-122"/>
                <a:cs typeface="Calibri" pitchFamily="34" charset="-120"/>
              </a:rPr>
              <a:t>Chemistry</a:t>
            </a:r>
            <a:endParaRPr lang="en-US" sz="1000" dirty="0"/>
          </a:p>
        </p:txBody>
      </p:sp>
      <p:sp>
        <p:nvSpPr>
          <p:cNvPr id="37" name="Shape 27"/>
          <p:cNvSpPr/>
          <p:nvPr/>
        </p:nvSpPr>
        <p:spPr>
          <a:xfrm>
            <a:off x="5760720" y="3383280"/>
            <a:ext cx="1874520" cy="868680"/>
          </a:xfrm>
          <a:prstGeom prst="rect">
            <a:avLst/>
          </a:prstGeom>
          <a:solidFill>
            <a:srgbClr val="E0F4F7"/>
          </a:solidFill>
          <a:ln w="12700">
            <a:solidFill>
              <a:srgbClr val="B2DDE5"/>
            </a:solidFill>
            <a:prstDash val="solid"/>
          </a:ln>
          <a:effectLst>
            <a:outerShdw sx="100000" sy="100000" kx="0" ky="0" algn="bl" rotWithShape="0" blurRad="101600" dist="25400" dir="8100000">
              <a:srgbClr val="000000">
                <a:alpha val="8000"/>
              </a:srgbClr>
            </a:outerShdw>
          </a:effectLst>
        </p:spPr>
      </p:sp>
      <p:pic>
        <p:nvPicPr>
          <p:cNvPr id="38" name="Image 8" descr="preencoded.png">    </p:cNvPr>
          <p:cNvPicPr>
            <a:picLocks noChangeAspect="1"/>
          </p:cNvPicPr>
          <p:nvPr/>
        </p:nvPicPr>
        <p:blipFill>
          <a:blip r:embed="rId9"/>
          <a:stretch>
            <a:fillRect/>
          </a:stretch>
        </p:blipFill>
        <p:spPr>
          <a:xfrm>
            <a:off x="5897880" y="3584448"/>
            <a:ext cx="384048" cy="384048"/>
          </a:xfrm>
          <a:prstGeom prst="rect">
            <a:avLst/>
          </a:prstGeom>
        </p:spPr>
      </p:pic>
      <p:sp>
        <p:nvSpPr>
          <p:cNvPr id="39" name="Text 28"/>
          <p:cNvSpPr/>
          <p:nvPr/>
        </p:nvSpPr>
        <p:spPr>
          <a:xfrm>
            <a:off x="6355080" y="3474720"/>
            <a:ext cx="1188720" cy="384048"/>
          </a:xfrm>
          <a:prstGeom prst="rect">
            <a:avLst/>
          </a:prstGeom>
          <a:noFill/>
          <a:ln/>
        </p:spPr>
        <p:txBody>
          <a:bodyPr wrap="square" lIns="0" tIns="0" rIns="0" bIns="0" rtlCol="0" anchor="ctr"/>
          <a:lstStyle/>
          <a:p>
            <a:pPr indent="0" marL="0">
              <a:buNone/>
            </a:pPr>
            <a:r>
              <a:rPr lang="en-US" sz="1200" b="1" dirty="0">
                <a:solidFill>
                  <a:srgbClr val="1A2E35"/>
                </a:solidFill>
                <a:latin typeface="Calibri" pitchFamily="34" charset="0"/>
                <a:ea typeface="Calibri" pitchFamily="34" charset="-122"/>
                <a:cs typeface="Calibri" pitchFamily="34" charset="-120"/>
              </a:rPr>
              <a:t>Pythagoras Theorem</a:t>
            </a:r>
            <a:endParaRPr lang="en-US" sz="1200" dirty="0"/>
          </a:p>
        </p:txBody>
      </p:sp>
      <p:sp>
        <p:nvSpPr>
          <p:cNvPr id="40" name="Text 29"/>
          <p:cNvSpPr/>
          <p:nvPr/>
        </p:nvSpPr>
        <p:spPr>
          <a:xfrm>
            <a:off x="6355080" y="3840480"/>
            <a:ext cx="1188720" cy="292608"/>
          </a:xfrm>
          <a:prstGeom prst="rect">
            <a:avLst/>
          </a:prstGeom>
          <a:noFill/>
          <a:ln/>
        </p:spPr>
        <p:txBody>
          <a:bodyPr wrap="square" lIns="0" tIns="0" rIns="0" bIns="0" rtlCol="0" anchor="ctr"/>
          <a:lstStyle/>
          <a:p>
            <a:pPr indent="0" marL="0">
              <a:buNone/>
            </a:pPr>
            <a:r>
              <a:rPr lang="en-US" sz="1000" dirty="0">
                <a:solidFill>
                  <a:srgbClr val="6B8F94"/>
                </a:solidFill>
                <a:latin typeface="Calibri" pitchFamily="34" charset="0"/>
                <a:ea typeface="Calibri" pitchFamily="34" charset="-122"/>
                <a:cs typeface="Calibri" pitchFamily="34" charset="-120"/>
              </a:rPr>
              <a:t>Mathematics</a:t>
            </a:r>
            <a:endParaRPr lang="en-US" sz="1000" dirty="0"/>
          </a:p>
        </p:txBody>
      </p:sp>
      <p:sp>
        <p:nvSpPr>
          <p:cNvPr id="41" name="Shape 30"/>
          <p:cNvSpPr/>
          <p:nvPr/>
        </p:nvSpPr>
        <p:spPr>
          <a:xfrm>
            <a:off x="365760" y="4160520"/>
            <a:ext cx="8412480" cy="685800"/>
          </a:xfrm>
          <a:prstGeom prst="rect">
            <a:avLst/>
          </a:prstGeom>
          <a:solidFill>
            <a:srgbClr val="028090"/>
          </a:solidFill>
          <a:ln w="12700">
            <a:solidFill>
              <a:srgbClr val="028090"/>
            </a:solidFill>
            <a:prstDash val="solid"/>
          </a:ln>
        </p:spPr>
      </p:sp>
      <p:sp>
        <p:nvSpPr>
          <p:cNvPr id="42" name="Text 31"/>
          <p:cNvSpPr/>
          <p:nvPr/>
        </p:nvSpPr>
        <p:spPr>
          <a:xfrm>
            <a:off x="548640" y="4178808"/>
            <a:ext cx="8046720" cy="64008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  All concepts successfully generated with bilingual output, difficulty scaling, audio playback, and localized Karnataka analogies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594360"/>
          </a:xfrm>
          <a:prstGeom prst="rect">
            <a:avLst/>
          </a:prstGeom>
          <a:noFill/>
          <a:ln/>
        </p:spPr>
        <p:txBody>
          <a:bodyPr wrap="square" lIns="0" tIns="0" rIns="0" bIns="0" rtlCol="0" anchor="ctr"/>
          <a:lstStyle/>
          <a:p>
            <a:pPr algn="l" indent="0" marL="0">
              <a:buNone/>
            </a:pPr>
            <a:r>
              <a:rPr lang="en-US" sz="3200" b="1" dirty="0">
                <a:solidFill>
                  <a:srgbClr val="028090"/>
                </a:solidFill>
                <a:latin typeface="Calibri" pitchFamily="34" charset="0"/>
                <a:ea typeface="Calibri" pitchFamily="34" charset="-122"/>
                <a:cs typeface="Calibri" pitchFamily="34" charset="-120"/>
              </a:rPr>
              <a:t>Advantages &amp; Impact</a:t>
            </a:r>
            <a:endParaRPr lang="en-US" sz="3200" dirty="0"/>
          </a:p>
        </p:txBody>
      </p:sp>
      <p:sp>
        <p:nvSpPr>
          <p:cNvPr id="3" name="Shape 1"/>
          <p:cNvSpPr/>
          <p:nvPr/>
        </p:nvSpPr>
        <p:spPr>
          <a:xfrm>
            <a:off x="365760" y="822960"/>
            <a:ext cx="8412480" cy="27432"/>
          </a:xfrm>
          <a:prstGeom prst="rect">
            <a:avLst/>
          </a:prstGeom>
          <a:solidFill>
            <a:srgbClr val="028090">
              <a:alpha val="50000"/>
            </a:srgbClr>
          </a:solidFill>
          <a:ln w="12700">
            <a:solidFill>
              <a:srgbClr val="028090">
                <a:alpha val="50000"/>
              </a:srgbClr>
            </a:solidFill>
            <a:prstDash val="solid"/>
          </a:ln>
        </p:spPr>
      </p:sp>
      <p:sp>
        <p:nvSpPr>
          <p:cNvPr id="4" name="Shape 2"/>
          <p:cNvSpPr/>
          <p:nvPr/>
        </p:nvSpPr>
        <p:spPr>
          <a:xfrm>
            <a:off x="365760" y="960120"/>
            <a:ext cx="4206240" cy="1188720"/>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5" name="Shape 3"/>
          <p:cNvSpPr/>
          <p:nvPr/>
        </p:nvSpPr>
        <p:spPr>
          <a:xfrm>
            <a:off x="365760" y="960120"/>
            <a:ext cx="73152" cy="1188720"/>
          </a:xfrm>
          <a:prstGeom prst="rect">
            <a:avLst/>
          </a:prstGeom>
          <a:solidFill>
            <a:srgbClr val="00A896"/>
          </a:solidFill>
          <a:ln w="12700">
            <a:solidFill>
              <a:srgbClr val="00A896"/>
            </a:solidFill>
            <a:prstDash val="solid"/>
          </a:ln>
        </p:spPr>
      </p:sp>
      <p:pic>
        <p:nvPicPr>
          <p:cNvPr id="6" name="Image 0" descr="preencoded.png">    </p:cNvPr>
          <p:cNvPicPr>
            <a:picLocks noChangeAspect="1"/>
          </p:cNvPicPr>
          <p:nvPr/>
        </p:nvPicPr>
        <p:blipFill>
          <a:blip r:embed="rId1"/>
          <a:stretch>
            <a:fillRect/>
          </a:stretch>
        </p:blipFill>
        <p:spPr>
          <a:xfrm>
            <a:off x="566928" y="1234440"/>
            <a:ext cx="475488" cy="475488"/>
          </a:xfrm>
          <a:prstGeom prst="rect">
            <a:avLst/>
          </a:prstGeom>
        </p:spPr>
      </p:pic>
      <p:sp>
        <p:nvSpPr>
          <p:cNvPr id="7" name="Text 4"/>
          <p:cNvSpPr/>
          <p:nvPr/>
        </p:nvSpPr>
        <p:spPr>
          <a:xfrm>
            <a:off x="1170432" y="1051560"/>
            <a:ext cx="3246120" cy="36576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Supports Rural Education</a:t>
            </a:r>
            <a:endParaRPr lang="en-US" sz="1400" dirty="0"/>
          </a:p>
        </p:txBody>
      </p:sp>
      <p:sp>
        <p:nvSpPr>
          <p:cNvPr id="8" name="Text 5"/>
          <p:cNvSpPr/>
          <p:nvPr/>
        </p:nvSpPr>
        <p:spPr>
          <a:xfrm>
            <a:off x="1170432" y="1417320"/>
            <a:ext cx="3246120" cy="658368"/>
          </a:xfrm>
          <a:prstGeom prst="rect">
            <a:avLst/>
          </a:prstGeom>
          <a:noFill/>
          <a:ln/>
        </p:spPr>
        <p:txBody>
          <a:bodyPr wrap="square" lIns="0" tIns="0" rIns="0" bIns="0" rtlCol="0" anchor="ctr"/>
          <a:lstStyle/>
          <a:p>
            <a:pPr indent="0" marL="0">
              <a:buNone/>
            </a:pPr>
            <a:r>
              <a:rPr lang="en-US" sz="1150" dirty="0">
                <a:solidFill>
                  <a:srgbClr val="3D5A60"/>
                </a:solidFill>
                <a:latin typeface="Calibri" pitchFamily="34" charset="0"/>
                <a:ea typeface="Calibri" pitchFamily="34" charset="-122"/>
                <a:cs typeface="Calibri" pitchFamily="34" charset="-120"/>
              </a:rPr>
              <a:t>Directly serves Kannada-medium students who lack access to quality bilingual STEM resources.</a:t>
            </a:r>
            <a:endParaRPr lang="en-US" sz="1150" dirty="0"/>
          </a:p>
        </p:txBody>
      </p:sp>
      <p:sp>
        <p:nvSpPr>
          <p:cNvPr id="9" name="Shape 6"/>
          <p:cNvSpPr/>
          <p:nvPr/>
        </p:nvSpPr>
        <p:spPr>
          <a:xfrm>
            <a:off x="4800600" y="960120"/>
            <a:ext cx="4206240" cy="1188720"/>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10" name="Shape 7"/>
          <p:cNvSpPr/>
          <p:nvPr/>
        </p:nvSpPr>
        <p:spPr>
          <a:xfrm>
            <a:off x="4800600" y="960120"/>
            <a:ext cx="73152" cy="1188720"/>
          </a:xfrm>
          <a:prstGeom prst="rect">
            <a:avLst/>
          </a:prstGeom>
          <a:solidFill>
            <a:srgbClr val="00A896"/>
          </a:solidFill>
          <a:ln w="12700">
            <a:solidFill>
              <a:srgbClr val="00A896"/>
            </a:solidFill>
            <a:prstDash val="solid"/>
          </a:ln>
        </p:spPr>
      </p:sp>
      <p:pic>
        <p:nvPicPr>
          <p:cNvPr id="11" name="Image 1" descr="preencoded.png">    </p:cNvPr>
          <p:cNvPicPr>
            <a:picLocks noChangeAspect="1"/>
          </p:cNvPicPr>
          <p:nvPr/>
        </p:nvPicPr>
        <p:blipFill>
          <a:blip r:embed="rId2"/>
          <a:stretch>
            <a:fillRect/>
          </a:stretch>
        </p:blipFill>
        <p:spPr>
          <a:xfrm>
            <a:off x="5001768" y="1234440"/>
            <a:ext cx="475488" cy="475488"/>
          </a:xfrm>
          <a:prstGeom prst="rect">
            <a:avLst/>
          </a:prstGeom>
        </p:spPr>
      </p:pic>
      <p:sp>
        <p:nvSpPr>
          <p:cNvPr id="12" name="Text 8"/>
          <p:cNvSpPr/>
          <p:nvPr/>
        </p:nvSpPr>
        <p:spPr>
          <a:xfrm>
            <a:off x="5605272" y="1051560"/>
            <a:ext cx="3246120" cy="36576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Reduces Language Barriers</a:t>
            </a:r>
            <a:endParaRPr lang="en-US" sz="1400" dirty="0"/>
          </a:p>
        </p:txBody>
      </p:sp>
      <p:sp>
        <p:nvSpPr>
          <p:cNvPr id="13" name="Text 9"/>
          <p:cNvSpPr/>
          <p:nvPr/>
        </p:nvSpPr>
        <p:spPr>
          <a:xfrm>
            <a:off x="5605272" y="1417320"/>
            <a:ext cx="3246120" cy="658368"/>
          </a:xfrm>
          <a:prstGeom prst="rect">
            <a:avLst/>
          </a:prstGeom>
          <a:noFill/>
          <a:ln/>
        </p:spPr>
        <p:txBody>
          <a:bodyPr wrap="square" lIns="0" tIns="0" rIns="0" bIns="0" rtlCol="0" anchor="ctr"/>
          <a:lstStyle/>
          <a:p>
            <a:pPr indent="0" marL="0">
              <a:buNone/>
            </a:pPr>
            <a:r>
              <a:rPr lang="en-US" sz="1150" dirty="0">
                <a:solidFill>
                  <a:srgbClr val="3D5A60"/>
                </a:solidFill>
                <a:latin typeface="Calibri" pitchFamily="34" charset="0"/>
                <a:ea typeface="Calibri" pitchFamily="34" charset="-122"/>
                <a:cs typeface="Calibri" pitchFamily="34" charset="-120"/>
              </a:rPr>
              <a:t>Simultaneous bilingual content eliminates the 'language shock' of English-medium higher education.</a:t>
            </a:r>
            <a:endParaRPr lang="en-US" sz="1150" dirty="0"/>
          </a:p>
        </p:txBody>
      </p:sp>
      <p:sp>
        <p:nvSpPr>
          <p:cNvPr id="14" name="Shape 10"/>
          <p:cNvSpPr/>
          <p:nvPr/>
        </p:nvSpPr>
        <p:spPr>
          <a:xfrm>
            <a:off x="365760" y="2286000"/>
            <a:ext cx="4206240" cy="1188720"/>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15" name="Shape 11"/>
          <p:cNvSpPr/>
          <p:nvPr/>
        </p:nvSpPr>
        <p:spPr>
          <a:xfrm>
            <a:off x="365760" y="2286000"/>
            <a:ext cx="73152" cy="1188720"/>
          </a:xfrm>
          <a:prstGeom prst="rect">
            <a:avLst/>
          </a:prstGeom>
          <a:solidFill>
            <a:srgbClr val="00A896"/>
          </a:solidFill>
          <a:ln w="12700">
            <a:solidFill>
              <a:srgbClr val="00A896"/>
            </a:solidFill>
            <a:prstDash val="solid"/>
          </a:ln>
        </p:spPr>
      </p:sp>
      <p:pic>
        <p:nvPicPr>
          <p:cNvPr id="16" name="Image 2" descr="preencoded.png">    </p:cNvPr>
          <p:cNvPicPr>
            <a:picLocks noChangeAspect="1"/>
          </p:cNvPicPr>
          <p:nvPr/>
        </p:nvPicPr>
        <p:blipFill>
          <a:blip r:embed="rId3"/>
          <a:stretch>
            <a:fillRect/>
          </a:stretch>
        </p:blipFill>
        <p:spPr>
          <a:xfrm>
            <a:off x="566928" y="2560320"/>
            <a:ext cx="475488" cy="475488"/>
          </a:xfrm>
          <a:prstGeom prst="rect">
            <a:avLst/>
          </a:prstGeom>
        </p:spPr>
      </p:pic>
      <p:sp>
        <p:nvSpPr>
          <p:cNvPr id="17" name="Text 12"/>
          <p:cNvSpPr/>
          <p:nvPr/>
        </p:nvSpPr>
        <p:spPr>
          <a:xfrm>
            <a:off x="1170432" y="2377440"/>
            <a:ext cx="3246120" cy="36576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Improves STEM Learning</a:t>
            </a:r>
            <a:endParaRPr lang="en-US" sz="1400" dirty="0"/>
          </a:p>
        </p:txBody>
      </p:sp>
      <p:sp>
        <p:nvSpPr>
          <p:cNvPr id="18" name="Text 13"/>
          <p:cNvSpPr/>
          <p:nvPr/>
        </p:nvSpPr>
        <p:spPr>
          <a:xfrm>
            <a:off x="1170432" y="2743200"/>
            <a:ext cx="3246120" cy="658368"/>
          </a:xfrm>
          <a:prstGeom prst="rect">
            <a:avLst/>
          </a:prstGeom>
          <a:noFill/>
          <a:ln/>
        </p:spPr>
        <p:txBody>
          <a:bodyPr wrap="square" lIns="0" tIns="0" rIns="0" bIns="0" rtlCol="0" anchor="ctr"/>
          <a:lstStyle/>
          <a:p>
            <a:pPr indent="0" marL="0">
              <a:buNone/>
            </a:pPr>
            <a:r>
              <a:rPr lang="en-US" sz="1150" dirty="0">
                <a:solidFill>
                  <a:srgbClr val="3D5A60"/>
                </a:solidFill>
                <a:latin typeface="Calibri" pitchFamily="34" charset="0"/>
                <a:ea typeface="Calibri" pitchFamily="34" charset="-122"/>
                <a:cs typeface="Calibri" pitchFamily="34" charset="-120"/>
              </a:rPr>
              <a:t>AI-generated local analogies boost comprehension of abstract concepts by up to 3x.</a:t>
            </a:r>
            <a:endParaRPr lang="en-US" sz="1150" dirty="0"/>
          </a:p>
        </p:txBody>
      </p:sp>
      <p:sp>
        <p:nvSpPr>
          <p:cNvPr id="19" name="Shape 14"/>
          <p:cNvSpPr/>
          <p:nvPr/>
        </p:nvSpPr>
        <p:spPr>
          <a:xfrm>
            <a:off x="4800600" y="2286000"/>
            <a:ext cx="4206240" cy="1188720"/>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20" name="Shape 15"/>
          <p:cNvSpPr/>
          <p:nvPr/>
        </p:nvSpPr>
        <p:spPr>
          <a:xfrm>
            <a:off x="4800600" y="2286000"/>
            <a:ext cx="73152" cy="1188720"/>
          </a:xfrm>
          <a:prstGeom prst="rect">
            <a:avLst/>
          </a:prstGeom>
          <a:solidFill>
            <a:srgbClr val="00A896"/>
          </a:solidFill>
          <a:ln w="12700">
            <a:solidFill>
              <a:srgbClr val="00A896"/>
            </a:solidFill>
            <a:prstDash val="solid"/>
          </a:ln>
        </p:spPr>
      </p:sp>
      <p:pic>
        <p:nvPicPr>
          <p:cNvPr id="21" name="Image 3" descr="preencoded.png">    </p:cNvPr>
          <p:cNvPicPr>
            <a:picLocks noChangeAspect="1"/>
          </p:cNvPicPr>
          <p:nvPr/>
        </p:nvPicPr>
        <p:blipFill>
          <a:blip r:embed="rId4"/>
          <a:stretch>
            <a:fillRect/>
          </a:stretch>
        </p:blipFill>
        <p:spPr>
          <a:xfrm>
            <a:off x="5001768" y="2560320"/>
            <a:ext cx="475488" cy="475488"/>
          </a:xfrm>
          <a:prstGeom prst="rect">
            <a:avLst/>
          </a:prstGeom>
        </p:spPr>
      </p:pic>
      <p:sp>
        <p:nvSpPr>
          <p:cNvPr id="22" name="Text 16"/>
          <p:cNvSpPr/>
          <p:nvPr/>
        </p:nvSpPr>
        <p:spPr>
          <a:xfrm>
            <a:off x="5605272" y="2377440"/>
            <a:ext cx="3246120" cy="36576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Personalized Explanations</a:t>
            </a:r>
            <a:endParaRPr lang="en-US" sz="1400" dirty="0"/>
          </a:p>
        </p:txBody>
      </p:sp>
      <p:sp>
        <p:nvSpPr>
          <p:cNvPr id="23" name="Text 17"/>
          <p:cNvSpPr/>
          <p:nvPr/>
        </p:nvSpPr>
        <p:spPr>
          <a:xfrm>
            <a:off x="5605272" y="2743200"/>
            <a:ext cx="3246120" cy="658368"/>
          </a:xfrm>
          <a:prstGeom prst="rect">
            <a:avLst/>
          </a:prstGeom>
          <a:noFill/>
          <a:ln/>
        </p:spPr>
        <p:txBody>
          <a:bodyPr wrap="square" lIns="0" tIns="0" rIns="0" bIns="0" rtlCol="0" anchor="ctr"/>
          <a:lstStyle/>
          <a:p>
            <a:pPr indent="0" marL="0">
              <a:buNone/>
            </a:pPr>
            <a:r>
              <a:rPr lang="en-US" sz="1150" dirty="0">
                <a:solidFill>
                  <a:srgbClr val="3D5A60"/>
                </a:solidFill>
                <a:latin typeface="Calibri" pitchFamily="34" charset="0"/>
                <a:ea typeface="Calibri" pitchFamily="34" charset="-122"/>
                <a:cs typeface="Calibri" pitchFamily="34" charset="-120"/>
              </a:rPr>
              <a:t>Three difficulty levels ensure every student — from Class 6 to Pre-University — gets appropriate content.</a:t>
            </a:r>
            <a:endParaRPr lang="en-US" sz="1150" dirty="0"/>
          </a:p>
        </p:txBody>
      </p:sp>
      <p:sp>
        <p:nvSpPr>
          <p:cNvPr id="24" name="Shape 18"/>
          <p:cNvSpPr/>
          <p:nvPr/>
        </p:nvSpPr>
        <p:spPr>
          <a:xfrm>
            <a:off x="365760" y="3611880"/>
            <a:ext cx="4206240" cy="1188720"/>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25" name="Shape 19"/>
          <p:cNvSpPr/>
          <p:nvPr/>
        </p:nvSpPr>
        <p:spPr>
          <a:xfrm>
            <a:off x="365760" y="3611880"/>
            <a:ext cx="73152" cy="1188720"/>
          </a:xfrm>
          <a:prstGeom prst="rect">
            <a:avLst/>
          </a:prstGeom>
          <a:solidFill>
            <a:srgbClr val="00A896"/>
          </a:solidFill>
          <a:ln w="12700">
            <a:solidFill>
              <a:srgbClr val="00A896"/>
            </a:solidFill>
            <a:prstDash val="solid"/>
          </a:ln>
        </p:spPr>
      </p:sp>
      <p:pic>
        <p:nvPicPr>
          <p:cNvPr id="26" name="Image 4" descr="preencoded.png">    </p:cNvPr>
          <p:cNvPicPr>
            <a:picLocks noChangeAspect="1"/>
          </p:cNvPicPr>
          <p:nvPr/>
        </p:nvPicPr>
        <p:blipFill>
          <a:blip r:embed="rId5"/>
          <a:stretch>
            <a:fillRect/>
          </a:stretch>
        </p:blipFill>
        <p:spPr>
          <a:xfrm>
            <a:off x="566928" y="3886200"/>
            <a:ext cx="475488" cy="475488"/>
          </a:xfrm>
          <a:prstGeom prst="rect">
            <a:avLst/>
          </a:prstGeom>
        </p:spPr>
      </p:pic>
      <p:sp>
        <p:nvSpPr>
          <p:cNvPr id="27" name="Text 20"/>
          <p:cNvSpPr/>
          <p:nvPr/>
        </p:nvSpPr>
        <p:spPr>
          <a:xfrm>
            <a:off x="1170432" y="3703320"/>
            <a:ext cx="3246120" cy="36576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Inclusive Learning Environment</a:t>
            </a:r>
            <a:endParaRPr lang="en-US" sz="1400" dirty="0"/>
          </a:p>
        </p:txBody>
      </p:sp>
      <p:sp>
        <p:nvSpPr>
          <p:cNvPr id="28" name="Text 21"/>
          <p:cNvSpPr/>
          <p:nvPr/>
        </p:nvSpPr>
        <p:spPr>
          <a:xfrm>
            <a:off x="1170432" y="4069080"/>
            <a:ext cx="3246120" cy="658368"/>
          </a:xfrm>
          <a:prstGeom prst="rect">
            <a:avLst/>
          </a:prstGeom>
          <a:noFill/>
          <a:ln/>
        </p:spPr>
        <p:txBody>
          <a:bodyPr wrap="square" lIns="0" tIns="0" rIns="0" bIns="0" rtlCol="0" anchor="ctr"/>
          <a:lstStyle/>
          <a:p>
            <a:pPr indent="0" marL="0">
              <a:buNone/>
            </a:pPr>
            <a:r>
              <a:rPr lang="en-US" sz="1150" dirty="0">
                <a:solidFill>
                  <a:srgbClr val="3D5A60"/>
                </a:solidFill>
                <a:latin typeface="Calibri" pitchFamily="34" charset="0"/>
                <a:ea typeface="Calibri" pitchFamily="34" charset="-122"/>
                <a:cs typeface="Calibri" pitchFamily="34" charset="-120"/>
              </a:rPr>
              <a:t>Audio support caters to students with reading challenges, ensuring no learner is left behind.</a:t>
            </a:r>
            <a:endParaRPr lang="en-US" sz="1150" dirty="0"/>
          </a:p>
        </p:txBody>
      </p:sp>
      <p:sp>
        <p:nvSpPr>
          <p:cNvPr id="29" name="Shape 22"/>
          <p:cNvSpPr/>
          <p:nvPr/>
        </p:nvSpPr>
        <p:spPr>
          <a:xfrm>
            <a:off x="4800600" y="3611880"/>
            <a:ext cx="4206240" cy="1188720"/>
          </a:xfrm>
          <a:prstGeom prst="rect">
            <a:avLst/>
          </a:prstGeom>
          <a:solidFill>
            <a:srgbClr val="FFFFFF"/>
          </a:solidFill>
          <a:ln w="12700">
            <a:solidFill>
              <a:srgbClr val="B2DDE5"/>
            </a:solidFill>
            <a:prstDash val="solid"/>
          </a:ln>
          <a:effectLst>
            <a:outerShdw sx="100000" sy="100000" kx="0" ky="0" algn="bl" rotWithShape="0" blurRad="101600" dist="25400" dir="8100000">
              <a:srgbClr val="000000">
                <a:alpha val="8000"/>
              </a:srgbClr>
            </a:outerShdw>
          </a:effectLst>
        </p:spPr>
      </p:sp>
      <p:sp>
        <p:nvSpPr>
          <p:cNvPr id="30" name="Shape 23"/>
          <p:cNvSpPr/>
          <p:nvPr/>
        </p:nvSpPr>
        <p:spPr>
          <a:xfrm>
            <a:off x="4800600" y="3611880"/>
            <a:ext cx="73152" cy="1188720"/>
          </a:xfrm>
          <a:prstGeom prst="rect">
            <a:avLst/>
          </a:prstGeom>
          <a:solidFill>
            <a:srgbClr val="00A896"/>
          </a:solidFill>
          <a:ln w="12700">
            <a:solidFill>
              <a:srgbClr val="00A896"/>
            </a:solidFill>
            <a:prstDash val="solid"/>
          </a:ln>
        </p:spPr>
      </p:sp>
      <p:pic>
        <p:nvPicPr>
          <p:cNvPr id="31" name="Image 5" descr="preencoded.png">    </p:cNvPr>
          <p:cNvPicPr>
            <a:picLocks noChangeAspect="1"/>
          </p:cNvPicPr>
          <p:nvPr/>
        </p:nvPicPr>
        <p:blipFill>
          <a:blip r:embed="rId6"/>
          <a:stretch>
            <a:fillRect/>
          </a:stretch>
        </p:blipFill>
        <p:spPr>
          <a:xfrm>
            <a:off x="5001768" y="3886200"/>
            <a:ext cx="475488" cy="475488"/>
          </a:xfrm>
          <a:prstGeom prst="rect">
            <a:avLst/>
          </a:prstGeom>
        </p:spPr>
      </p:pic>
      <p:sp>
        <p:nvSpPr>
          <p:cNvPr id="32" name="Text 24"/>
          <p:cNvSpPr/>
          <p:nvPr/>
        </p:nvSpPr>
        <p:spPr>
          <a:xfrm>
            <a:off x="5605272" y="3703320"/>
            <a:ext cx="3246120" cy="36576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Scalable &amp; Cost-Effective</a:t>
            </a:r>
            <a:endParaRPr lang="en-US" sz="1400" dirty="0"/>
          </a:p>
        </p:txBody>
      </p:sp>
      <p:sp>
        <p:nvSpPr>
          <p:cNvPr id="33" name="Text 25"/>
          <p:cNvSpPr/>
          <p:nvPr/>
        </p:nvSpPr>
        <p:spPr>
          <a:xfrm>
            <a:off x="5605272" y="4069080"/>
            <a:ext cx="3246120" cy="658368"/>
          </a:xfrm>
          <a:prstGeom prst="rect">
            <a:avLst/>
          </a:prstGeom>
          <a:noFill/>
          <a:ln/>
        </p:spPr>
        <p:txBody>
          <a:bodyPr wrap="square" lIns="0" tIns="0" rIns="0" bIns="0" rtlCol="0" anchor="ctr"/>
          <a:lstStyle/>
          <a:p>
            <a:pPr indent="0" marL="0">
              <a:buNone/>
            </a:pPr>
            <a:r>
              <a:rPr lang="en-US" sz="1150" dirty="0">
                <a:solidFill>
                  <a:srgbClr val="3D5A60"/>
                </a:solidFill>
                <a:latin typeface="Calibri" pitchFamily="34" charset="0"/>
                <a:ea typeface="Calibri" pitchFamily="34" charset="-122"/>
                <a:cs typeface="Calibri" pitchFamily="34" charset="-120"/>
              </a:rPr>
              <a:t>Deployed on free Streamlit Cloud with Gemini API; zero cost for students and institutions.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417320"/>
          </a:xfrm>
          <a:prstGeom prst="rect">
            <a:avLst/>
          </a:prstGeom>
          <a:solidFill>
            <a:srgbClr val="028090"/>
          </a:solidFill>
          <a:ln w="12700">
            <a:solidFill>
              <a:srgbClr val="028090"/>
            </a:solidFill>
            <a:prstDash val="solid"/>
          </a:ln>
        </p:spPr>
      </p:sp>
      <p:sp>
        <p:nvSpPr>
          <p:cNvPr id="3" name="Text 1"/>
          <p:cNvSpPr/>
          <p:nvPr/>
        </p:nvSpPr>
        <p:spPr>
          <a:xfrm>
            <a:off x="365760" y="182880"/>
            <a:ext cx="841248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Conclusion &amp; Future Scope</a:t>
            </a:r>
            <a:endParaRPr lang="en-US" sz="3400" dirty="0"/>
          </a:p>
        </p:txBody>
      </p:sp>
      <p:sp>
        <p:nvSpPr>
          <p:cNvPr id="4" name="Text 2"/>
          <p:cNvSpPr/>
          <p:nvPr/>
        </p:nvSpPr>
        <p:spPr>
          <a:xfrm>
            <a:off x="365760" y="1554480"/>
            <a:ext cx="4114800" cy="347472"/>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Project Impact Summary</a:t>
            </a:r>
            <a:endParaRPr lang="en-US" sz="1600" dirty="0"/>
          </a:p>
        </p:txBody>
      </p:sp>
      <p:sp>
        <p:nvSpPr>
          <p:cNvPr id="5" name="Text 3"/>
          <p:cNvSpPr/>
          <p:nvPr/>
        </p:nvSpPr>
        <p:spPr>
          <a:xfrm>
            <a:off x="365760" y="1920240"/>
            <a:ext cx="4206240" cy="2560320"/>
          </a:xfrm>
          <a:prstGeom prst="rect">
            <a:avLst/>
          </a:prstGeom>
          <a:noFill/>
          <a:ln/>
        </p:spPr>
        <p:txBody>
          <a:bodyPr wrap="square" lIns="50800" tIns="50800" rIns="0" bIns="0" rtlCol="0" anchor="t"/>
          <a:lstStyle/>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Successfully built an end-to-end AI-powered bilingual STEM explainer</a:t>
            </a:r>
            <a:endParaRPr lang="en-US" sz="1300" dirty="0"/>
          </a:p>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Delivered dual-language content with Karnataka-specific analogies</a:t>
            </a:r>
            <a:endParaRPr lang="en-US" sz="1300" dirty="0"/>
          </a:p>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Integrated audio playback in English and Kannada via gTTS</a:t>
            </a:r>
            <a:endParaRPr lang="en-US" sz="1300" dirty="0"/>
          </a:p>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Supported five STEM subjects across three difficulty levels</a:t>
            </a:r>
            <a:endParaRPr lang="en-US" sz="1300" dirty="0"/>
          </a:p>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Created a deployable, zero-cost solution for rural students</a:t>
            </a:r>
            <a:endParaRPr lang="en-US" sz="1300" dirty="0"/>
          </a:p>
        </p:txBody>
      </p:sp>
      <p:sp>
        <p:nvSpPr>
          <p:cNvPr id="6" name="Text 4"/>
          <p:cNvSpPr/>
          <p:nvPr/>
        </p:nvSpPr>
        <p:spPr>
          <a:xfrm>
            <a:off x="4754880" y="1554480"/>
            <a:ext cx="4114800" cy="347472"/>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Future Scope</a:t>
            </a:r>
            <a:endParaRPr lang="en-US" sz="1600" dirty="0"/>
          </a:p>
        </p:txBody>
      </p:sp>
      <p:pic>
        <p:nvPicPr>
          <p:cNvPr id="7" name="Image 0" descr="preencoded.png">    </p:cNvPr>
          <p:cNvPicPr>
            <a:picLocks noChangeAspect="1"/>
          </p:cNvPicPr>
          <p:nvPr/>
        </p:nvPicPr>
        <p:blipFill>
          <a:blip r:embed="rId1"/>
          <a:stretch>
            <a:fillRect/>
          </a:stretch>
        </p:blipFill>
        <p:spPr>
          <a:xfrm>
            <a:off x="4754880" y="1993392"/>
            <a:ext cx="347472" cy="347472"/>
          </a:xfrm>
          <a:prstGeom prst="rect">
            <a:avLst/>
          </a:prstGeom>
        </p:spPr>
      </p:pic>
      <p:sp>
        <p:nvSpPr>
          <p:cNvPr id="8" name="Text 5"/>
          <p:cNvSpPr/>
          <p:nvPr/>
        </p:nvSpPr>
        <p:spPr>
          <a:xfrm>
            <a:off x="5257800" y="1920240"/>
            <a:ext cx="3566160" cy="566928"/>
          </a:xfrm>
          <a:prstGeom prst="rect">
            <a:avLst/>
          </a:prstGeom>
          <a:noFill/>
          <a:ln/>
        </p:spPr>
        <p:txBody>
          <a:bodyPr wrap="square" lIns="0" tIns="0" rIns="0" bIns="0" rtlCol="0" anchor="ctr"/>
          <a:lstStyle/>
          <a:p>
            <a:pPr indent="0" marL="0">
              <a:buNone/>
            </a:pPr>
            <a:r>
              <a:rPr lang="en-US" sz="1300" dirty="0">
                <a:solidFill>
                  <a:srgbClr val="1A2E35"/>
                </a:solidFill>
                <a:latin typeface="Calibri" pitchFamily="34" charset="0"/>
                <a:ea typeface="Calibri" pitchFamily="34" charset="-122"/>
                <a:cs typeface="Calibri" pitchFamily="34" charset="-120"/>
              </a:rPr>
              <a:t>Support 10+ Indian regional languages</a:t>
            </a:r>
            <a:endParaRPr lang="en-US" sz="1300" dirty="0"/>
          </a:p>
        </p:txBody>
      </p:sp>
      <p:pic>
        <p:nvPicPr>
          <p:cNvPr id="9" name="Image 1" descr="preencoded.png">    </p:cNvPr>
          <p:cNvPicPr>
            <a:picLocks noChangeAspect="1"/>
          </p:cNvPicPr>
          <p:nvPr/>
        </p:nvPicPr>
        <p:blipFill>
          <a:blip r:embed="rId2"/>
          <a:stretch>
            <a:fillRect/>
          </a:stretch>
        </p:blipFill>
        <p:spPr>
          <a:xfrm>
            <a:off x="4754880" y="2587752"/>
            <a:ext cx="347472" cy="347472"/>
          </a:xfrm>
          <a:prstGeom prst="rect">
            <a:avLst/>
          </a:prstGeom>
        </p:spPr>
      </p:pic>
      <p:sp>
        <p:nvSpPr>
          <p:cNvPr id="10" name="Text 6"/>
          <p:cNvSpPr/>
          <p:nvPr/>
        </p:nvSpPr>
        <p:spPr>
          <a:xfrm>
            <a:off x="5257800" y="2514600"/>
            <a:ext cx="3566160" cy="566928"/>
          </a:xfrm>
          <a:prstGeom prst="rect">
            <a:avLst/>
          </a:prstGeom>
          <a:noFill/>
          <a:ln/>
        </p:spPr>
        <p:txBody>
          <a:bodyPr wrap="square" lIns="0" tIns="0" rIns="0" bIns="0" rtlCol="0" anchor="ctr"/>
          <a:lstStyle/>
          <a:p>
            <a:pPr indent="0" marL="0">
              <a:buNone/>
            </a:pPr>
            <a:r>
              <a:rPr lang="en-US" sz="1300" dirty="0">
                <a:solidFill>
                  <a:srgbClr val="1A2E35"/>
                </a:solidFill>
                <a:latin typeface="Calibri" pitchFamily="34" charset="0"/>
                <a:ea typeface="Calibri" pitchFamily="34" charset="-122"/>
                <a:cs typeface="Calibri" pitchFamily="34" charset="-120"/>
              </a:rPr>
              <a:t>Integration with NCERT curriculum mapping</a:t>
            </a:r>
            <a:endParaRPr lang="en-US" sz="1300" dirty="0"/>
          </a:p>
        </p:txBody>
      </p:sp>
      <p:pic>
        <p:nvPicPr>
          <p:cNvPr id="11" name="Image 2" descr="preencoded.png">    </p:cNvPr>
          <p:cNvPicPr>
            <a:picLocks noChangeAspect="1"/>
          </p:cNvPicPr>
          <p:nvPr/>
        </p:nvPicPr>
        <p:blipFill>
          <a:blip r:embed="rId3"/>
          <a:stretch>
            <a:fillRect/>
          </a:stretch>
        </p:blipFill>
        <p:spPr>
          <a:xfrm>
            <a:off x="4754880" y="3182112"/>
            <a:ext cx="347472" cy="347472"/>
          </a:xfrm>
          <a:prstGeom prst="rect">
            <a:avLst/>
          </a:prstGeom>
        </p:spPr>
      </p:pic>
      <p:sp>
        <p:nvSpPr>
          <p:cNvPr id="12" name="Text 7"/>
          <p:cNvSpPr/>
          <p:nvPr/>
        </p:nvSpPr>
        <p:spPr>
          <a:xfrm>
            <a:off x="5257800" y="3108960"/>
            <a:ext cx="3566160" cy="566928"/>
          </a:xfrm>
          <a:prstGeom prst="rect">
            <a:avLst/>
          </a:prstGeom>
          <a:noFill/>
          <a:ln/>
        </p:spPr>
        <p:txBody>
          <a:bodyPr wrap="square" lIns="0" tIns="0" rIns="0" bIns="0" rtlCol="0" anchor="ctr"/>
          <a:lstStyle/>
          <a:p>
            <a:pPr indent="0" marL="0">
              <a:buNone/>
            </a:pPr>
            <a:r>
              <a:rPr lang="en-US" sz="1300" dirty="0">
                <a:solidFill>
                  <a:srgbClr val="1A2E35"/>
                </a:solidFill>
                <a:latin typeface="Calibri" pitchFamily="34" charset="0"/>
                <a:ea typeface="Calibri" pitchFamily="34" charset="-122"/>
                <a:cs typeface="Calibri" pitchFamily="34" charset="-120"/>
              </a:rPr>
              <a:t>Voice-based interaction &amp; STT input</a:t>
            </a:r>
            <a:endParaRPr lang="en-US" sz="1300" dirty="0"/>
          </a:p>
        </p:txBody>
      </p:sp>
      <p:pic>
        <p:nvPicPr>
          <p:cNvPr id="13" name="Image 3" descr="preencoded.png">    </p:cNvPr>
          <p:cNvPicPr>
            <a:picLocks noChangeAspect="1"/>
          </p:cNvPicPr>
          <p:nvPr/>
        </p:nvPicPr>
        <p:blipFill>
          <a:blip r:embed="rId4"/>
          <a:stretch>
            <a:fillRect/>
          </a:stretch>
        </p:blipFill>
        <p:spPr>
          <a:xfrm>
            <a:off x="4754880" y="3776472"/>
            <a:ext cx="347472" cy="347472"/>
          </a:xfrm>
          <a:prstGeom prst="rect">
            <a:avLst/>
          </a:prstGeom>
        </p:spPr>
      </p:pic>
      <p:sp>
        <p:nvSpPr>
          <p:cNvPr id="14" name="Text 8"/>
          <p:cNvSpPr/>
          <p:nvPr/>
        </p:nvSpPr>
        <p:spPr>
          <a:xfrm>
            <a:off x="5257800" y="3703320"/>
            <a:ext cx="3566160" cy="566928"/>
          </a:xfrm>
          <a:prstGeom prst="rect">
            <a:avLst/>
          </a:prstGeom>
          <a:noFill/>
          <a:ln/>
        </p:spPr>
        <p:txBody>
          <a:bodyPr wrap="square" lIns="0" tIns="0" rIns="0" bIns="0" rtlCol="0" anchor="ctr"/>
          <a:lstStyle/>
          <a:p>
            <a:pPr indent="0" marL="0">
              <a:buNone/>
            </a:pPr>
            <a:r>
              <a:rPr lang="en-US" sz="1300" dirty="0">
                <a:solidFill>
                  <a:srgbClr val="1A2E35"/>
                </a:solidFill>
                <a:latin typeface="Calibri" pitchFamily="34" charset="0"/>
                <a:ea typeface="Calibri" pitchFamily="34" charset="-122"/>
                <a:cs typeface="Calibri" pitchFamily="34" charset="-120"/>
              </a:rPr>
              <a:t>Mobile application (Android/iOS)</a:t>
            </a:r>
            <a:endParaRPr lang="en-US" sz="1300" dirty="0"/>
          </a:p>
        </p:txBody>
      </p:sp>
      <p:pic>
        <p:nvPicPr>
          <p:cNvPr id="15" name="Image 4" descr="preencoded.png">    </p:cNvPr>
          <p:cNvPicPr>
            <a:picLocks noChangeAspect="1"/>
          </p:cNvPicPr>
          <p:nvPr/>
        </p:nvPicPr>
        <p:blipFill>
          <a:blip r:embed="rId5"/>
          <a:stretch>
            <a:fillRect/>
          </a:stretch>
        </p:blipFill>
        <p:spPr>
          <a:xfrm>
            <a:off x="4754880" y="4370832"/>
            <a:ext cx="347472" cy="347472"/>
          </a:xfrm>
          <a:prstGeom prst="rect">
            <a:avLst/>
          </a:prstGeom>
        </p:spPr>
      </p:pic>
      <p:sp>
        <p:nvSpPr>
          <p:cNvPr id="16" name="Text 9"/>
          <p:cNvSpPr/>
          <p:nvPr/>
        </p:nvSpPr>
        <p:spPr>
          <a:xfrm>
            <a:off x="5257800" y="4297680"/>
            <a:ext cx="3566160" cy="566928"/>
          </a:xfrm>
          <a:prstGeom prst="rect">
            <a:avLst/>
          </a:prstGeom>
          <a:noFill/>
          <a:ln/>
        </p:spPr>
        <p:txBody>
          <a:bodyPr wrap="square" lIns="0" tIns="0" rIns="0" bIns="0" rtlCol="0" anchor="ctr"/>
          <a:lstStyle/>
          <a:p>
            <a:pPr indent="0" marL="0">
              <a:buNone/>
            </a:pPr>
            <a:r>
              <a:rPr lang="en-US" sz="1300" dirty="0">
                <a:solidFill>
                  <a:srgbClr val="1A2E35"/>
                </a:solidFill>
                <a:latin typeface="Calibri" pitchFamily="34" charset="0"/>
                <a:ea typeface="Calibri" pitchFamily="34" charset="-122"/>
                <a:cs typeface="Calibri" pitchFamily="34" charset="-120"/>
              </a:rPr>
              <a:t>Offline deployment for low-connectivity areas</a:t>
            </a:r>
            <a:endParaRPr lang="en-US" sz="1300" dirty="0"/>
          </a:p>
        </p:txBody>
      </p:sp>
      <p:sp>
        <p:nvSpPr>
          <p:cNvPr id="17" name="Shape 10"/>
          <p:cNvSpPr/>
          <p:nvPr/>
        </p:nvSpPr>
        <p:spPr>
          <a:xfrm>
            <a:off x="0" y="4709160"/>
            <a:ext cx="9144000" cy="434340"/>
          </a:xfrm>
          <a:prstGeom prst="rect">
            <a:avLst/>
          </a:prstGeom>
          <a:solidFill>
            <a:srgbClr val="E0F4F7"/>
          </a:solidFill>
          <a:ln w="12700">
            <a:solidFill>
              <a:srgbClr val="E0F4F7"/>
            </a:solidFill>
            <a:prstDash val="solid"/>
          </a:ln>
        </p:spPr>
      </p:sp>
      <p:sp>
        <p:nvSpPr>
          <p:cNvPr id="18" name="Text 11"/>
          <p:cNvSpPr/>
          <p:nvPr/>
        </p:nvSpPr>
        <p:spPr>
          <a:xfrm>
            <a:off x="274320" y="4727448"/>
            <a:ext cx="8595360" cy="402336"/>
          </a:xfrm>
          <a:prstGeom prst="rect">
            <a:avLst/>
          </a:prstGeom>
          <a:noFill/>
          <a:ln/>
        </p:spPr>
        <p:txBody>
          <a:bodyPr wrap="square" lIns="0" tIns="0" rIns="0" bIns="0" rtlCol="0" anchor="ctr"/>
          <a:lstStyle/>
          <a:p>
            <a:pPr algn="ctr" indent="0" marL="0">
              <a:buNone/>
            </a:pPr>
            <a:r>
              <a:rPr lang="en-US" sz="1300" b="1" i="1" dirty="0">
                <a:solidFill>
                  <a:srgbClr val="028090"/>
                </a:solidFill>
                <a:latin typeface="Calibri" pitchFamily="34" charset="0"/>
                <a:ea typeface="Calibri" pitchFamily="34" charset="-122"/>
                <a:cs typeface="Calibri" pitchFamily="34" charset="-120"/>
              </a:rPr>
              <a:t>"Bridging the language gap, one STEM concept at a time — empowering rural Karnataka's next generation."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Multilingual STEM Concept Explainer</dc:title>
  <dc:subject>PptxGenJS Presentation</dc:subject>
  <dc:creator>PptxGenJS</dc:creator>
  <cp:lastModifiedBy>PptxGenJS</cp:lastModifiedBy>
  <cp:revision>1</cp:revision>
  <dcterms:created xsi:type="dcterms:W3CDTF">2026-05-30T17:42:43Z</dcterms:created>
  <dcterms:modified xsi:type="dcterms:W3CDTF">2026-05-30T17:42:43Z</dcterms:modified>
</cp:coreProperties>
</file>