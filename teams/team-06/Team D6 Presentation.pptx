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2" r:id="rId2"/>
    <p:sldId id="261" r:id="rId3"/>
    <p:sldId id="263" r:id="rId4"/>
    <p:sldId id="265" r:id="rId5"/>
    <p:sldId id="264" r:id="rId6"/>
    <p:sldId id="270" r:id="rId7"/>
    <p:sldId id="266" r:id="rId8"/>
    <p:sldId id="271" r:id="rId9"/>
    <p:sldId id="272" r:id="rId10"/>
    <p:sldId id="268"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F711B-FB5D-DF59-1DE8-45CD4ACDB80D}" v="163" dt="2026-05-30T19:40:46.967"/>
    <p1510:client id="{9E9A8DBC-814F-E618-7E8D-C9221D8423C9}" v="18" dt="2026-05-31T01:48:19.964"/>
    <p1510:client id="{B39BD538-2A04-2472-7266-06AE9A550523}" v="649" dt="2026-05-31T01:12:02.223"/>
    <p1510:client id="{CA63CD1E-6EB2-FC6D-8211-8357F5EDFD63}" v="19" dt="2026-05-31T01:27:44.022"/>
    <p1510:client id="{D8E10E7A-F289-23D5-EE95-BD392366D6C6}" v="545" dt="2026-05-30T18:59:28.762"/>
    <p1510:client id="{EE9B0CA7-E57F-CBA3-1F50-5A430A65E70E}" v="368" dt="2026-05-30T18:37:45.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65D48C-BE21-4E05-9C77-3B97989229AD}" type="datetimeFigureOut">
              <a:rPr lang="en-US" smtClean="0"/>
              <a:t>5/30/2026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52397-2D00-494D-B530-435C2FA24F09}" type="slidenum">
              <a:rPr lang="en-US" smtClean="0"/>
              <a:t>‹#›</a:t>
            </a:fld>
            <a:endParaRPr lang="en-US"/>
          </a:p>
        </p:txBody>
      </p:sp>
    </p:spTree>
    <p:extLst>
      <p:ext uri="{BB962C8B-B14F-4D97-AF65-F5344CB8AC3E}">
        <p14:creationId xmlns:p14="http://schemas.microsoft.com/office/powerpoint/2010/main" val="2000731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Google Shape;85;p1:notes"/>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1683" name="Google Shape;86;p1:notes"/>
          <p:cNvSpPr>
            <a:spLocks noGrp="1" noRot="1" noChangeAspect="1" noTextEdit="1"/>
          </p:cNvSpPr>
          <p:nvPr>
            <p:ph type="sldImg" idx="2"/>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Google Shape;117;g136c2cfec24_0_2:notes"/>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p:cNvSpPr>
            <a:spLocks noGrp="1" noRot="1" noChangeAspect="1" noTextEdit="1"/>
          </p:cNvSpPr>
          <p:nvPr>
            <p:ph type="sldImg" idx="2"/>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440272-8992-10A8-1036-2514F1F4FF0D}"/>
            </a:ext>
          </a:extLst>
        </p:cNvPr>
        <p:cNvGrpSpPr/>
        <p:nvPr/>
      </p:nvGrpSpPr>
      <p:grpSpPr>
        <a:xfrm>
          <a:off x="0" y="0"/>
          <a:ext cx="0" cy="0"/>
          <a:chOff x="0" y="0"/>
          <a:chExt cx="0" cy="0"/>
        </a:xfrm>
      </p:grpSpPr>
      <p:sp>
        <p:nvSpPr>
          <p:cNvPr id="73730" name="Google Shape;117;g136c2cfec24_0_2:notes">
            <a:extLst>
              <a:ext uri="{FF2B5EF4-FFF2-40B4-BE49-F238E27FC236}">
                <a16:creationId xmlns:a16="http://schemas.microsoft.com/office/drawing/2014/main" id="{929A9DED-0C79-88DD-E6FD-80B17757E5E5}"/>
              </a:ext>
            </a:extLst>
          </p:cNvPr>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a:extLst>
              <a:ext uri="{FF2B5EF4-FFF2-40B4-BE49-F238E27FC236}">
                <a16:creationId xmlns:a16="http://schemas.microsoft.com/office/drawing/2014/main" id="{9E7F08D3-865E-DFC8-9F2A-19EDC9EDC78E}"/>
              </a:ext>
            </a:extLst>
          </p:cNvPr>
          <p:cNvSpPr>
            <a:spLocks noGrp="1" noRot="1" noChangeAspect="1" noTextEdit="1"/>
          </p:cNvSpPr>
          <p:nvPr>
            <p:ph type="sldImg" idx="2"/>
          </p:nvPr>
        </p:nvSpPr>
        <p:spPr/>
        <p:txBody>
          <a:bodyPr/>
          <a:lstStyle/>
          <a:p>
            <a:endParaRPr lang="en-IN"/>
          </a:p>
        </p:txBody>
      </p:sp>
    </p:spTree>
    <p:extLst>
      <p:ext uri="{BB962C8B-B14F-4D97-AF65-F5344CB8AC3E}">
        <p14:creationId xmlns:p14="http://schemas.microsoft.com/office/powerpoint/2010/main" val="608768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2F16D3-FD6F-B351-78D3-964A7FCB6E14}"/>
            </a:ext>
          </a:extLst>
        </p:cNvPr>
        <p:cNvGrpSpPr/>
        <p:nvPr/>
      </p:nvGrpSpPr>
      <p:grpSpPr>
        <a:xfrm>
          <a:off x="0" y="0"/>
          <a:ext cx="0" cy="0"/>
          <a:chOff x="0" y="0"/>
          <a:chExt cx="0" cy="0"/>
        </a:xfrm>
      </p:grpSpPr>
      <p:sp>
        <p:nvSpPr>
          <p:cNvPr id="73730" name="Google Shape;117;g136c2cfec24_0_2:notes">
            <a:extLst>
              <a:ext uri="{FF2B5EF4-FFF2-40B4-BE49-F238E27FC236}">
                <a16:creationId xmlns:a16="http://schemas.microsoft.com/office/drawing/2014/main" id="{BAFBDC86-0801-A459-7E00-EB5EDDD40C36}"/>
              </a:ext>
            </a:extLst>
          </p:cNvPr>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a:extLst>
              <a:ext uri="{FF2B5EF4-FFF2-40B4-BE49-F238E27FC236}">
                <a16:creationId xmlns:a16="http://schemas.microsoft.com/office/drawing/2014/main" id="{3A9C3B1B-894C-E96D-41E2-A8819EC4E3C3}"/>
              </a:ext>
            </a:extLst>
          </p:cNvPr>
          <p:cNvSpPr>
            <a:spLocks noGrp="1" noRot="1" noChangeAspect="1" noTextEdit="1"/>
          </p:cNvSpPr>
          <p:nvPr>
            <p:ph type="sldImg" idx="2"/>
          </p:nvPr>
        </p:nvSpPr>
        <p:spPr/>
        <p:txBody>
          <a:bodyPr/>
          <a:lstStyle/>
          <a:p>
            <a:endParaRPr lang="en-IN"/>
          </a:p>
        </p:txBody>
      </p:sp>
    </p:spTree>
    <p:extLst>
      <p:ext uri="{BB962C8B-B14F-4D97-AF65-F5344CB8AC3E}">
        <p14:creationId xmlns:p14="http://schemas.microsoft.com/office/powerpoint/2010/main" val="4167777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16E219C-8165-F6D1-DBD3-3CF332211BF4}"/>
            </a:ext>
          </a:extLst>
        </p:cNvPr>
        <p:cNvGrpSpPr/>
        <p:nvPr/>
      </p:nvGrpSpPr>
      <p:grpSpPr>
        <a:xfrm>
          <a:off x="0" y="0"/>
          <a:ext cx="0" cy="0"/>
          <a:chOff x="0" y="0"/>
          <a:chExt cx="0" cy="0"/>
        </a:xfrm>
      </p:grpSpPr>
      <p:sp>
        <p:nvSpPr>
          <p:cNvPr id="73730" name="Google Shape;117;g136c2cfec24_0_2:notes">
            <a:extLst>
              <a:ext uri="{FF2B5EF4-FFF2-40B4-BE49-F238E27FC236}">
                <a16:creationId xmlns:a16="http://schemas.microsoft.com/office/drawing/2014/main" id="{3601DF36-3F36-52F8-C171-8B2C6982E63E}"/>
              </a:ext>
            </a:extLst>
          </p:cNvPr>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a:extLst>
              <a:ext uri="{FF2B5EF4-FFF2-40B4-BE49-F238E27FC236}">
                <a16:creationId xmlns:a16="http://schemas.microsoft.com/office/drawing/2014/main" id="{9F279333-2FA6-2B69-8FD3-EA79691376DC}"/>
              </a:ext>
            </a:extLst>
          </p:cNvPr>
          <p:cNvSpPr>
            <a:spLocks noGrp="1" noRot="1" noChangeAspect="1" noTextEdit="1"/>
          </p:cNvSpPr>
          <p:nvPr>
            <p:ph type="sldImg" idx="2"/>
          </p:nvPr>
        </p:nvSpPr>
        <p:spPr/>
        <p:txBody>
          <a:bodyPr/>
          <a:lstStyle/>
          <a:p>
            <a:endParaRPr lang="en-IN"/>
          </a:p>
        </p:txBody>
      </p:sp>
    </p:spTree>
    <p:extLst>
      <p:ext uri="{BB962C8B-B14F-4D97-AF65-F5344CB8AC3E}">
        <p14:creationId xmlns:p14="http://schemas.microsoft.com/office/powerpoint/2010/main" val="349672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F022A5C-8B1F-55DB-9E22-00200A08E007}"/>
            </a:ext>
          </a:extLst>
        </p:cNvPr>
        <p:cNvGrpSpPr/>
        <p:nvPr/>
      </p:nvGrpSpPr>
      <p:grpSpPr>
        <a:xfrm>
          <a:off x="0" y="0"/>
          <a:ext cx="0" cy="0"/>
          <a:chOff x="0" y="0"/>
          <a:chExt cx="0" cy="0"/>
        </a:xfrm>
      </p:grpSpPr>
      <p:sp>
        <p:nvSpPr>
          <p:cNvPr id="73730" name="Google Shape;117;g136c2cfec24_0_2:notes">
            <a:extLst>
              <a:ext uri="{FF2B5EF4-FFF2-40B4-BE49-F238E27FC236}">
                <a16:creationId xmlns:a16="http://schemas.microsoft.com/office/drawing/2014/main" id="{95475D9C-12A0-2BE1-0059-DD124D149200}"/>
              </a:ext>
            </a:extLst>
          </p:cNvPr>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a:extLst>
              <a:ext uri="{FF2B5EF4-FFF2-40B4-BE49-F238E27FC236}">
                <a16:creationId xmlns:a16="http://schemas.microsoft.com/office/drawing/2014/main" id="{CC19155E-6D6D-6BC7-CC3F-F974461E1D8D}"/>
              </a:ext>
            </a:extLst>
          </p:cNvPr>
          <p:cNvSpPr>
            <a:spLocks noGrp="1" noRot="1" noChangeAspect="1" noTextEdit="1"/>
          </p:cNvSpPr>
          <p:nvPr>
            <p:ph type="sldImg" idx="2"/>
          </p:nvPr>
        </p:nvSpPr>
        <p:spPr/>
        <p:txBody>
          <a:bodyPr/>
          <a:lstStyle/>
          <a:p>
            <a:endParaRPr lang="en-IN"/>
          </a:p>
        </p:txBody>
      </p:sp>
    </p:spTree>
    <p:extLst>
      <p:ext uri="{BB962C8B-B14F-4D97-AF65-F5344CB8AC3E}">
        <p14:creationId xmlns:p14="http://schemas.microsoft.com/office/powerpoint/2010/main" val="2886011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3049439-0EB4-E985-9028-B3CFE883C9F7}"/>
            </a:ext>
          </a:extLst>
        </p:cNvPr>
        <p:cNvGrpSpPr/>
        <p:nvPr/>
      </p:nvGrpSpPr>
      <p:grpSpPr>
        <a:xfrm>
          <a:off x="0" y="0"/>
          <a:ext cx="0" cy="0"/>
          <a:chOff x="0" y="0"/>
          <a:chExt cx="0" cy="0"/>
        </a:xfrm>
      </p:grpSpPr>
      <p:sp>
        <p:nvSpPr>
          <p:cNvPr id="73730" name="Google Shape;117;g136c2cfec24_0_2:notes">
            <a:extLst>
              <a:ext uri="{FF2B5EF4-FFF2-40B4-BE49-F238E27FC236}">
                <a16:creationId xmlns:a16="http://schemas.microsoft.com/office/drawing/2014/main" id="{32C804A7-CAB5-66EE-E9EE-805A1E9C95CF}"/>
              </a:ext>
            </a:extLst>
          </p:cNvPr>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a:extLst>
              <a:ext uri="{FF2B5EF4-FFF2-40B4-BE49-F238E27FC236}">
                <a16:creationId xmlns:a16="http://schemas.microsoft.com/office/drawing/2014/main" id="{B651181C-65B9-4788-3F08-4BF8E0E8022E}"/>
              </a:ext>
            </a:extLst>
          </p:cNvPr>
          <p:cNvSpPr>
            <a:spLocks noGrp="1" noRot="1" noChangeAspect="1" noTextEdit="1"/>
          </p:cNvSpPr>
          <p:nvPr>
            <p:ph type="sldImg" idx="2"/>
          </p:nvPr>
        </p:nvSpPr>
        <p:spPr/>
        <p:txBody>
          <a:bodyPr/>
          <a:lstStyle/>
          <a:p>
            <a:endParaRPr lang="en-IN"/>
          </a:p>
        </p:txBody>
      </p:sp>
    </p:spTree>
    <p:extLst>
      <p:ext uri="{BB962C8B-B14F-4D97-AF65-F5344CB8AC3E}">
        <p14:creationId xmlns:p14="http://schemas.microsoft.com/office/powerpoint/2010/main" val="2024500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BE9C3C-E71E-8E84-3E0F-34974B96B91C}"/>
            </a:ext>
          </a:extLst>
        </p:cNvPr>
        <p:cNvGrpSpPr/>
        <p:nvPr/>
      </p:nvGrpSpPr>
      <p:grpSpPr>
        <a:xfrm>
          <a:off x="0" y="0"/>
          <a:ext cx="0" cy="0"/>
          <a:chOff x="0" y="0"/>
          <a:chExt cx="0" cy="0"/>
        </a:xfrm>
      </p:grpSpPr>
      <p:sp>
        <p:nvSpPr>
          <p:cNvPr id="73730" name="Google Shape;117;g136c2cfec24_0_2:notes">
            <a:extLst>
              <a:ext uri="{FF2B5EF4-FFF2-40B4-BE49-F238E27FC236}">
                <a16:creationId xmlns:a16="http://schemas.microsoft.com/office/drawing/2014/main" id="{0F6B28C0-47C2-5EA1-7B74-CBA780F3CE6E}"/>
              </a:ext>
            </a:extLst>
          </p:cNvPr>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a:extLst>
              <a:ext uri="{FF2B5EF4-FFF2-40B4-BE49-F238E27FC236}">
                <a16:creationId xmlns:a16="http://schemas.microsoft.com/office/drawing/2014/main" id="{4B7ECEC3-E7D7-F867-DD8D-50FD77D783FB}"/>
              </a:ext>
            </a:extLst>
          </p:cNvPr>
          <p:cNvSpPr>
            <a:spLocks noGrp="1" noRot="1" noChangeAspect="1" noTextEdit="1"/>
          </p:cNvSpPr>
          <p:nvPr>
            <p:ph type="sldImg" idx="2"/>
          </p:nvPr>
        </p:nvSpPr>
        <p:spPr/>
        <p:txBody>
          <a:bodyPr/>
          <a:lstStyle/>
          <a:p>
            <a:endParaRPr lang="en-IN"/>
          </a:p>
        </p:txBody>
      </p:sp>
    </p:spTree>
    <p:extLst>
      <p:ext uri="{BB962C8B-B14F-4D97-AF65-F5344CB8AC3E}">
        <p14:creationId xmlns:p14="http://schemas.microsoft.com/office/powerpoint/2010/main" val="960437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C8DEDB-AC69-2A60-C185-82BD943069A1}"/>
            </a:ext>
          </a:extLst>
        </p:cNvPr>
        <p:cNvGrpSpPr/>
        <p:nvPr/>
      </p:nvGrpSpPr>
      <p:grpSpPr>
        <a:xfrm>
          <a:off x="0" y="0"/>
          <a:ext cx="0" cy="0"/>
          <a:chOff x="0" y="0"/>
          <a:chExt cx="0" cy="0"/>
        </a:xfrm>
      </p:grpSpPr>
      <p:sp>
        <p:nvSpPr>
          <p:cNvPr id="73730" name="Google Shape;117;g136c2cfec24_0_2:notes">
            <a:extLst>
              <a:ext uri="{FF2B5EF4-FFF2-40B4-BE49-F238E27FC236}">
                <a16:creationId xmlns:a16="http://schemas.microsoft.com/office/drawing/2014/main" id="{8D9375D9-F8E9-6936-C2A9-A39D6DF16C19}"/>
              </a:ext>
            </a:extLst>
          </p:cNvPr>
          <p:cNvSpPr txBox="1">
            <a:spLocks noGrp="1"/>
          </p:cNvSpPr>
          <p:nvPr>
            <p:ph type="body" idx="1"/>
          </p:nvPr>
        </p:nvSpPr>
        <p:spPr/>
        <p:txBody>
          <a:bodyPr vert="horz" wrap="square" lIns="91425" tIns="45700" rIns="91425" bIns="45700" anchor="t" anchorCtr="0"/>
          <a:lstStyle/>
          <a:p>
            <a:pPr marL="0" lvl="0" indent="0" eaLnBrk="1" hangingPunct="1"/>
            <a:endParaRPr sz="1200">
              <a:latin typeface="Calibri" panose="020F0502020204030204" charset="0"/>
              <a:ea typeface="Calibri" panose="020F0502020204030204" charset="0"/>
              <a:sym typeface="Calibri" panose="020F0502020204030204" charset="0"/>
            </a:endParaRPr>
          </a:p>
        </p:txBody>
      </p:sp>
      <p:sp>
        <p:nvSpPr>
          <p:cNvPr id="73731" name="Google Shape;118;g136c2cfec24_0_2:notes">
            <a:extLst>
              <a:ext uri="{FF2B5EF4-FFF2-40B4-BE49-F238E27FC236}">
                <a16:creationId xmlns:a16="http://schemas.microsoft.com/office/drawing/2014/main" id="{60E018BF-FA24-BDDD-A2C0-FD076BE183CF}"/>
              </a:ext>
            </a:extLst>
          </p:cNvPr>
          <p:cNvSpPr>
            <a:spLocks noGrp="1" noRot="1" noChangeAspect="1" noTextEdit="1"/>
          </p:cNvSpPr>
          <p:nvPr>
            <p:ph type="sldImg" idx="2"/>
          </p:nvPr>
        </p:nvSpPr>
        <p:spPr/>
        <p:txBody>
          <a:bodyPr/>
          <a:lstStyle/>
          <a:p>
            <a:endParaRPr lang="en-IN"/>
          </a:p>
        </p:txBody>
      </p:sp>
    </p:spTree>
    <p:extLst>
      <p:ext uri="{BB962C8B-B14F-4D97-AF65-F5344CB8AC3E}">
        <p14:creationId xmlns:p14="http://schemas.microsoft.com/office/powerpoint/2010/main" val="2057329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E691B45-0F31-4A33-AFBF-ED1B8EA77E14}"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1912729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5AF8DB-1C73-4BA2-BAAC-522D01C7B2FD}"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2446518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AB1340-554C-4965-9BB8-32BD36468900}"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1653447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0DBC7F-B11D-4DB8-8CDB-EF08EBF93F38}"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2517986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242301-B01A-4A4E-ADB3-906126A30B74}" type="datetime1">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1098283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AC538E-FE0E-438E-A2FF-0ECD703F281D}" type="datetime1">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3955569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9F3D7E-7F8B-4C46-A238-A7B0007AFF68}" type="datetime1">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4110792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F7259A-0323-43D3-AFF2-178024BB0A46}"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3033415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03D118-DFEB-45CE-B83F-FB445A0C394D}" type="datetime1">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3838503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F3A6EB-8CA2-4D7D-ADDD-4E5964772C0C}"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1627899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1A2F0F-71B1-46C6-9A06-4C8AB8AD4445}" type="datetime1">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extLst>
      <p:ext uri="{BB962C8B-B14F-4D97-AF65-F5344CB8AC3E}">
        <p14:creationId xmlns:p14="http://schemas.microsoft.com/office/powerpoint/2010/main" val="887963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6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06C5A4-5523-48DB-A8EA-C3986630A553}" type="datetime1">
              <a:rPr lang="en-US" smtClean="0"/>
              <a:t>5/30/2026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extLst>
      <p:ext uri="{BB962C8B-B14F-4D97-AF65-F5344CB8AC3E}">
        <p14:creationId xmlns:p14="http://schemas.microsoft.com/office/powerpoint/2010/main" val="3889034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52" name="Google Shape;90;p1"/>
          <p:cNvCxnSpPr/>
          <p:nvPr/>
        </p:nvCxnSpPr>
        <p:spPr>
          <a:xfrm>
            <a:off x="0" y="1522413"/>
            <a:ext cx="12192000" cy="0"/>
          </a:xfrm>
          <a:prstGeom prst="straightConnector1">
            <a:avLst/>
          </a:prstGeom>
          <a:ln w="9525" cap="flat" cmpd="sng">
            <a:solidFill>
              <a:srgbClr val="C00000"/>
            </a:solidFill>
            <a:prstDash val="solid"/>
            <a:miter/>
            <a:headEnd type="none" w="sm" len="sm"/>
            <a:tailEnd type="none" w="sm" len="sm"/>
          </a:ln>
        </p:spPr>
      </p:cxnSp>
      <p:sp>
        <p:nvSpPr>
          <p:cNvPr id="8" name="TextBox 7"/>
          <p:cNvSpPr txBox="1"/>
          <p:nvPr/>
        </p:nvSpPr>
        <p:spPr>
          <a:xfrm>
            <a:off x="862149" y="2978331"/>
            <a:ext cx="10411097"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black"/>
              </a:solidFill>
              <a:effectLst/>
              <a:uLnTx/>
              <a:uFillTx/>
              <a:latin typeface="Times New Roman" pitchFamily="18" charset="0"/>
              <a:ea typeface="+mn-ea"/>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black"/>
              </a:solidFill>
              <a:effectLst/>
              <a:uLnTx/>
              <a:uFillTx/>
              <a:latin typeface="Times New Roman" pitchFamily="18" charset="0"/>
              <a:ea typeface="+mn-ea"/>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prstClr val="black"/>
              </a:solidFill>
              <a:effectLst/>
              <a:uLnTx/>
              <a:uFillTx/>
              <a:latin typeface="Times New Roman" pitchFamily="18" charset="0"/>
              <a:ea typeface="+mn-ea"/>
              <a:cs typeface="Times New Roman" pitchFamily="18" charset="0"/>
            </a:endParaRPr>
          </a:p>
        </p:txBody>
      </p:sp>
      <p:sp>
        <p:nvSpPr>
          <p:cNvPr id="11" name="TextBox 10"/>
          <p:cNvSpPr txBox="1"/>
          <p:nvPr/>
        </p:nvSpPr>
        <p:spPr>
          <a:xfrm>
            <a:off x="8610600" y="5467742"/>
            <a:ext cx="3265714" cy="677108"/>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Times New Roman" pitchFamily="18" charset="0"/>
                <a:ea typeface="+mn-ea"/>
                <a:cs typeface="Times New Roman" pitchFamily="18" charset="0"/>
              </a:rPr>
              <a:t>Under the Guidance Of: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err="1">
                <a:solidFill>
                  <a:srgbClr val="000000"/>
                </a:solidFill>
                <a:effectLst/>
                <a:latin typeface="Times New Roman" panose="02020603050405020304" pitchFamily="18" charset="0"/>
              </a:rPr>
              <a:t>Asst.Professor</a:t>
            </a:r>
            <a:r>
              <a:rPr lang="en-US" sz="1800" b="1" i="0" u="none" strike="noStrike">
                <a:solidFill>
                  <a:srgbClr val="000000"/>
                </a:solidFill>
                <a:effectLst/>
                <a:latin typeface="Times New Roman" panose="02020603050405020304" pitchFamily="18" charset="0"/>
              </a:rPr>
              <a:t> </a:t>
            </a:r>
            <a:r>
              <a:rPr lang="en-US" sz="1800" b="1" i="0" u="none" strike="noStrike" err="1">
                <a:solidFill>
                  <a:srgbClr val="000000"/>
                </a:solidFill>
                <a:effectLst/>
                <a:latin typeface="Times New Roman" panose="02020603050405020304" pitchFamily="18" charset="0"/>
              </a:rPr>
              <a:t>GuruPrasad</a:t>
            </a:r>
            <a:r>
              <a:rPr lang="en-US" sz="1800" b="1" i="0" u="none" strike="noStrike">
                <a:solidFill>
                  <a:srgbClr val="000000"/>
                </a:solidFill>
                <a:effectLst/>
                <a:latin typeface="Times New Roman" panose="02020603050405020304" pitchFamily="18" charset="0"/>
              </a:rPr>
              <a:t>  </a:t>
            </a:r>
            <a:r>
              <a:rPr lang="en-US" sz="1800" b="0" i="0">
                <a:solidFill>
                  <a:srgbClr val="000000"/>
                </a:solidFill>
                <a:effectLst/>
                <a:latin typeface="Times New Roman" panose="02020603050405020304" pitchFamily="18" charset="0"/>
              </a:rPr>
              <a:t>​</a:t>
            </a:r>
            <a:endParaRPr kumimoji="0" lang="en-US" sz="2000" b="1" i="0" u="none" strike="noStrike" kern="1200" cap="none" spc="0" normalizeH="0" baseline="0" noProof="0">
              <a:ln>
                <a:noFill/>
              </a:ln>
              <a:solidFill>
                <a:prstClr val="black"/>
              </a:solidFill>
              <a:effectLst/>
              <a:uLnTx/>
              <a:uFillTx/>
              <a:latin typeface="Times New Roman" pitchFamily="18" charset="0"/>
              <a:ea typeface="+mn-ea"/>
              <a:cs typeface="Times New Roman" pitchFamily="18" charset="0"/>
            </a:endParaRPr>
          </a:p>
        </p:txBody>
      </p:sp>
      <p:pic>
        <p:nvPicPr>
          <p:cNvPr id="16" name="Picture 15" descr="WhatsApp Image 2026-03-08 at 12.28.26 PM.jpeg"/>
          <p:cNvPicPr>
            <a:picLocks noChangeAspect="1"/>
          </p:cNvPicPr>
          <p:nvPr/>
        </p:nvPicPr>
        <p:blipFill>
          <a:blip r:embed="rId3"/>
          <a:stretch>
            <a:fillRect/>
          </a:stretch>
        </p:blipFill>
        <p:spPr>
          <a:xfrm>
            <a:off x="3060585" y="211274"/>
            <a:ext cx="6578220" cy="1228725"/>
          </a:xfrm>
          <a:prstGeom prst="rect">
            <a:avLst/>
          </a:prstGeom>
        </p:spPr>
      </p:pic>
      <p:sp>
        <p:nvSpPr>
          <p:cNvPr id="4" name="Slide Number Placeholder 3">
            <a:extLst>
              <a:ext uri="{FF2B5EF4-FFF2-40B4-BE49-F238E27FC236}">
                <a16:creationId xmlns:a16="http://schemas.microsoft.com/office/drawing/2014/main" id="{C4553E8A-D7CA-7880-C548-7CE2D38C1B3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TextBox 4">
            <a:extLst>
              <a:ext uri="{FF2B5EF4-FFF2-40B4-BE49-F238E27FC236}">
                <a16:creationId xmlns:a16="http://schemas.microsoft.com/office/drawing/2014/main" id="{58FA9B13-0D48-1FC2-EAAD-8AF751AF4772}"/>
              </a:ext>
            </a:extLst>
          </p:cNvPr>
          <p:cNvSpPr txBox="1"/>
          <p:nvPr/>
        </p:nvSpPr>
        <p:spPr>
          <a:xfrm>
            <a:off x="-24616" y="1774619"/>
            <a:ext cx="1218155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IN" sz="3600" b="1" i="0" u="none" strike="noStrike">
                <a:solidFill>
                  <a:srgbClr val="C0383C"/>
                </a:solidFill>
                <a:effectLst/>
                <a:latin typeface="Times"/>
                <a:cs typeface="Times"/>
              </a:rPr>
              <a:t>Smart Podcast Generation from Academic </a:t>
            </a:r>
            <a:endParaRPr lang="en-US" sz="3600">
              <a:solidFill>
                <a:srgbClr val="000000"/>
              </a:solidFill>
              <a:highlight>
                <a:srgbClr val="FFFFFF"/>
              </a:highlight>
              <a:latin typeface="Times"/>
              <a:cs typeface="Times"/>
            </a:endParaRPr>
          </a:p>
          <a:p>
            <a:pPr marL="0" marR="0" lvl="0" indent="0" algn="ctr" defTabSz="914400">
              <a:lnSpc>
                <a:spcPct val="100000"/>
              </a:lnSpc>
              <a:spcBef>
                <a:spcPts val="0"/>
              </a:spcBef>
              <a:spcAft>
                <a:spcPts val="0"/>
              </a:spcAft>
              <a:buClrTx/>
              <a:buSzTx/>
              <a:buFontTx/>
              <a:buNone/>
              <a:tabLst/>
              <a:defRPr/>
            </a:pPr>
            <a:r>
              <a:rPr lang="en-IN" sz="3600" b="1" i="0" u="none" strike="noStrike">
                <a:solidFill>
                  <a:srgbClr val="C0383C"/>
                </a:solidFill>
                <a:effectLst/>
                <a:latin typeface="Times"/>
                <a:cs typeface="Times"/>
              </a:rPr>
              <a:t>Research Papers</a:t>
            </a:r>
            <a:endParaRPr lang="en-US" sz="3600" b="0" i="0" u="none" strike="noStrike" kern="1200" cap="none" spc="0" normalizeH="0" baseline="0" noProof="0">
              <a:ln>
                <a:noFill/>
              </a:ln>
              <a:solidFill>
                <a:srgbClr val="000000"/>
              </a:solidFill>
              <a:effectLst/>
              <a:highlight>
                <a:srgbClr val="FFFFFF"/>
              </a:highlight>
              <a:uLnTx/>
              <a:uFillTx/>
              <a:latin typeface="Times"/>
              <a:cs typeface="Time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0" i="0" u="none" strike="noStrike" kern="1200" cap="none" spc="0" normalizeH="0" baseline="0" noProof="0">
              <a:ln>
                <a:noFill/>
              </a:ln>
              <a:solidFill>
                <a:srgbClr val="000000"/>
              </a:solidFill>
              <a:effectLst/>
              <a:highlight>
                <a:srgbClr val="FFFFFF"/>
              </a:highlight>
              <a:uLnTx/>
              <a:uFillTx/>
              <a:latin typeface="Times New Roman"/>
              <a:cs typeface="Times New Roman"/>
            </a:endParaRPr>
          </a:p>
        </p:txBody>
      </p:sp>
      <p:sp>
        <p:nvSpPr>
          <p:cNvPr id="2" name="TextBox 1">
            <a:extLst>
              <a:ext uri="{FF2B5EF4-FFF2-40B4-BE49-F238E27FC236}">
                <a16:creationId xmlns:a16="http://schemas.microsoft.com/office/drawing/2014/main" id="{13E724A8-BBEF-49C6-8517-3E045038AE9B}"/>
              </a:ext>
            </a:extLst>
          </p:cNvPr>
          <p:cNvSpPr txBox="1"/>
          <p:nvPr/>
        </p:nvSpPr>
        <p:spPr>
          <a:xfrm>
            <a:off x="3300829" y="3029253"/>
            <a:ext cx="5130265" cy="2308324"/>
          </a:xfrm>
          <a:prstGeom prst="rect">
            <a:avLst/>
          </a:prstGeom>
          <a:noFill/>
        </p:spPr>
        <p:txBody>
          <a:bodyPr wrap="square" lIns="91440" tIns="45720" rIns="91440" bIns="45720" rtlCol="0" anchor="t">
            <a:spAutoFit/>
          </a:bodyPr>
          <a:lstStyle/>
          <a:p>
            <a:pPr algn="ctr" rtl="0" fontAlgn="base"/>
            <a:r>
              <a:rPr lang="en-US" sz="1800" b="1" i="0" u="none" strike="noStrike">
                <a:solidFill>
                  <a:srgbClr val="000000"/>
                </a:solidFill>
                <a:effectLst/>
                <a:latin typeface="Times New Roman" panose="02020603050405020304" pitchFamily="18" charset="0"/>
              </a:rPr>
              <a:t>Team No: 06</a:t>
            </a:r>
            <a:r>
              <a:rPr lang="en-US" sz="1800" b="0" i="0">
                <a:solidFill>
                  <a:srgbClr val="000000"/>
                </a:solidFill>
                <a:effectLst/>
                <a:latin typeface="Times New Roman" panose="02020603050405020304" pitchFamily="18" charset="0"/>
              </a:rPr>
              <a:t>​</a:t>
            </a:r>
            <a:endParaRPr lang="en-US" b="0" i="0">
              <a:solidFill>
                <a:srgbClr val="000000"/>
              </a:solidFill>
              <a:effectLst/>
              <a:latin typeface="Segoe UI" panose="020B0502040204020203" pitchFamily="34" charset="0"/>
            </a:endParaRPr>
          </a:p>
          <a:p>
            <a:pPr algn="ctr"/>
            <a:endParaRPr lang="en-US">
              <a:solidFill>
                <a:srgbClr val="000000"/>
              </a:solidFill>
              <a:latin typeface="Times New Roman"/>
              <a:cs typeface="Times New Roman"/>
            </a:endParaRPr>
          </a:p>
          <a:p>
            <a:pPr algn="ctr" fontAlgn="base"/>
            <a:r>
              <a:rPr lang="en-US" b="1">
                <a:solidFill>
                  <a:srgbClr val="000000"/>
                </a:solidFill>
                <a:latin typeface="Times New Roman"/>
                <a:cs typeface="Times New Roman"/>
              </a:rPr>
              <a:t>  </a:t>
            </a:r>
            <a:r>
              <a:rPr lang="en-US" sz="1800" b="1" i="0" u="none" strike="noStrike">
                <a:solidFill>
                  <a:srgbClr val="000000"/>
                </a:solidFill>
                <a:effectLst/>
                <a:latin typeface="Times New Roman"/>
                <a:cs typeface="Times New Roman"/>
              </a:rPr>
              <a:t>Presented By</a:t>
            </a:r>
            <a:endParaRPr lang="en-US">
              <a:solidFill>
                <a:srgbClr val="000000"/>
              </a:solidFill>
              <a:latin typeface="Times New Roman"/>
              <a:cs typeface="Times New Roman"/>
            </a:endParaRPr>
          </a:p>
          <a:p>
            <a:pPr algn="ctr"/>
            <a:endParaRPr lang="en-US">
              <a:solidFill>
                <a:srgbClr val="000000"/>
              </a:solidFill>
              <a:latin typeface="Times New Roman"/>
              <a:cs typeface="Times New Roman"/>
            </a:endParaRPr>
          </a:p>
          <a:p>
            <a:pPr algn="ctr"/>
            <a:r>
              <a:rPr lang="en-US" sz="1800" b="1" i="0" u="none" strike="noStrike">
                <a:solidFill>
                  <a:srgbClr val="000000"/>
                </a:solidFill>
                <a:effectLst/>
                <a:latin typeface="Times New Roman"/>
                <a:cs typeface="Times New Roman"/>
              </a:rPr>
              <a:t>Priyanka Badiger      01FE23BCS182</a:t>
            </a:r>
            <a:r>
              <a:rPr lang="en-US" sz="1800" b="0" i="0">
                <a:solidFill>
                  <a:srgbClr val="000000"/>
                </a:solidFill>
                <a:effectLst/>
                <a:latin typeface="Times New Roman"/>
                <a:cs typeface="Times New Roman"/>
              </a:rPr>
              <a:t>​</a:t>
            </a:r>
            <a:endParaRPr lang="en-US"/>
          </a:p>
          <a:p>
            <a:pPr fontAlgn="base"/>
            <a:r>
              <a:rPr lang="en-US" sz="1800" b="1" i="0" u="none" strike="noStrike">
                <a:solidFill>
                  <a:srgbClr val="000000"/>
                </a:solidFill>
                <a:effectLst/>
                <a:latin typeface="Times New Roman"/>
                <a:cs typeface="Times New Roman"/>
              </a:rPr>
              <a:t>         </a:t>
            </a:r>
            <a:r>
              <a:rPr lang="en-US" b="1">
                <a:solidFill>
                  <a:srgbClr val="000000"/>
                </a:solidFill>
                <a:latin typeface="Times New Roman"/>
                <a:cs typeface="Times New Roman"/>
              </a:rPr>
              <a:t>   </a:t>
            </a:r>
            <a:r>
              <a:rPr lang="en-US" sz="1800" b="1" i="0" u="none" strike="noStrike">
                <a:solidFill>
                  <a:srgbClr val="000000"/>
                </a:solidFill>
                <a:effectLst/>
                <a:latin typeface="Times New Roman"/>
                <a:cs typeface="Times New Roman"/>
              </a:rPr>
              <a:t>Aishwarya Talikoti    01FE24BCS189</a:t>
            </a:r>
            <a:r>
              <a:rPr lang="en-US" sz="1800" b="0" i="0">
                <a:solidFill>
                  <a:srgbClr val="000000"/>
                </a:solidFill>
                <a:effectLst/>
                <a:latin typeface="Times New Roman"/>
                <a:cs typeface="Times New Roman"/>
              </a:rPr>
              <a:t>​</a:t>
            </a:r>
            <a:endParaRPr lang="en-US" b="0" i="0">
              <a:solidFill>
                <a:srgbClr val="000000"/>
              </a:solidFill>
              <a:effectLst/>
              <a:latin typeface="Times New Roman"/>
              <a:cs typeface="Times New Roman"/>
            </a:endParaRPr>
          </a:p>
          <a:p>
            <a:pPr fontAlgn="base"/>
            <a:r>
              <a:rPr lang="en-US" sz="1800" b="1" i="0" u="none" strike="noStrike">
                <a:solidFill>
                  <a:srgbClr val="000000"/>
                </a:solidFill>
                <a:effectLst/>
                <a:latin typeface="Times New Roman"/>
                <a:cs typeface="Times New Roman"/>
              </a:rPr>
              <a:t>         </a:t>
            </a:r>
            <a:r>
              <a:rPr lang="en-US" b="1">
                <a:solidFill>
                  <a:srgbClr val="000000"/>
                </a:solidFill>
                <a:latin typeface="Times New Roman"/>
                <a:cs typeface="Times New Roman"/>
              </a:rPr>
              <a:t>   </a:t>
            </a:r>
            <a:r>
              <a:rPr lang="en-US" sz="1800" b="1" i="0" u="none" strike="noStrike">
                <a:solidFill>
                  <a:srgbClr val="000000"/>
                </a:solidFill>
                <a:effectLst/>
                <a:latin typeface="Times New Roman"/>
                <a:cs typeface="Times New Roman"/>
              </a:rPr>
              <a:t>Preeti </a:t>
            </a:r>
            <a:r>
              <a:rPr lang="en-US" sz="1800" b="1" i="0" u="none" strike="noStrike" err="1">
                <a:solidFill>
                  <a:srgbClr val="000000"/>
                </a:solidFill>
                <a:effectLst/>
                <a:latin typeface="Times New Roman"/>
                <a:cs typeface="Times New Roman"/>
              </a:rPr>
              <a:t>Chalawadi</a:t>
            </a:r>
            <a:r>
              <a:rPr lang="en-US" sz="1800" b="1" i="0" u="none" strike="noStrike">
                <a:solidFill>
                  <a:srgbClr val="000000"/>
                </a:solidFill>
                <a:effectLst/>
                <a:latin typeface="Times New Roman"/>
                <a:cs typeface="Times New Roman"/>
              </a:rPr>
              <a:t>       01FE23BCS154</a:t>
            </a:r>
            <a:r>
              <a:rPr lang="en-US" sz="1800" b="0" i="0">
                <a:solidFill>
                  <a:srgbClr val="000000"/>
                </a:solidFill>
                <a:effectLst/>
                <a:latin typeface="Times New Roman"/>
                <a:cs typeface="Times New Roman"/>
              </a:rPr>
              <a:t>​</a:t>
            </a:r>
            <a:endParaRPr lang="en-US" b="0" i="0">
              <a:solidFill>
                <a:srgbClr val="000000"/>
              </a:solidFill>
              <a:effectLst/>
              <a:latin typeface="Times New Roman"/>
              <a:cs typeface="Times New Roman"/>
            </a:endParaRPr>
          </a:p>
          <a:p>
            <a:pPr fontAlgn="base"/>
            <a:r>
              <a:rPr lang="en-US" sz="1800" b="1" i="0" u="none" strike="noStrike">
                <a:solidFill>
                  <a:srgbClr val="000000"/>
                </a:solidFill>
                <a:effectLst/>
                <a:latin typeface="Times New Roman"/>
                <a:cs typeface="Times New Roman"/>
              </a:rPr>
              <a:t>         </a:t>
            </a:r>
            <a:r>
              <a:rPr lang="en-US" b="1">
                <a:solidFill>
                  <a:srgbClr val="000000"/>
                </a:solidFill>
                <a:latin typeface="Times New Roman"/>
                <a:cs typeface="Times New Roman"/>
              </a:rPr>
              <a:t>   </a:t>
            </a:r>
            <a:r>
              <a:rPr lang="en-US" sz="1800" b="1" i="0" u="none" strike="noStrike">
                <a:solidFill>
                  <a:srgbClr val="000000"/>
                </a:solidFill>
                <a:effectLst/>
                <a:latin typeface="Times New Roman"/>
                <a:cs typeface="Times New Roman"/>
              </a:rPr>
              <a:t>Shrutika </a:t>
            </a:r>
            <a:r>
              <a:rPr lang="en-US" sz="1800" b="1" i="0" u="none" strike="noStrike" err="1">
                <a:solidFill>
                  <a:srgbClr val="000000"/>
                </a:solidFill>
                <a:effectLst/>
                <a:latin typeface="Times New Roman"/>
                <a:cs typeface="Times New Roman"/>
              </a:rPr>
              <a:t>Ambure</a:t>
            </a:r>
            <a:r>
              <a:rPr lang="en-US" sz="1800" b="1" i="0" u="none" strike="noStrike">
                <a:solidFill>
                  <a:srgbClr val="000000"/>
                </a:solidFill>
                <a:effectLst/>
                <a:latin typeface="Times New Roman"/>
                <a:cs typeface="Times New Roman"/>
              </a:rPr>
              <a:t> </a:t>
            </a:r>
            <a:r>
              <a:rPr lang="en-US" b="1">
                <a:solidFill>
                  <a:srgbClr val="000000"/>
                </a:solidFill>
                <a:latin typeface="Times New Roman"/>
                <a:cs typeface="Times New Roman"/>
              </a:rPr>
              <a:t> </a:t>
            </a:r>
            <a:r>
              <a:rPr lang="en-US" sz="1800" b="1" i="0" u="none" strike="noStrike">
                <a:solidFill>
                  <a:srgbClr val="000000"/>
                </a:solidFill>
                <a:effectLst/>
                <a:latin typeface="Times New Roman"/>
                <a:cs typeface="Times New Roman"/>
              </a:rPr>
              <a:t>    </a:t>
            </a:r>
            <a:r>
              <a:rPr lang="en-US" b="1">
                <a:solidFill>
                  <a:srgbClr val="000000"/>
                </a:solidFill>
                <a:latin typeface="Times New Roman"/>
                <a:cs typeface="Times New Roman"/>
              </a:rPr>
              <a:t> </a:t>
            </a:r>
            <a:r>
              <a:rPr lang="en-US" sz="1800" b="1" i="0" u="none" strike="noStrike">
                <a:solidFill>
                  <a:srgbClr val="000000"/>
                </a:solidFill>
                <a:effectLst/>
                <a:latin typeface="Times New Roman"/>
                <a:cs typeface="Times New Roman"/>
              </a:rPr>
              <a:t>01FE23BCS198</a:t>
            </a:r>
            <a:endParaRPr lang="en-US" b="0" i="0">
              <a:solidFill>
                <a:srgbClr val="000000"/>
              </a:solidFill>
              <a:effectLst/>
              <a:latin typeface="Times New Roman"/>
              <a:cs typeface="Times New Roman"/>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01" name="Google Shape;124;g136c2cfec24_0_2"/>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35D26863-71E5-5C21-56D2-6DFBDEB56C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descr="WhatsApp Image 2026-03-08 at 12.28.26 PM.jpeg">
            <a:extLst>
              <a:ext uri="{FF2B5EF4-FFF2-40B4-BE49-F238E27FC236}">
                <a16:creationId xmlns:a16="http://schemas.microsoft.com/office/drawing/2014/main" id="{B9922EB2-E2F4-8C61-062C-BE98CFD65BE5}"/>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D9AD266C-629B-4146-DB41-756477D3BE5D}"/>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TextBox 4">
            <a:extLst>
              <a:ext uri="{FF2B5EF4-FFF2-40B4-BE49-F238E27FC236}">
                <a16:creationId xmlns:a16="http://schemas.microsoft.com/office/drawing/2014/main" id="{0F2F765D-8F61-436F-95C8-46DFFDE61B50}"/>
              </a:ext>
            </a:extLst>
          </p:cNvPr>
          <p:cNvSpPr txBox="1"/>
          <p:nvPr/>
        </p:nvSpPr>
        <p:spPr>
          <a:xfrm>
            <a:off x="250879" y="1536018"/>
            <a:ext cx="6749240" cy="4801314"/>
          </a:xfrm>
          <a:prstGeom prst="rect">
            <a:avLst/>
          </a:prstGeom>
          <a:noFill/>
        </p:spPr>
        <p:txBody>
          <a:bodyPr wrap="square" lIns="91440" tIns="45720" rIns="91440" bIns="45720" rtlCol="0" anchor="t">
            <a:spAutoFit/>
          </a:bodyPr>
          <a:lstStyle/>
          <a:p>
            <a:pPr algn="just"/>
            <a:r>
              <a:rPr lang="en-US">
                <a:latin typeface="Times New Roman"/>
                <a:cs typeface="Times New Roman"/>
              </a:rPr>
              <a:t>Research papers contain valuable scientific knowledge, but their technical language and complex structure often make them difficult for students, researchers, and the general public to understand. At the same time, podcasts have become one of the most popular and accessible formats for consuming information, allowing people to learn while commuting, exercising, or performing daily activities.</a:t>
            </a:r>
            <a:endParaRPr lang="en-US">
              <a:latin typeface="Calibri"/>
              <a:ea typeface="Calibri"/>
              <a:cs typeface="Calibri"/>
            </a:endParaRP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a:cs typeface="Times New Roman"/>
              </a:rPr>
              <a:t>This project, leverages Generative AI to bridge the gap between academic research and public understanding. The system automatically converts research paper PDFs into engaging podcast episodes by generating a structured host–guest conversation, listener-friendly analogies, key takeaways, and detailed show notes with timestamps.</a:t>
            </a: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By transforming dense academic content into an easy-to-understand audio-friendly format, the proposed solution enhances science communication, improves knowledge accessibility, and enables researchers to reach a broader audience efficiently</a:t>
            </a:r>
            <a:r>
              <a:rPr lang="en-US"/>
              <a:t>.</a:t>
            </a:r>
            <a:endParaRPr lang="en-US">
              <a:ea typeface="Calibri"/>
              <a:cs typeface="Calibri"/>
            </a:endParaRPr>
          </a:p>
        </p:txBody>
      </p:sp>
      <p:sp>
        <p:nvSpPr>
          <p:cNvPr id="8" name="TextBox 7">
            <a:extLst>
              <a:ext uri="{FF2B5EF4-FFF2-40B4-BE49-F238E27FC236}">
                <a16:creationId xmlns:a16="http://schemas.microsoft.com/office/drawing/2014/main" id="{9A62FC9D-C0A8-4F3A-840F-17E0011FECFC}"/>
              </a:ext>
            </a:extLst>
          </p:cNvPr>
          <p:cNvSpPr txBox="1"/>
          <p:nvPr/>
        </p:nvSpPr>
        <p:spPr>
          <a:xfrm>
            <a:off x="249530" y="115018"/>
            <a:ext cx="7245779" cy="800219"/>
          </a:xfrm>
          <a:prstGeom prst="rect">
            <a:avLst/>
          </a:prstGeom>
          <a:noFill/>
        </p:spPr>
        <p:txBody>
          <a:bodyPr wrap="square" lIns="91440" tIns="45720" rIns="91440" bIns="45720" rtlCol="0" anchor="t">
            <a:spAutoFit/>
          </a:bodyPr>
          <a:lstStyle/>
          <a:p>
            <a:r>
              <a:rPr lang="en-IN" sz="2800" b="1">
                <a:solidFill>
                  <a:srgbClr val="C0383C"/>
                </a:solidFill>
                <a:latin typeface="Times New Roman"/>
                <a:cs typeface="Times New Roman"/>
              </a:rPr>
              <a:t>Introduction</a:t>
            </a:r>
            <a:endParaRPr lang="en-IN" sz="2800" b="1" i="0" u="none" strike="noStrike" kern="1200" cap="none" spc="0" normalizeH="0" baseline="0" noProof="0">
              <a:ln>
                <a:noFill/>
              </a:ln>
              <a:solidFill>
                <a:srgbClr val="C0383C"/>
              </a:solidFill>
              <a:effectLst/>
              <a:uLnTx/>
              <a:uFillTx/>
              <a:latin typeface="Times New Roman" panose="02020603050405020304" pitchFamily="18" charset="0"/>
              <a:cs typeface="Times New Roman" panose="02020603050405020304" pitchFamily="18" charset="0"/>
            </a:endParaRPr>
          </a:p>
          <a:p>
            <a:endParaRPr lang="en-US"/>
          </a:p>
        </p:txBody>
      </p:sp>
      <p:pic>
        <p:nvPicPr>
          <p:cNvPr id="9" name="Picture 8">
            <a:extLst>
              <a:ext uri="{FF2B5EF4-FFF2-40B4-BE49-F238E27FC236}">
                <a16:creationId xmlns:a16="http://schemas.microsoft.com/office/drawing/2014/main" id="{576E82FE-6C03-4A6C-A1A4-EF6B03DE3227}"/>
              </a:ext>
            </a:extLst>
          </p:cNvPr>
          <p:cNvPicPr>
            <a:picLocks noChangeAspect="1"/>
          </p:cNvPicPr>
          <p:nvPr/>
        </p:nvPicPr>
        <p:blipFill>
          <a:blip r:embed="rId4"/>
          <a:stretch>
            <a:fillRect/>
          </a:stretch>
        </p:blipFill>
        <p:spPr>
          <a:xfrm>
            <a:off x="7499218" y="1531520"/>
            <a:ext cx="4533500" cy="3745454"/>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7434-D5AE-D032-0C0D-CF63EE4708EA}"/>
            </a:ext>
          </a:extLst>
        </p:cNvPr>
        <p:cNvGrpSpPr/>
        <p:nvPr/>
      </p:nvGrpSpPr>
      <p:grpSpPr>
        <a:xfrm>
          <a:off x="0" y="0"/>
          <a:ext cx="0" cy="0"/>
          <a:chOff x="0" y="0"/>
          <a:chExt cx="0" cy="0"/>
        </a:xfrm>
      </p:grpSpPr>
      <p:cxnSp>
        <p:nvCxnSpPr>
          <p:cNvPr id="4101" name="Google Shape;124;g136c2cfec24_0_2">
            <a:extLst>
              <a:ext uri="{FF2B5EF4-FFF2-40B4-BE49-F238E27FC236}">
                <a16:creationId xmlns:a16="http://schemas.microsoft.com/office/drawing/2014/main" id="{A72D8331-911D-4594-9C3F-FA29BF851E65}"/>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30F5BF2F-900A-6C5A-B23A-AA8D2D148FF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Times New Roman"/>
                <a:cs typeface="Times New Roman"/>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Times New Roman"/>
              <a:cs typeface="Times New Roman"/>
            </a:endParaRPr>
          </a:p>
        </p:txBody>
      </p:sp>
      <p:pic>
        <p:nvPicPr>
          <p:cNvPr id="7" name="Picture 6" descr="WhatsApp Image 2026-03-08 at 12.28.26 PM.jpeg">
            <a:extLst>
              <a:ext uri="{FF2B5EF4-FFF2-40B4-BE49-F238E27FC236}">
                <a16:creationId xmlns:a16="http://schemas.microsoft.com/office/drawing/2014/main" id="{87C5A022-A5E1-7CDE-55C0-2EC24E9BCBB8}"/>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1EFADA43-4739-9045-3E31-965BCE8A944E}"/>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5" name="TextBox 4">
            <a:extLst>
              <a:ext uri="{FF2B5EF4-FFF2-40B4-BE49-F238E27FC236}">
                <a16:creationId xmlns:a16="http://schemas.microsoft.com/office/drawing/2014/main" id="{2333172D-BB4D-21A3-DF90-8AB4E77F3556}"/>
              </a:ext>
            </a:extLst>
          </p:cNvPr>
          <p:cNvSpPr txBox="1"/>
          <p:nvPr/>
        </p:nvSpPr>
        <p:spPr>
          <a:xfrm>
            <a:off x="334386" y="1348128"/>
            <a:ext cx="11522523" cy="1289071"/>
          </a:xfrm>
          <a:prstGeom prst="rect">
            <a:avLst/>
          </a:prstGeom>
          <a:noFill/>
        </p:spPr>
        <p:txBody>
          <a:bodyPr wrap="square" lIns="91440" tIns="45720" rIns="91440" bIns="45720" rtlCol="0" anchor="t">
            <a:spAutoFit/>
          </a:bodyPr>
          <a:lstStyle/>
          <a:p>
            <a:pPr algn="just">
              <a:lnSpc>
                <a:spcPct val="150000"/>
              </a:lnSpc>
            </a:pPr>
            <a:r>
              <a:rPr lang="en-US">
                <a:latin typeface="Times New Roman"/>
                <a:ea typeface="+mn-lt"/>
                <a:cs typeface="Times New Roman"/>
              </a:rPr>
              <a:t>The increasing volume of research publications makes it difficult to communicate scientific findings effectively. Research papers are often lengthy and technical, limiting accessibility. This project proposes a GenAI-based solution that converts research papers into podcast-style content with dialogues, key takeaways, show notes, and audio generation.</a:t>
            </a:r>
            <a:endParaRPr lang="en-US">
              <a:latin typeface="Times New Roman"/>
              <a:cs typeface="Times New Roman"/>
            </a:endParaRPr>
          </a:p>
        </p:txBody>
      </p:sp>
      <p:sp>
        <p:nvSpPr>
          <p:cNvPr id="8" name="TextBox 7">
            <a:extLst>
              <a:ext uri="{FF2B5EF4-FFF2-40B4-BE49-F238E27FC236}">
                <a16:creationId xmlns:a16="http://schemas.microsoft.com/office/drawing/2014/main" id="{8EF20807-8BE2-19A7-58EF-88DBD0F1760D}"/>
              </a:ext>
            </a:extLst>
          </p:cNvPr>
          <p:cNvSpPr txBox="1"/>
          <p:nvPr/>
        </p:nvSpPr>
        <p:spPr>
          <a:xfrm>
            <a:off x="249530" y="407292"/>
            <a:ext cx="7245779" cy="1077218"/>
          </a:xfrm>
          <a:prstGeom prst="rect">
            <a:avLst/>
          </a:prstGeom>
          <a:noFill/>
        </p:spPr>
        <p:txBody>
          <a:bodyPr wrap="square" lIns="91440" tIns="45720" rIns="91440" bIns="45720" rtlCol="0" anchor="t">
            <a:spAutoFit/>
          </a:bodyPr>
          <a:lstStyle/>
          <a:p>
            <a:r>
              <a:rPr lang="en-IN" sz="3200" b="1">
                <a:solidFill>
                  <a:srgbClr val="C0383C"/>
                </a:solidFill>
                <a:latin typeface="Times New Roman"/>
                <a:cs typeface="Times New Roman"/>
              </a:rPr>
              <a:t>Problem Statement</a:t>
            </a:r>
            <a:endParaRPr lang="en-IN" sz="3200" b="1" i="0" u="none" strike="noStrike" kern="1200" cap="none" spc="0" normalizeH="0" baseline="0" noProof="0">
              <a:ln>
                <a:noFill/>
              </a:ln>
              <a:solidFill>
                <a:srgbClr val="C0383C"/>
              </a:solidFill>
              <a:effectLst/>
              <a:uLnTx/>
              <a:uFillTx/>
              <a:latin typeface="Times New Roman"/>
              <a:cs typeface="Times New Roman"/>
            </a:endParaRPr>
          </a:p>
          <a:p>
            <a:endParaRPr lang="en-US" sz="3200">
              <a:latin typeface="Times New Roman"/>
              <a:cs typeface="Times New Roman"/>
            </a:endParaRPr>
          </a:p>
        </p:txBody>
      </p:sp>
      <p:sp>
        <p:nvSpPr>
          <p:cNvPr id="2" name="TextBox 1">
            <a:extLst>
              <a:ext uri="{FF2B5EF4-FFF2-40B4-BE49-F238E27FC236}">
                <a16:creationId xmlns:a16="http://schemas.microsoft.com/office/drawing/2014/main" id="{EF1F4DAF-0524-9A0A-0251-10A178DAC0B0}"/>
              </a:ext>
            </a:extLst>
          </p:cNvPr>
          <p:cNvSpPr txBox="1"/>
          <p:nvPr/>
        </p:nvSpPr>
        <p:spPr>
          <a:xfrm>
            <a:off x="338360" y="2921065"/>
            <a:ext cx="10811773" cy="32280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000" b="1">
                <a:solidFill>
                  <a:srgbClr val="C00000"/>
                </a:solidFill>
                <a:latin typeface="Times New Roman"/>
                <a:ea typeface="Times New Roman"/>
                <a:cs typeface="Times New Roman"/>
              </a:rPr>
              <a:t>Objectives</a:t>
            </a:r>
            <a:endParaRPr lang="en-US" sz="3000" b="1">
              <a:solidFill>
                <a:srgbClr val="C00000"/>
              </a:solidFill>
              <a:latin typeface="Times New Roman"/>
              <a:ea typeface="Calibri"/>
              <a:cs typeface="Times New Roman"/>
            </a:endParaRPr>
          </a:p>
          <a:p>
            <a:pPr marL="342900" indent="-342900">
              <a:lnSpc>
                <a:spcPct val="150000"/>
              </a:lnSpc>
              <a:buAutoNum type="arabicPeriod"/>
            </a:pPr>
            <a:r>
              <a:rPr b="0" i="0">
                <a:solidFill>
                  <a:srgbClr val="000000"/>
                </a:solidFill>
                <a:latin typeface="Times New Roman"/>
                <a:ea typeface="Times New Roman"/>
                <a:cs typeface="Times New Roman"/>
              </a:rPr>
              <a:t>​</a:t>
            </a:r>
            <a:r>
              <a:rPr lang="en-US">
                <a:solidFill>
                  <a:srgbClr val="000000"/>
                </a:solidFill>
                <a:latin typeface="Times New Roman"/>
                <a:ea typeface="+mn-lt"/>
                <a:cs typeface="Times New Roman"/>
              </a:rPr>
              <a:t>To extract and analyze content from research papers.</a:t>
            </a:r>
            <a:endParaRPr lang="en-US">
              <a:solidFill>
                <a:srgbClr val="000000"/>
              </a:solidFill>
              <a:latin typeface="Times New Roman"/>
              <a:ea typeface="Calibri"/>
              <a:cs typeface="Times New Roman"/>
            </a:endParaRPr>
          </a:p>
          <a:p>
            <a:pPr marL="342900" indent="-342900">
              <a:lnSpc>
                <a:spcPct val="150000"/>
              </a:lnSpc>
              <a:buAutoNum type="arabicPeriod"/>
            </a:pPr>
            <a:r>
              <a:rPr lang="en-US">
                <a:solidFill>
                  <a:srgbClr val="000000"/>
                </a:solidFill>
                <a:latin typeface="Times New Roman"/>
                <a:ea typeface="+mn-lt"/>
                <a:cs typeface="Times New Roman"/>
              </a:rPr>
              <a:t>To identify key contributions and research gaps.</a:t>
            </a:r>
            <a:endParaRPr lang="en-US">
              <a:latin typeface="Times New Roman"/>
              <a:ea typeface="Calibri"/>
              <a:cs typeface="Times New Roman"/>
            </a:endParaRPr>
          </a:p>
          <a:p>
            <a:pPr marL="342900" indent="-342900">
              <a:lnSpc>
                <a:spcPct val="150000"/>
              </a:lnSpc>
              <a:buAutoNum type="arabicPeriod"/>
            </a:pPr>
            <a:r>
              <a:rPr lang="en-US">
                <a:solidFill>
                  <a:srgbClr val="000000"/>
                </a:solidFill>
                <a:latin typeface="Times New Roman"/>
                <a:ea typeface="+mn-lt"/>
                <a:cs typeface="Times New Roman"/>
              </a:rPr>
              <a:t>To convert research papers into podcast-style conversational content</a:t>
            </a:r>
          </a:p>
          <a:p>
            <a:pPr marL="342900" indent="-342900">
              <a:lnSpc>
                <a:spcPct val="150000"/>
              </a:lnSpc>
              <a:buAutoNum type="arabicPeriod"/>
            </a:pPr>
            <a:r>
              <a:rPr lang="en-US">
                <a:solidFill>
                  <a:srgbClr val="000000"/>
                </a:solidFill>
                <a:latin typeface="Times New Roman"/>
                <a:ea typeface="+mn-lt"/>
                <a:cs typeface="Times New Roman"/>
              </a:rPr>
              <a:t>To generate show notes, key takeaways, and timestamps.</a:t>
            </a:r>
            <a:endParaRPr lang="en-US">
              <a:latin typeface="Times New Roman"/>
              <a:ea typeface="Calibri"/>
              <a:cs typeface="Times New Roman"/>
            </a:endParaRPr>
          </a:p>
          <a:p>
            <a:pPr marL="342900" indent="-342900">
              <a:lnSpc>
                <a:spcPct val="150000"/>
              </a:lnSpc>
              <a:buAutoNum type="arabicPeriod"/>
            </a:pPr>
            <a:r>
              <a:rPr lang="en-US">
                <a:solidFill>
                  <a:srgbClr val="000000"/>
                </a:solidFill>
                <a:latin typeface="Times New Roman"/>
                <a:ea typeface="+mn-lt"/>
                <a:cs typeface="Times New Roman"/>
              </a:rPr>
              <a:t>To transform generated scripts into downloadable audio podcasts.</a:t>
            </a:r>
            <a:endParaRPr lang="en-US">
              <a:latin typeface="Times New Roman"/>
              <a:ea typeface="Calibri"/>
              <a:cs typeface="Times New Roman"/>
            </a:endParaRPr>
          </a:p>
          <a:p>
            <a:pPr algn="ctr">
              <a:lnSpc>
                <a:spcPct val="150000"/>
              </a:lnSpc>
            </a:pPr>
            <a:endParaRPr lang="en-US">
              <a:latin typeface="Times New Roman"/>
              <a:ea typeface="Calibri"/>
              <a:cs typeface="Times New Roman"/>
            </a:endParaRPr>
          </a:p>
        </p:txBody>
      </p:sp>
    </p:spTree>
    <p:extLst>
      <p:ext uri="{BB962C8B-B14F-4D97-AF65-F5344CB8AC3E}">
        <p14:creationId xmlns:p14="http://schemas.microsoft.com/office/powerpoint/2010/main" val="106644680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030C4-1B9F-71A2-9516-AC25C2CD2833}"/>
            </a:ext>
          </a:extLst>
        </p:cNvPr>
        <p:cNvGrpSpPr/>
        <p:nvPr/>
      </p:nvGrpSpPr>
      <p:grpSpPr>
        <a:xfrm>
          <a:off x="0" y="0"/>
          <a:ext cx="0" cy="0"/>
          <a:chOff x="0" y="0"/>
          <a:chExt cx="0" cy="0"/>
        </a:xfrm>
      </p:grpSpPr>
      <p:cxnSp>
        <p:nvCxnSpPr>
          <p:cNvPr id="4101" name="Google Shape;124;g136c2cfec24_0_2">
            <a:extLst>
              <a:ext uri="{FF2B5EF4-FFF2-40B4-BE49-F238E27FC236}">
                <a16:creationId xmlns:a16="http://schemas.microsoft.com/office/drawing/2014/main" id="{AB84AB09-6AC8-90B8-3C02-1A06E81F5B96}"/>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4737A81D-8D23-0C80-6AE2-60EAA1B23A9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Times New Roman"/>
                <a:cs typeface="Times New Roman"/>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Times New Roman"/>
              <a:cs typeface="Times New Roman"/>
            </a:endParaRPr>
          </a:p>
        </p:txBody>
      </p:sp>
      <p:pic>
        <p:nvPicPr>
          <p:cNvPr id="7" name="Picture 6" descr="WhatsApp Image 2026-03-08 at 12.28.26 PM.jpeg">
            <a:extLst>
              <a:ext uri="{FF2B5EF4-FFF2-40B4-BE49-F238E27FC236}">
                <a16:creationId xmlns:a16="http://schemas.microsoft.com/office/drawing/2014/main" id="{6145E10C-376E-6E1C-6A39-4E5113F10278}"/>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A855044F-0622-FCCF-02A2-CAB23FC0023E}"/>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 name="TextBox 7">
            <a:extLst>
              <a:ext uri="{FF2B5EF4-FFF2-40B4-BE49-F238E27FC236}">
                <a16:creationId xmlns:a16="http://schemas.microsoft.com/office/drawing/2014/main" id="{47C5814C-371B-5304-D3E1-600091A62A31}"/>
              </a:ext>
            </a:extLst>
          </p:cNvPr>
          <p:cNvSpPr txBox="1"/>
          <p:nvPr/>
        </p:nvSpPr>
        <p:spPr>
          <a:xfrm>
            <a:off x="385229" y="407292"/>
            <a:ext cx="7245779" cy="1077218"/>
          </a:xfrm>
          <a:prstGeom prst="rect">
            <a:avLst/>
          </a:prstGeom>
          <a:noFill/>
        </p:spPr>
        <p:txBody>
          <a:bodyPr wrap="square" lIns="91440" tIns="45720" rIns="91440" bIns="45720" rtlCol="0" anchor="t">
            <a:spAutoFit/>
          </a:bodyPr>
          <a:lstStyle/>
          <a:p>
            <a:r>
              <a:rPr lang="en-IN" sz="3200" b="1">
                <a:solidFill>
                  <a:srgbClr val="C0383C"/>
                </a:solidFill>
                <a:latin typeface="Times New Roman"/>
                <a:cs typeface="Times New Roman"/>
              </a:rPr>
              <a:t>Proposed Solution</a:t>
            </a:r>
            <a:endParaRPr lang="en-IN" sz="3200" b="1" i="0" u="none" strike="noStrike" kern="1200" cap="none" spc="0" normalizeH="0" baseline="0" noProof="0">
              <a:ln>
                <a:noFill/>
              </a:ln>
              <a:solidFill>
                <a:srgbClr val="C0383C"/>
              </a:solidFill>
              <a:effectLst/>
              <a:uLnTx/>
              <a:uFillTx/>
              <a:latin typeface="Times New Roman"/>
              <a:cs typeface="Times New Roman"/>
            </a:endParaRPr>
          </a:p>
          <a:p>
            <a:endParaRPr lang="en-US" sz="3200">
              <a:latin typeface="Times New Roman"/>
              <a:cs typeface="Times New Roman"/>
            </a:endParaRPr>
          </a:p>
        </p:txBody>
      </p:sp>
      <p:sp>
        <p:nvSpPr>
          <p:cNvPr id="3" name="TextBox 2">
            <a:extLst>
              <a:ext uri="{FF2B5EF4-FFF2-40B4-BE49-F238E27FC236}">
                <a16:creationId xmlns:a16="http://schemas.microsoft.com/office/drawing/2014/main" id="{53D15519-64B5-BAEB-1C2A-8C1DAC7896FC}"/>
              </a:ext>
            </a:extLst>
          </p:cNvPr>
          <p:cNvSpPr txBox="1"/>
          <p:nvPr/>
        </p:nvSpPr>
        <p:spPr>
          <a:xfrm>
            <a:off x="387228" y="1577875"/>
            <a:ext cx="1036074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latin typeface="Times New Roman"/>
                <a:ea typeface="+mn-lt"/>
                <a:cs typeface="Times New Roman"/>
              </a:rPr>
              <a:t>User uploads a research paper PDF into the system. </a:t>
            </a:r>
            <a:endParaRPr lang="en-US">
              <a:latin typeface="Times New Roman"/>
              <a:ea typeface="Calibri"/>
              <a:cs typeface="Times New Roman"/>
            </a:endParaRPr>
          </a:p>
          <a:p>
            <a:pPr marL="285750" indent="-285750">
              <a:lnSpc>
                <a:spcPct val="150000"/>
              </a:lnSpc>
              <a:buFont typeface="Arial"/>
              <a:buChar char="•"/>
            </a:pPr>
            <a:r>
              <a:rPr lang="en-US">
                <a:latin typeface="Times New Roman"/>
                <a:ea typeface="+mn-lt"/>
                <a:cs typeface="Times New Roman"/>
              </a:rPr>
              <a:t>The system extracts text from the uploaded document using </a:t>
            </a:r>
            <a:r>
              <a:rPr lang="en-US" err="1">
                <a:latin typeface="Times New Roman"/>
                <a:ea typeface="+mn-lt"/>
                <a:cs typeface="Times New Roman"/>
              </a:rPr>
              <a:t>PyPDF</a:t>
            </a:r>
            <a:r>
              <a:rPr lang="en-US">
                <a:latin typeface="Times New Roman"/>
                <a:ea typeface="+mn-lt"/>
                <a:cs typeface="Times New Roman"/>
              </a:rPr>
              <a:t>. </a:t>
            </a:r>
            <a:endParaRPr lang="en-US">
              <a:latin typeface="Times New Roman"/>
              <a:ea typeface="Calibri"/>
              <a:cs typeface="Times New Roman"/>
            </a:endParaRPr>
          </a:p>
          <a:p>
            <a:pPr marL="285750" indent="-285750">
              <a:lnSpc>
                <a:spcPct val="150000"/>
              </a:lnSpc>
              <a:buFont typeface="Arial"/>
              <a:buChar char="•"/>
            </a:pPr>
            <a:r>
              <a:rPr lang="en-US">
                <a:latin typeface="Times New Roman"/>
                <a:ea typeface="+mn-lt"/>
                <a:cs typeface="Times New Roman"/>
              </a:rPr>
              <a:t>Llama 3.3 70B analyzes the paper to identify the problem, methodology, findings, and research gap. </a:t>
            </a:r>
            <a:endParaRPr lang="en-US">
              <a:latin typeface="Times New Roman"/>
              <a:ea typeface="Calibri"/>
              <a:cs typeface="Times New Roman"/>
            </a:endParaRPr>
          </a:p>
          <a:p>
            <a:pPr marL="285750" indent="-285750">
              <a:lnSpc>
                <a:spcPct val="150000"/>
              </a:lnSpc>
              <a:buFont typeface="Arial"/>
              <a:buChar char="•"/>
            </a:pPr>
            <a:r>
              <a:rPr lang="en-US">
                <a:latin typeface="Times New Roman"/>
                <a:ea typeface="+mn-lt"/>
                <a:cs typeface="Times New Roman"/>
              </a:rPr>
              <a:t>The Scientific Lay </a:t>
            </a:r>
            <a:r>
              <a:rPr lang="en-US" err="1">
                <a:latin typeface="Times New Roman"/>
                <a:ea typeface="+mn-lt"/>
                <a:cs typeface="Times New Roman"/>
              </a:rPr>
              <a:t>Summarisation</a:t>
            </a:r>
            <a:r>
              <a:rPr lang="en-US">
                <a:latin typeface="Times New Roman"/>
                <a:ea typeface="+mn-lt"/>
                <a:cs typeface="Times New Roman"/>
              </a:rPr>
              <a:t> Dataset helps convert technical content into easy-to-understand explanations. </a:t>
            </a:r>
            <a:endParaRPr lang="en-US">
              <a:latin typeface="Times New Roman"/>
              <a:ea typeface="Calibri"/>
              <a:cs typeface="Times New Roman"/>
            </a:endParaRPr>
          </a:p>
          <a:p>
            <a:pPr marL="285750" indent="-285750">
              <a:lnSpc>
                <a:spcPct val="150000"/>
              </a:lnSpc>
              <a:buFont typeface="Arial"/>
              <a:buChar char="•"/>
            </a:pPr>
            <a:r>
              <a:rPr lang="en-US">
                <a:latin typeface="Times New Roman"/>
                <a:ea typeface="+mn-lt"/>
                <a:cs typeface="Times New Roman"/>
              </a:rPr>
              <a:t>The system generates podcast scripts, show notes, key terms, timestamps, and audio output for better accessibility.</a:t>
            </a:r>
            <a:endParaRPr lang="en-US">
              <a:latin typeface="Times New Roman"/>
              <a:ea typeface="Calibri"/>
              <a:cs typeface="Times New Roman"/>
            </a:endParaRPr>
          </a:p>
          <a:p>
            <a:pPr>
              <a:lnSpc>
                <a:spcPct val="150000"/>
              </a:lnSpc>
            </a:pPr>
            <a:endParaRPr lang="en-US">
              <a:latin typeface="Times New Roman"/>
              <a:ea typeface="Calibri"/>
              <a:cs typeface="Times New Roman"/>
            </a:endParaRPr>
          </a:p>
          <a:p>
            <a:pPr algn="l"/>
            <a:endParaRPr lang="en-US">
              <a:latin typeface="Times New Roman"/>
              <a:ea typeface="Calibri"/>
              <a:cs typeface="Times New Roman"/>
            </a:endParaRPr>
          </a:p>
        </p:txBody>
      </p:sp>
    </p:spTree>
    <p:extLst>
      <p:ext uri="{BB962C8B-B14F-4D97-AF65-F5344CB8AC3E}">
        <p14:creationId xmlns:p14="http://schemas.microsoft.com/office/powerpoint/2010/main" val="427399565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4B339-6AE0-7052-CF54-80174BB038F5}"/>
            </a:ext>
          </a:extLst>
        </p:cNvPr>
        <p:cNvGrpSpPr/>
        <p:nvPr/>
      </p:nvGrpSpPr>
      <p:grpSpPr>
        <a:xfrm>
          <a:off x="0" y="0"/>
          <a:ext cx="0" cy="0"/>
          <a:chOff x="0" y="0"/>
          <a:chExt cx="0" cy="0"/>
        </a:xfrm>
      </p:grpSpPr>
      <p:cxnSp>
        <p:nvCxnSpPr>
          <p:cNvPr id="4101" name="Google Shape;124;g136c2cfec24_0_2">
            <a:extLst>
              <a:ext uri="{FF2B5EF4-FFF2-40B4-BE49-F238E27FC236}">
                <a16:creationId xmlns:a16="http://schemas.microsoft.com/office/drawing/2014/main" id="{E0926208-FF27-2ED2-8E5B-C09743C29281}"/>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DB9C2518-CD16-6958-CC59-DD7EE2E240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descr="WhatsApp Image 2026-03-08 at 12.28.26 PM.jpeg">
            <a:extLst>
              <a:ext uri="{FF2B5EF4-FFF2-40B4-BE49-F238E27FC236}">
                <a16:creationId xmlns:a16="http://schemas.microsoft.com/office/drawing/2014/main" id="{064EC448-CD3E-E6DF-B1FE-44F811130187}"/>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152B2BDD-9E46-CAA8-B08B-E107F1B85A83}"/>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 name="TextBox 7">
            <a:extLst>
              <a:ext uri="{FF2B5EF4-FFF2-40B4-BE49-F238E27FC236}">
                <a16:creationId xmlns:a16="http://schemas.microsoft.com/office/drawing/2014/main" id="{29CA2C3F-01F5-0BB3-2244-CD8AF22FDD02}"/>
              </a:ext>
            </a:extLst>
          </p:cNvPr>
          <p:cNvSpPr txBox="1"/>
          <p:nvPr/>
        </p:nvSpPr>
        <p:spPr>
          <a:xfrm>
            <a:off x="385229" y="407292"/>
            <a:ext cx="7245779" cy="1077218"/>
          </a:xfrm>
          <a:prstGeom prst="rect">
            <a:avLst/>
          </a:prstGeom>
          <a:noFill/>
        </p:spPr>
        <p:txBody>
          <a:bodyPr wrap="square" lIns="91440" tIns="45720" rIns="91440" bIns="45720" rtlCol="0" anchor="t">
            <a:spAutoFit/>
          </a:bodyPr>
          <a:lstStyle/>
          <a:p>
            <a:r>
              <a:rPr lang="en-IN" sz="3200" b="1">
                <a:solidFill>
                  <a:srgbClr val="C0383C"/>
                </a:solidFill>
                <a:latin typeface="Times New Roman"/>
                <a:cs typeface="Times New Roman"/>
              </a:rPr>
              <a:t>Architecture</a:t>
            </a:r>
            <a:endParaRPr lang="en-IN" sz="3200" b="1" i="0" u="none" strike="noStrike" kern="1200" cap="none" spc="0" normalizeH="0" baseline="0" noProof="0">
              <a:ln>
                <a:noFill/>
              </a:ln>
              <a:solidFill>
                <a:srgbClr val="C0383C"/>
              </a:solidFill>
              <a:effectLst/>
              <a:uLnTx/>
              <a:uFillTx/>
              <a:latin typeface="Times New Roman"/>
              <a:cs typeface="Times New Roman"/>
            </a:endParaRPr>
          </a:p>
          <a:p>
            <a:endParaRPr lang="en-US" sz="3200">
              <a:ea typeface="Calibri"/>
              <a:cs typeface="Calibri"/>
            </a:endParaRPr>
          </a:p>
        </p:txBody>
      </p:sp>
      <p:pic>
        <p:nvPicPr>
          <p:cNvPr id="13" name="Picture 12" descr="A diagram of a process&#10;&#10;AI-generated content may be incorrect.">
            <a:extLst>
              <a:ext uri="{FF2B5EF4-FFF2-40B4-BE49-F238E27FC236}">
                <a16:creationId xmlns:a16="http://schemas.microsoft.com/office/drawing/2014/main" id="{0A1C019F-499F-6EF7-5F53-50A09C778F17}"/>
              </a:ext>
            </a:extLst>
          </p:cNvPr>
          <p:cNvPicPr>
            <a:picLocks noChangeAspect="1"/>
          </p:cNvPicPr>
          <p:nvPr/>
        </p:nvPicPr>
        <p:blipFill>
          <a:blip r:embed="rId4"/>
          <a:stretch>
            <a:fillRect/>
          </a:stretch>
        </p:blipFill>
        <p:spPr>
          <a:xfrm>
            <a:off x="3436326" y="1168702"/>
            <a:ext cx="4873651" cy="5434642"/>
          </a:xfrm>
          <a:prstGeom prst="rect">
            <a:avLst/>
          </a:prstGeom>
        </p:spPr>
      </p:pic>
    </p:spTree>
    <p:extLst>
      <p:ext uri="{BB962C8B-B14F-4D97-AF65-F5344CB8AC3E}">
        <p14:creationId xmlns:p14="http://schemas.microsoft.com/office/powerpoint/2010/main" val="2440542800"/>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DE667-AD1B-7DE3-A3F6-0BD7F1D0B898}"/>
            </a:ext>
          </a:extLst>
        </p:cNvPr>
        <p:cNvGrpSpPr/>
        <p:nvPr/>
      </p:nvGrpSpPr>
      <p:grpSpPr>
        <a:xfrm>
          <a:off x="0" y="0"/>
          <a:ext cx="0" cy="0"/>
          <a:chOff x="0" y="0"/>
          <a:chExt cx="0" cy="0"/>
        </a:xfrm>
      </p:grpSpPr>
      <p:cxnSp>
        <p:nvCxnSpPr>
          <p:cNvPr id="4101" name="Google Shape;124;g136c2cfec24_0_2">
            <a:extLst>
              <a:ext uri="{FF2B5EF4-FFF2-40B4-BE49-F238E27FC236}">
                <a16:creationId xmlns:a16="http://schemas.microsoft.com/office/drawing/2014/main" id="{31E54BFA-5BAE-C4C6-F62C-D97D89CC756A}"/>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9B5ADB50-6463-5E1D-D54A-83FD15D486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descr="WhatsApp Image 2026-03-08 at 12.28.26 PM.jpeg">
            <a:extLst>
              <a:ext uri="{FF2B5EF4-FFF2-40B4-BE49-F238E27FC236}">
                <a16:creationId xmlns:a16="http://schemas.microsoft.com/office/drawing/2014/main" id="{AB525E80-4CB6-7C17-960A-0178F15BB054}"/>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423814FC-841C-253D-04B6-5509CD21CC58}"/>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 name="TextBox 7">
            <a:extLst>
              <a:ext uri="{FF2B5EF4-FFF2-40B4-BE49-F238E27FC236}">
                <a16:creationId xmlns:a16="http://schemas.microsoft.com/office/drawing/2014/main" id="{A58899E2-CB53-DC12-5A72-A3AF27F704E2}"/>
              </a:ext>
            </a:extLst>
          </p:cNvPr>
          <p:cNvSpPr txBox="1"/>
          <p:nvPr/>
        </p:nvSpPr>
        <p:spPr>
          <a:xfrm>
            <a:off x="280845" y="261155"/>
            <a:ext cx="7245779" cy="1077218"/>
          </a:xfrm>
          <a:prstGeom prst="rect">
            <a:avLst/>
          </a:prstGeom>
          <a:noFill/>
        </p:spPr>
        <p:txBody>
          <a:bodyPr wrap="square" lIns="91440" tIns="45720" rIns="91440" bIns="45720" rtlCol="0" anchor="t">
            <a:spAutoFit/>
          </a:bodyPr>
          <a:lstStyle/>
          <a:p>
            <a:r>
              <a:rPr lang="en-IN" sz="3200" b="1">
                <a:solidFill>
                  <a:srgbClr val="C0383C"/>
                </a:solidFill>
                <a:latin typeface="Times New Roman"/>
                <a:cs typeface="Times New Roman"/>
              </a:rPr>
              <a:t>Methodology</a:t>
            </a:r>
            <a:endParaRPr lang="en-IN" sz="3200" b="1" i="0" u="none" strike="noStrike" kern="1200" cap="none" spc="0" normalizeH="0" baseline="0" noProof="0">
              <a:ln>
                <a:noFill/>
              </a:ln>
              <a:solidFill>
                <a:srgbClr val="C0383C"/>
              </a:solidFill>
              <a:effectLst/>
              <a:uLnTx/>
              <a:uFillTx/>
              <a:latin typeface="Times New Roman" panose="02020603050405020304" pitchFamily="18" charset="0"/>
              <a:cs typeface="Times New Roman" panose="02020603050405020304" pitchFamily="18" charset="0"/>
            </a:endParaRPr>
          </a:p>
          <a:p>
            <a:endParaRPr lang="en-US" sz="3200">
              <a:ea typeface="Calibri"/>
              <a:cs typeface="Calibri"/>
            </a:endParaRPr>
          </a:p>
        </p:txBody>
      </p:sp>
      <p:sp>
        <p:nvSpPr>
          <p:cNvPr id="3" name="TextBox 2">
            <a:extLst>
              <a:ext uri="{FF2B5EF4-FFF2-40B4-BE49-F238E27FC236}">
                <a16:creationId xmlns:a16="http://schemas.microsoft.com/office/drawing/2014/main" id="{2040BCB7-60FB-27C9-9078-936D77B94F71}"/>
              </a:ext>
            </a:extLst>
          </p:cNvPr>
          <p:cNvSpPr txBox="1"/>
          <p:nvPr/>
        </p:nvSpPr>
        <p:spPr>
          <a:xfrm>
            <a:off x="278788" y="1191353"/>
            <a:ext cx="1163639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Step 1: Research Paper Upload</a:t>
            </a:r>
          </a:p>
          <a:p>
            <a:r>
              <a:rPr lang="en-US">
                <a:latin typeface="Times New Roman"/>
                <a:ea typeface="+mn-lt"/>
                <a:cs typeface="Times New Roman"/>
              </a:rPr>
              <a:t>The user uploads a research paper PDF through the </a:t>
            </a:r>
            <a:r>
              <a:rPr lang="en-US" err="1">
                <a:latin typeface="Times New Roman"/>
                <a:ea typeface="+mn-lt"/>
                <a:cs typeface="Times New Roman"/>
              </a:rPr>
              <a:t>Streamlit</a:t>
            </a:r>
            <a:r>
              <a:rPr lang="en-US">
                <a:latin typeface="Times New Roman"/>
                <a:ea typeface="+mn-lt"/>
                <a:cs typeface="Times New Roman"/>
              </a:rPr>
              <a:t>-based interface.</a:t>
            </a:r>
            <a:endParaRPr lang="en-US">
              <a:latin typeface="Times New Roman"/>
              <a:cs typeface="Times New Roman"/>
            </a:endParaRPr>
          </a:p>
          <a:p>
            <a:r>
              <a:rPr lang="en-US" b="1">
                <a:latin typeface="Times New Roman"/>
                <a:cs typeface="Times New Roman"/>
              </a:rPr>
              <a:t>Step 2: PDF Text Extraction</a:t>
            </a:r>
          </a:p>
          <a:p>
            <a:r>
              <a:rPr lang="en-US">
                <a:latin typeface="Times New Roman"/>
                <a:ea typeface="+mn-lt"/>
                <a:cs typeface="Times New Roman"/>
              </a:rPr>
              <a:t>The uploaded PDF is processed using PyPDF2 to extract textual content from all pages.</a:t>
            </a:r>
            <a:endParaRPr lang="en-US">
              <a:latin typeface="Times New Roman"/>
              <a:cs typeface="Times New Roman"/>
            </a:endParaRPr>
          </a:p>
          <a:p>
            <a:r>
              <a:rPr lang="en-US" b="1">
                <a:latin typeface="Times New Roman"/>
                <a:cs typeface="Times New Roman"/>
              </a:rPr>
              <a:t>Step 3: Text Preprocessing</a:t>
            </a:r>
          </a:p>
          <a:p>
            <a:r>
              <a:rPr lang="en-US">
                <a:latin typeface="Times New Roman"/>
                <a:ea typeface="+mn-lt"/>
                <a:cs typeface="Times New Roman"/>
              </a:rPr>
              <a:t>The extracted text is cleaned, segmented into manageable chunks, and prepared for AI processing.</a:t>
            </a:r>
            <a:endParaRPr lang="en-US">
              <a:latin typeface="Times New Roman"/>
              <a:cs typeface="Times New Roman"/>
            </a:endParaRPr>
          </a:p>
          <a:p>
            <a:r>
              <a:rPr lang="en-US" b="1">
                <a:latin typeface="Times New Roman"/>
                <a:cs typeface="Times New Roman"/>
              </a:rPr>
              <a:t>Step 4: Research Paper Analysis</a:t>
            </a:r>
          </a:p>
          <a:p>
            <a:r>
              <a:rPr lang="en-US">
                <a:latin typeface="Times New Roman"/>
                <a:ea typeface="+mn-lt"/>
                <a:cs typeface="Times New Roman"/>
              </a:rPr>
              <a:t>The processed content is analyzed using a Generative AI model (Gemini/Llama) to identify the main concepts, methodology, findings, and conclusions.</a:t>
            </a:r>
            <a:endParaRPr lang="en-US">
              <a:latin typeface="Times New Roman"/>
              <a:cs typeface="Times New Roman"/>
            </a:endParaRPr>
          </a:p>
          <a:p>
            <a:r>
              <a:rPr lang="en-US" b="1">
                <a:latin typeface="Times New Roman"/>
                <a:cs typeface="Times New Roman"/>
              </a:rPr>
              <a:t>Step 5: Podcast Script Generation</a:t>
            </a:r>
          </a:p>
          <a:p>
            <a:r>
              <a:rPr lang="en-US">
                <a:latin typeface="Times New Roman"/>
                <a:ea typeface="+mn-lt"/>
                <a:cs typeface="Times New Roman"/>
              </a:rPr>
              <a:t>The AI model converts the research content into a structured Host–Guest podcast conversation.</a:t>
            </a:r>
            <a:endParaRPr lang="en-US">
              <a:latin typeface="Times New Roman"/>
              <a:cs typeface="Times New Roman"/>
            </a:endParaRPr>
          </a:p>
          <a:p>
            <a:r>
              <a:rPr lang="en-US" b="1">
                <a:latin typeface="Times New Roman"/>
                <a:cs typeface="Times New Roman"/>
              </a:rPr>
              <a:t>Step 6: Analogy and Key Takeaway Generation</a:t>
            </a:r>
          </a:p>
          <a:p>
            <a:r>
              <a:rPr lang="en-US">
                <a:latin typeface="Times New Roman"/>
                <a:ea typeface="+mn-lt"/>
                <a:cs typeface="Times New Roman"/>
              </a:rPr>
              <a:t>Listener-friendly analogies and concise key takeaways are generated to simplify complex research concepts.</a:t>
            </a:r>
            <a:endParaRPr lang="en-US">
              <a:latin typeface="Times New Roman"/>
              <a:cs typeface="Times New Roman"/>
            </a:endParaRPr>
          </a:p>
          <a:p>
            <a:r>
              <a:rPr lang="en-US" b="1">
                <a:latin typeface="Times New Roman"/>
                <a:cs typeface="Times New Roman"/>
              </a:rPr>
              <a:t>Step 7: Show Notes and Timestamp Creation</a:t>
            </a:r>
          </a:p>
          <a:p>
            <a:r>
              <a:rPr lang="en-US">
                <a:latin typeface="Times New Roman"/>
                <a:ea typeface="+mn-lt"/>
                <a:cs typeface="Times New Roman"/>
              </a:rPr>
              <a:t>The system automatically creates organized show notes, timestamps, and key terms for easy navigation.</a:t>
            </a:r>
            <a:endParaRPr lang="en-US">
              <a:latin typeface="Times New Roman"/>
              <a:cs typeface="Times New Roman"/>
            </a:endParaRPr>
          </a:p>
          <a:p>
            <a:r>
              <a:rPr lang="en-US" b="1">
                <a:latin typeface="Times New Roman"/>
                <a:cs typeface="Times New Roman"/>
              </a:rPr>
              <a:t>Step 8: Output Generation</a:t>
            </a:r>
          </a:p>
          <a:p>
            <a:r>
              <a:rPr lang="en-US">
                <a:latin typeface="Times New Roman"/>
                <a:ea typeface="+mn-lt"/>
                <a:cs typeface="Times New Roman"/>
              </a:rPr>
              <a:t>The final outputs include a podcast script, show notes, key terms, analogies, and downloadable DOCX or audio files.</a:t>
            </a:r>
            <a:endParaRPr lang="en-US">
              <a:latin typeface="Times New Roman"/>
              <a:cs typeface="Times New Roman"/>
            </a:endParaRPr>
          </a:p>
          <a:p>
            <a:pPr algn="l"/>
            <a:endParaRPr lang="en-US">
              <a:ea typeface="Calibri"/>
              <a:cs typeface="Calibri"/>
            </a:endParaRPr>
          </a:p>
        </p:txBody>
      </p:sp>
    </p:spTree>
    <p:extLst>
      <p:ext uri="{BB962C8B-B14F-4D97-AF65-F5344CB8AC3E}">
        <p14:creationId xmlns:p14="http://schemas.microsoft.com/office/powerpoint/2010/main" val="2532326170"/>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E8268-0AAE-D6C8-2F0C-15220E4F0014}"/>
              </a:ext>
            </a:extLst>
          </p:cNvPr>
          <p:cNvSpPr>
            <a:spLocks noGrp="1"/>
          </p:cNvSpPr>
          <p:nvPr>
            <p:ph type="title"/>
          </p:nvPr>
        </p:nvSpPr>
        <p:spPr>
          <a:xfrm>
            <a:off x="333369" y="1379423"/>
            <a:ext cx="10503310" cy="674176"/>
          </a:xfrm>
        </p:spPr>
        <p:txBody>
          <a:bodyPr>
            <a:normAutofit/>
          </a:bodyPr>
          <a:lstStyle/>
          <a:p>
            <a:r>
              <a:rPr lang="en-US" sz="3200" b="1">
                <a:latin typeface="Times New Roman"/>
                <a:ea typeface="+mj-lt"/>
                <a:cs typeface="Times New Roman"/>
              </a:rPr>
              <a:t>Dataset Used</a:t>
            </a:r>
            <a:endParaRPr lang="en-US" sz="3200" b="1">
              <a:latin typeface="Times New Roman"/>
              <a:cs typeface="Times New Roman"/>
            </a:endParaRPr>
          </a:p>
        </p:txBody>
      </p:sp>
      <p:sp>
        <p:nvSpPr>
          <p:cNvPr id="3" name="Content Placeholder 2">
            <a:extLst>
              <a:ext uri="{FF2B5EF4-FFF2-40B4-BE49-F238E27FC236}">
                <a16:creationId xmlns:a16="http://schemas.microsoft.com/office/drawing/2014/main" id="{BB92DDEE-2511-E247-E3D7-263ACC60543E}"/>
              </a:ext>
            </a:extLst>
          </p:cNvPr>
          <p:cNvSpPr>
            <a:spLocks noGrp="1"/>
          </p:cNvSpPr>
          <p:nvPr>
            <p:ph idx="1"/>
          </p:nvPr>
        </p:nvSpPr>
        <p:spPr>
          <a:xfrm>
            <a:off x="325018" y="2371787"/>
            <a:ext cx="10515600" cy="4351338"/>
          </a:xfrm>
        </p:spPr>
        <p:txBody>
          <a:bodyPr vert="horz" lIns="91440" tIns="45720" rIns="91440" bIns="45720" rtlCol="0" anchor="t">
            <a:normAutofit/>
          </a:bodyPr>
          <a:lstStyle/>
          <a:p>
            <a:r>
              <a:rPr lang="en-US" sz="1800">
                <a:latin typeface="Times New Roman"/>
                <a:cs typeface="Times New Roman"/>
              </a:rPr>
              <a:t>Scientific Lay </a:t>
            </a:r>
            <a:r>
              <a:rPr lang="en-US" sz="1800" err="1">
                <a:latin typeface="Times New Roman"/>
                <a:cs typeface="Times New Roman"/>
              </a:rPr>
              <a:t>Summarisation</a:t>
            </a:r>
            <a:r>
              <a:rPr lang="en-US" sz="1800">
                <a:latin typeface="Times New Roman"/>
                <a:cs typeface="Times New Roman"/>
              </a:rPr>
              <a:t> Dataset</a:t>
            </a:r>
            <a:endParaRPr lang="en-US" sz="1800">
              <a:latin typeface="Times New Roman"/>
              <a:ea typeface="Calibri"/>
              <a:cs typeface="Times New Roman"/>
            </a:endParaRPr>
          </a:p>
          <a:p>
            <a:r>
              <a:rPr lang="en-US" sz="1800">
                <a:latin typeface="Times New Roman"/>
                <a:cs typeface="Times New Roman"/>
              </a:rPr>
              <a:t>Features</a:t>
            </a:r>
            <a:endParaRPr lang="en-US" sz="1800">
              <a:latin typeface="Times New Roman"/>
              <a:ea typeface="Calibri"/>
              <a:cs typeface="Times New Roman"/>
            </a:endParaRPr>
          </a:p>
          <a:p>
            <a:pPr marL="0" indent="0">
              <a:buNone/>
            </a:pPr>
            <a:r>
              <a:rPr lang="en-US" sz="1800">
                <a:latin typeface="Times New Roman"/>
                <a:ea typeface="+mn-lt"/>
                <a:cs typeface="Times New Roman"/>
              </a:rPr>
              <a:t>    24,000+ scientific articles </a:t>
            </a:r>
            <a:endParaRPr lang="en-US" sz="1800">
              <a:latin typeface="Times New Roman"/>
              <a:ea typeface="Calibri"/>
              <a:cs typeface="Times New Roman"/>
            </a:endParaRPr>
          </a:p>
          <a:p>
            <a:pPr marL="0" indent="0">
              <a:buNone/>
            </a:pPr>
            <a:r>
              <a:rPr lang="en-US" sz="1800">
                <a:latin typeface="Times New Roman"/>
                <a:ea typeface="+mn-lt"/>
                <a:cs typeface="Times New Roman"/>
              </a:rPr>
              <a:t>    Human-written lay man summaries </a:t>
            </a:r>
            <a:endParaRPr lang="en-US" sz="1800">
              <a:latin typeface="Times New Roman"/>
              <a:ea typeface="Calibri"/>
              <a:cs typeface="Times New Roman"/>
            </a:endParaRPr>
          </a:p>
          <a:p>
            <a:pPr marL="0" indent="0">
              <a:buNone/>
            </a:pPr>
            <a:r>
              <a:rPr lang="en-US" sz="1800">
                <a:latin typeface="Times New Roman"/>
                <a:ea typeface="+mn-lt"/>
                <a:cs typeface="Times New Roman"/>
              </a:rPr>
              <a:t>    Converts technical content into simple language </a:t>
            </a:r>
            <a:endParaRPr lang="en-US" sz="1800">
              <a:latin typeface="Times New Roman"/>
              <a:ea typeface="Calibri"/>
              <a:cs typeface="Times New Roman"/>
            </a:endParaRPr>
          </a:p>
          <a:p>
            <a:r>
              <a:rPr lang="en-US" sz="1800">
                <a:latin typeface="Times New Roman"/>
                <a:cs typeface="Times New Roman"/>
              </a:rPr>
              <a:t>Why this Dataset?</a:t>
            </a:r>
            <a:endParaRPr lang="en-US" sz="1800">
              <a:latin typeface="Times New Roman"/>
              <a:ea typeface="Calibri"/>
              <a:cs typeface="Times New Roman"/>
            </a:endParaRPr>
          </a:p>
          <a:p>
            <a:pPr marL="0" indent="0">
              <a:buNone/>
            </a:pPr>
            <a:r>
              <a:rPr lang="en-US" sz="1800">
                <a:latin typeface="Times New Roman"/>
                <a:ea typeface="+mn-lt"/>
                <a:cs typeface="Times New Roman"/>
              </a:rPr>
              <a:t>    Improves readability </a:t>
            </a:r>
            <a:endParaRPr lang="en-US" sz="1800">
              <a:latin typeface="Times New Roman"/>
              <a:ea typeface="Calibri"/>
              <a:cs typeface="Times New Roman"/>
            </a:endParaRPr>
          </a:p>
          <a:p>
            <a:pPr marL="0" indent="0">
              <a:buNone/>
            </a:pPr>
            <a:r>
              <a:rPr lang="en-US" sz="1800">
                <a:latin typeface="Times New Roman"/>
                <a:ea typeface="+mn-lt"/>
                <a:cs typeface="Times New Roman"/>
              </a:rPr>
              <a:t>    Generates listener-friendly explanations</a:t>
            </a:r>
            <a:endParaRPr lang="en-US" sz="1800">
              <a:latin typeface="Times New Roman"/>
              <a:ea typeface="Calibri"/>
              <a:cs typeface="Times New Roman"/>
            </a:endParaRPr>
          </a:p>
          <a:p>
            <a:endParaRPr lang="en-US" sz="1800">
              <a:latin typeface="Times New Roman"/>
              <a:ea typeface="Calibri"/>
              <a:cs typeface="Times New Roman"/>
            </a:endParaRPr>
          </a:p>
        </p:txBody>
      </p:sp>
      <p:sp>
        <p:nvSpPr>
          <p:cNvPr id="4" name="Slide Number Placeholder 3">
            <a:extLst>
              <a:ext uri="{FF2B5EF4-FFF2-40B4-BE49-F238E27FC236}">
                <a16:creationId xmlns:a16="http://schemas.microsoft.com/office/drawing/2014/main" id="{C0984BB3-F666-9E6E-5D90-7C604086AFFE}"/>
              </a:ext>
            </a:extLst>
          </p:cNvPr>
          <p:cNvSpPr>
            <a:spLocks noGrp="1"/>
          </p:cNvSpPr>
          <p:nvPr>
            <p:ph type="sldNum" sz="quarter" idx="12"/>
          </p:nvPr>
        </p:nvSpPr>
        <p:spPr/>
        <p:txBody>
          <a:bodyPr/>
          <a:lstStyle/>
          <a:p>
            <a:fld id="{9B618960-8005-486C-9A75-10CB2AAC16F9}" type="slidenum">
              <a:rPr lang="en-US" smtClean="0">
                <a:latin typeface="Times New Roman"/>
                <a:cs typeface="Times New Roman"/>
              </a:rPr>
              <a:pPr/>
              <a:t>7</a:t>
            </a:fld>
            <a:endParaRPr lang="en-US">
              <a:latin typeface="Times New Roman"/>
              <a:cs typeface="Times New Roman"/>
            </a:endParaRPr>
          </a:p>
        </p:txBody>
      </p:sp>
      <p:pic>
        <p:nvPicPr>
          <p:cNvPr id="6" name="Picture 5" descr="WhatsApp Image 2026-03-08 at 12.28.26 PM.jpeg">
            <a:extLst>
              <a:ext uri="{FF2B5EF4-FFF2-40B4-BE49-F238E27FC236}">
                <a16:creationId xmlns:a16="http://schemas.microsoft.com/office/drawing/2014/main" id="{48CEBC0D-6A91-2D59-FE1F-E939135EB910}"/>
              </a:ext>
            </a:extLst>
          </p:cNvPr>
          <p:cNvPicPr>
            <a:picLocks noChangeAspect="1"/>
          </p:cNvPicPr>
          <p:nvPr/>
        </p:nvPicPr>
        <p:blipFill>
          <a:blip r:embed="rId2"/>
          <a:stretch>
            <a:fillRect/>
          </a:stretch>
        </p:blipFill>
        <p:spPr>
          <a:xfrm>
            <a:off x="7322781" y="115018"/>
            <a:ext cx="4869220" cy="822499"/>
          </a:xfrm>
          <a:prstGeom prst="rect">
            <a:avLst/>
          </a:prstGeom>
        </p:spPr>
      </p:pic>
      <p:sp>
        <p:nvSpPr>
          <p:cNvPr id="7" name="TextBox 6">
            <a:extLst>
              <a:ext uri="{FF2B5EF4-FFF2-40B4-BE49-F238E27FC236}">
                <a16:creationId xmlns:a16="http://schemas.microsoft.com/office/drawing/2014/main" id="{72914753-D39E-6EEE-8826-9AA9114AAF61}"/>
              </a:ext>
            </a:extLst>
          </p:cNvPr>
          <p:cNvSpPr txBox="1"/>
          <p:nvPr/>
        </p:nvSpPr>
        <p:spPr>
          <a:xfrm>
            <a:off x="321402" y="350696"/>
            <a:ext cx="7718321"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800" b="1">
                <a:solidFill>
                  <a:srgbClr val="C0383C"/>
                </a:solidFill>
                <a:latin typeface="Times New Roman"/>
                <a:ea typeface="Calibri"/>
                <a:cs typeface="Times New Roman"/>
              </a:rPr>
              <a:t>Dataset , Tools and Technologies </a:t>
            </a:r>
          </a:p>
          <a:p>
            <a:pPr algn="ctr"/>
            <a:endParaRPr lang="en-US">
              <a:latin typeface="Times New Roman"/>
              <a:cs typeface="Times New Roman"/>
            </a:endParaRPr>
          </a:p>
        </p:txBody>
      </p:sp>
      <p:sp>
        <p:nvSpPr>
          <p:cNvPr id="5" name="TextBox 4">
            <a:extLst>
              <a:ext uri="{FF2B5EF4-FFF2-40B4-BE49-F238E27FC236}">
                <a16:creationId xmlns:a16="http://schemas.microsoft.com/office/drawing/2014/main" id="{EA62261F-C929-D33D-A2A4-49F5393C5EFD}"/>
              </a:ext>
            </a:extLst>
          </p:cNvPr>
          <p:cNvSpPr txBox="1"/>
          <p:nvPr/>
        </p:nvSpPr>
        <p:spPr>
          <a:xfrm>
            <a:off x="6297283" y="1373038"/>
            <a:ext cx="6096000"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3200" b="1" i="0" u="none" strike="noStrike" baseline="0">
                <a:solidFill>
                  <a:srgbClr val="000000"/>
                </a:solidFill>
                <a:latin typeface="Times New Roman"/>
                <a:ea typeface="Segoe UI"/>
                <a:cs typeface="Times New Roman"/>
              </a:rPr>
              <a:t>Technologies Used</a:t>
            </a:r>
            <a:r>
              <a:rPr lang="en-US" sz="3200" b="0" i="0">
                <a:solidFill>
                  <a:srgbClr val="000000"/>
                </a:solidFill>
                <a:latin typeface="Times New Roman"/>
                <a:ea typeface="Segoe UI"/>
                <a:cs typeface="Times New Roman"/>
              </a:rPr>
              <a:t>​</a:t>
            </a:r>
          </a:p>
          <a:p>
            <a:endParaRPr lang="en-US" sz="3200">
              <a:solidFill>
                <a:srgbClr val="000000"/>
              </a:solidFill>
              <a:latin typeface="Times New Roman"/>
              <a:ea typeface="Segoe UI"/>
              <a:cs typeface="Times New Roman"/>
            </a:endParaRPr>
          </a:p>
          <a:p>
            <a:pPr algn="l" rtl="0"/>
            <a:r>
              <a:rPr lang="en-US" sz="1800" b="1" i="0" u="none" strike="noStrike" baseline="0">
                <a:solidFill>
                  <a:srgbClr val="000000"/>
                </a:solidFill>
                <a:latin typeface="Times New Roman"/>
                <a:ea typeface="Segoe UI"/>
                <a:cs typeface="Times New Roman"/>
              </a:rPr>
              <a:t>AI Model: Llama 3.3 70B</a:t>
            </a:r>
            <a:r>
              <a:rPr lang="en-US" sz="1800" b="0" i="0">
                <a:solidFill>
                  <a:srgbClr val="000000"/>
                </a:solidFill>
                <a:latin typeface="Times New Roman"/>
                <a:ea typeface="Segoe UI"/>
                <a:cs typeface="Times New Roman"/>
              </a:rPr>
              <a:t>​</a:t>
            </a:r>
          </a:p>
          <a:p>
            <a:pPr algn="l" rtl="0"/>
            <a:r>
              <a:rPr lang="en-US" sz="1800" b="0" i="0" u="none" strike="noStrike" baseline="0">
                <a:solidFill>
                  <a:srgbClr val="000000"/>
                </a:solidFill>
                <a:latin typeface="Times New Roman"/>
                <a:ea typeface="Segoe UI"/>
                <a:cs typeface="Times New Roman"/>
              </a:rPr>
              <a:t>Used For:</a:t>
            </a:r>
            <a:r>
              <a:rPr lang="en-US" sz="1800" b="0" i="0">
                <a:solidFill>
                  <a:srgbClr val="000000"/>
                </a:solidFill>
                <a:latin typeface="Times New Roman"/>
                <a:ea typeface="Segoe UI"/>
                <a:cs typeface="Times New Roman"/>
              </a:rPr>
              <a:t>​</a:t>
            </a:r>
          </a:p>
          <a:p>
            <a:pPr algn="l" rtl="0"/>
            <a:r>
              <a:rPr lang="en-US" sz="1800" b="0" i="0" u="none" strike="noStrike" baseline="0">
                <a:solidFill>
                  <a:srgbClr val="000000"/>
                </a:solidFill>
                <a:latin typeface="Times New Roman"/>
                <a:ea typeface="Segoe UI"/>
                <a:cs typeface="Times New Roman"/>
              </a:rPr>
              <a:t>Paper Analysis </a:t>
            </a:r>
            <a:r>
              <a:rPr lang="en-US" sz="1800" b="0" i="0">
                <a:solidFill>
                  <a:srgbClr val="000000"/>
                </a:solidFill>
                <a:latin typeface="Times New Roman"/>
                <a:ea typeface="Segoe UI"/>
                <a:cs typeface="Times New Roman"/>
              </a:rPr>
              <a:t>​</a:t>
            </a:r>
          </a:p>
          <a:p>
            <a:pPr algn="l" rtl="0"/>
            <a:r>
              <a:rPr lang="en-US" sz="1800" b="0" i="0" u="none" strike="noStrike" baseline="0">
                <a:solidFill>
                  <a:srgbClr val="000000"/>
                </a:solidFill>
                <a:latin typeface="Times New Roman"/>
                <a:ea typeface="Segoe UI"/>
                <a:cs typeface="Times New Roman"/>
              </a:rPr>
              <a:t>Research Gap Detection </a:t>
            </a:r>
            <a:r>
              <a:rPr lang="en-US" sz="1800" b="0" i="0">
                <a:solidFill>
                  <a:srgbClr val="000000"/>
                </a:solidFill>
                <a:latin typeface="Times New Roman"/>
                <a:ea typeface="Segoe UI"/>
                <a:cs typeface="Times New Roman"/>
              </a:rPr>
              <a:t>​</a:t>
            </a:r>
          </a:p>
          <a:p>
            <a:pPr algn="l" rtl="0"/>
            <a:r>
              <a:rPr lang="en-US" sz="1800" b="0" i="0" u="none" strike="noStrike" baseline="0">
                <a:solidFill>
                  <a:srgbClr val="000000"/>
                </a:solidFill>
                <a:latin typeface="Times New Roman"/>
                <a:ea typeface="Segoe UI"/>
                <a:cs typeface="Times New Roman"/>
              </a:rPr>
              <a:t>Podcast Generation </a:t>
            </a:r>
            <a:r>
              <a:rPr lang="en-US" sz="1800" b="0" i="0">
                <a:solidFill>
                  <a:srgbClr val="000000"/>
                </a:solidFill>
                <a:latin typeface="Times New Roman"/>
                <a:ea typeface="Segoe UI"/>
                <a:cs typeface="Times New Roman"/>
              </a:rPr>
              <a:t>​</a:t>
            </a:r>
          </a:p>
          <a:p>
            <a:pPr algn="l" rtl="0"/>
            <a:r>
              <a:rPr lang="en-US" sz="1800" b="0" i="0" u="none" strike="noStrike" baseline="0">
                <a:solidFill>
                  <a:srgbClr val="000000"/>
                </a:solidFill>
                <a:latin typeface="Times New Roman"/>
                <a:ea typeface="Segoe UI"/>
                <a:cs typeface="Times New Roman"/>
              </a:rPr>
              <a:t>Show Notes </a:t>
            </a:r>
            <a:r>
              <a:rPr lang="en-US" sz="1800" b="0" i="0">
                <a:solidFill>
                  <a:srgbClr val="000000"/>
                </a:solidFill>
                <a:latin typeface="Times New Roman"/>
                <a:ea typeface="Segoe UI"/>
                <a:cs typeface="Times New Roman"/>
              </a:rPr>
              <a:t>​</a:t>
            </a:r>
          </a:p>
          <a:p>
            <a:pPr algn="l" rtl="0"/>
            <a:r>
              <a:rPr lang="en-US" sz="1800" b="0" i="0" u="none" strike="noStrike" baseline="0">
                <a:solidFill>
                  <a:srgbClr val="000000"/>
                </a:solidFill>
                <a:latin typeface="Times New Roman"/>
                <a:ea typeface="Segoe UI"/>
                <a:cs typeface="Times New Roman"/>
              </a:rPr>
              <a:t>Timestamp Generation </a:t>
            </a:r>
            <a:r>
              <a:rPr lang="en-US" sz="1800" b="0" i="0">
                <a:solidFill>
                  <a:srgbClr val="000000"/>
                </a:solidFill>
                <a:latin typeface="Times New Roman"/>
                <a:ea typeface="Segoe UI"/>
                <a:cs typeface="Times New Roman"/>
              </a:rPr>
              <a:t>​</a:t>
            </a:r>
            <a:br>
              <a:rPr lang="en-US" sz="1800" b="0" i="0">
                <a:latin typeface="Times New Roman"/>
                <a:ea typeface="Segoe UI"/>
                <a:cs typeface="Times New Roman"/>
              </a:rPr>
            </a:br>
            <a:r>
              <a:rPr lang="en-US" sz="1800" b="0" i="0">
                <a:solidFill>
                  <a:srgbClr val="000000"/>
                </a:solidFill>
                <a:latin typeface="Times New Roman"/>
                <a:ea typeface="Segoe UI"/>
                <a:cs typeface="Times New Roman"/>
              </a:rPr>
              <a:t>​</a:t>
            </a:r>
          </a:p>
          <a:p>
            <a:pPr algn="l" rtl="0"/>
            <a:r>
              <a:rPr lang="en-US" sz="1800" b="1" i="0" u="none" strike="noStrike" baseline="0">
                <a:solidFill>
                  <a:srgbClr val="000000"/>
                </a:solidFill>
                <a:latin typeface="Times New Roman"/>
                <a:ea typeface="Segoe UI"/>
                <a:cs typeface="Times New Roman"/>
              </a:rPr>
              <a:t>Tools</a:t>
            </a:r>
            <a:r>
              <a:rPr lang="en-US" sz="1800" b="0" i="0">
                <a:solidFill>
                  <a:srgbClr val="000000"/>
                </a:solidFill>
                <a:latin typeface="Times New Roman"/>
                <a:ea typeface="Segoe UI"/>
                <a:cs typeface="Times New Roman"/>
              </a:rPr>
              <a:t>​</a:t>
            </a:r>
          </a:p>
          <a:p>
            <a:pPr algn="l" rtl="0"/>
            <a:r>
              <a:rPr lang="en-US" sz="1800" b="0" i="0" u="none" strike="noStrike" baseline="0" err="1">
                <a:solidFill>
                  <a:srgbClr val="000000"/>
                </a:solidFill>
                <a:latin typeface="Times New Roman"/>
                <a:ea typeface="Segoe UI"/>
                <a:cs typeface="Times New Roman"/>
              </a:rPr>
              <a:t>Streamlit</a:t>
            </a:r>
            <a:r>
              <a:rPr lang="en-US" sz="1800" b="0" i="0" u="none" strike="noStrike" baseline="0">
                <a:solidFill>
                  <a:srgbClr val="000000"/>
                </a:solidFill>
                <a:latin typeface="Times New Roman"/>
                <a:ea typeface="Segoe UI"/>
                <a:cs typeface="Times New Roman"/>
              </a:rPr>
              <a:t> </a:t>
            </a:r>
            <a:r>
              <a:rPr lang="en-US" sz="1800" b="0" i="0">
                <a:solidFill>
                  <a:srgbClr val="000000"/>
                </a:solidFill>
                <a:latin typeface="Times New Roman"/>
                <a:ea typeface="Segoe UI"/>
                <a:cs typeface="Times New Roman"/>
              </a:rPr>
              <a:t>​</a:t>
            </a:r>
          </a:p>
          <a:p>
            <a:pPr algn="l" rtl="0"/>
            <a:r>
              <a:rPr lang="en-US" sz="1800" b="0" i="0" u="none" strike="noStrike" baseline="0" err="1">
                <a:solidFill>
                  <a:srgbClr val="000000"/>
                </a:solidFill>
                <a:latin typeface="Times New Roman"/>
                <a:ea typeface="Segoe UI"/>
                <a:cs typeface="Times New Roman"/>
              </a:rPr>
              <a:t>PyPDF</a:t>
            </a:r>
            <a:r>
              <a:rPr lang="en-US" sz="1800" b="0" i="0" u="none" strike="noStrike" baseline="0">
                <a:solidFill>
                  <a:srgbClr val="000000"/>
                </a:solidFill>
                <a:latin typeface="Times New Roman"/>
                <a:ea typeface="Segoe UI"/>
                <a:cs typeface="Times New Roman"/>
              </a:rPr>
              <a:t> </a:t>
            </a:r>
            <a:r>
              <a:rPr lang="en-US" sz="1800" b="0" i="0">
                <a:solidFill>
                  <a:srgbClr val="000000"/>
                </a:solidFill>
                <a:latin typeface="Times New Roman"/>
                <a:ea typeface="Segoe UI"/>
                <a:cs typeface="Times New Roman"/>
              </a:rPr>
              <a:t>​</a:t>
            </a:r>
          </a:p>
          <a:p>
            <a:pPr algn="l" rtl="0"/>
            <a:r>
              <a:rPr lang="en-US" sz="1800" b="0" i="0" u="none" strike="noStrike" baseline="0" err="1">
                <a:solidFill>
                  <a:srgbClr val="000000"/>
                </a:solidFill>
                <a:latin typeface="Times New Roman"/>
                <a:ea typeface="Segoe UI"/>
                <a:cs typeface="Times New Roman"/>
              </a:rPr>
              <a:t>Groq</a:t>
            </a:r>
            <a:r>
              <a:rPr lang="en-US" sz="1800" b="0" i="0" u="none" strike="noStrike" baseline="0">
                <a:solidFill>
                  <a:srgbClr val="000000"/>
                </a:solidFill>
                <a:latin typeface="Times New Roman"/>
                <a:ea typeface="Segoe UI"/>
                <a:cs typeface="Times New Roman"/>
              </a:rPr>
              <a:t> API </a:t>
            </a:r>
            <a:r>
              <a:rPr lang="en-US" sz="1800" b="0" i="0">
                <a:solidFill>
                  <a:srgbClr val="000000"/>
                </a:solidFill>
                <a:latin typeface="Times New Roman"/>
                <a:ea typeface="Segoe UI"/>
                <a:cs typeface="Times New Roman"/>
              </a:rPr>
              <a:t>​</a:t>
            </a:r>
          </a:p>
          <a:p>
            <a:pPr algn="l" rtl="0"/>
            <a:r>
              <a:rPr lang="en-US" sz="1800" b="0" i="0" u="none" strike="noStrike" baseline="0">
                <a:solidFill>
                  <a:srgbClr val="000000"/>
                </a:solidFill>
                <a:latin typeface="Times New Roman"/>
                <a:ea typeface="Segoe UI"/>
                <a:cs typeface="Times New Roman"/>
              </a:rPr>
              <a:t>Python</a:t>
            </a:r>
            <a:r>
              <a:rPr lang="en-US" sz="1800" b="0" i="0">
                <a:solidFill>
                  <a:srgbClr val="000000"/>
                </a:solidFill>
                <a:latin typeface="Times New Roman"/>
                <a:ea typeface="Segoe UI"/>
                <a:cs typeface="Times New Roman"/>
              </a:rPr>
              <a:t>​</a:t>
            </a:r>
          </a:p>
          <a:p>
            <a:pPr algn="ctr"/>
            <a:endParaRPr lang="en-US">
              <a:latin typeface="Times New Roman"/>
              <a:cs typeface="Times New Roman"/>
            </a:endParaRPr>
          </a:p>
        </p:txBody>
      </p:sp>
      <p:cxnSp>
        <p:nvCxnSpPr>
          <p:cNvPr id="9" name="Google Shape;124;g136c2cfec24_0_2">
            <a:extLst>
              <a:ext uri="{FF2B5EF4-FFF2-40B4-BE49-F238E27FC236}">
                <a16:creationId xmlns:a16="http://schemas.microsoft.com/office/drawing/2014/main" id="{F7149D13-B44F-E053-FA39-05FE6AA78C24}"/>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Tree>
    <p:extLst>
      <p:ext uri="{BB962C8B-B14F-4D97-AF65-F5344CB8AC3E}">
        <p14:creationId xmlns:p14="http://schemas.microsoft.com/office/powerpoint/2010/main" val="1386358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EA1F-027D-CD7E-1C06-660F8C5AFD3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79AA23-A395-3934-29D0-9874A0337824}"/>
              </a:ext>
            </a:extLst>
          </p:cNvPr>
          <p:cNvSpPr>
            <a:spLocks noGrp="1"/>
          </p:cNvSpPr>
          <p:nvPr>
            <p:ph type="sldNum" sz="quarter" idx="12"/>
          </p:nvPr>
        </p:nvSpPr>
        <p:spPr/>
        <p:txBody>
          <a:bodyPr/>
          <a:lstStyle/>
          <a:p>
            <a:fld id="{9B618960-8005-486C-9A75-10CB2AAC16F9}" type="slidenum">
              <a:rPr lang="en-US" smtClean="0">
                <a:latin typeface="Times New Roman"/>
                <a:cs typeface="Times New Roman"/>
              </a:rPr>
              <a:pPr/>
              <a:t>8</a:t>
            </a:fld>
            <a:endParaRPr lang="en-US">
              <a:latin typeface="Times New Roman"/>
              <a:cs typeface="Times New Roman"/>
            </a:endParaRPr>
          </a:p>
        </p:txBody>
      </p:sp>
      <p:pic>
        <p:nvPicPr>
          <p:cNvPr id="6" name="Picture 5" descr="WhatsApp Image 2026-03-08 at 12.28.26 PM.jpeg">
            <a:extLst>
              <a:ext uri="{FF2B5EF4-FFF2-40B4-BE49-F238E27FC236}">
                <a16:creationId xmlns:a16="http://schemas.microsoft.com/office/drawing/2014/main" id="{F00952B1-A3C6-940D-087F-5CC0ADDE21A6}"/>
              </a:ext>
            </a:extLst>
          </p:cNvPr>
          <p:cNvPicPr>
            <a:picLocks noChangeAspect="1"/>
          </p:cNvPicPr>
          <p:nvPr/>
        </p:nvPicPr>
        <p:blipFill>
          <a:blip r:embed="rId2"/>
          <a:stretch>
            <a:fillRect/>
          </a:stretch>
        </p:blipFill>
        <p:spPr>
          <a:xfrm>
            <a:off x="7322781" y="115018"/>
            <a:ext cx="4869220" cy="822499"/>
          </a:xfrm>
          <a:prstGeom prst="rect">
            <a:avLst/>
          </a:prstGeom>
        </p:spPr>
      </p:pic>
      <p:sp>
        <p:nvSpPr>
          <p:cNvPr id="7" name="TextBox 6">
            <a:extLst>
              <a:ext uri="{FF2B5EF4-FFF2-40B4-BE49-F238E27FC236}">
                <a16:creationId xmlns:a16="http://schemas.microsoft.com/office/drawing/2014/main" id="{0FBB7F4D-A7FF-2E55-587F-4903DA46A012}"/>
              </a:ext>
            </a:extLst>
          </p:cNvPr>
          <p:cNvSpPr txBox="1"/>
          <p:nvPr/>
        </p:nvSpPr>
        <p:spPr>
          <a:xfrm>
            <a:off x="321402" y="350696"/>
            <a:ext cx="771832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a:solidFill>
                  <a:srgbClr val="C0383C"/>
                </a:solidFill>
                <a:latin typeface="Times New Roman"/>
                <a:ea typeface="Calibri"/>
                <a:cs typeface="Times New Roman"/>
              </a:rPr>
              <a:t>Implementation</a:t>
            </a:r>
          </a:p>
          <a:p>
            <a:pPr algn="ctr"/>
            <a:endParaRPr lang="en-US" sz="3200">
              <a:latin typeface="Times New Roman"/>
              <a:cs typeface="Times New Roman"/>
            </a:endParaRPr>
          </a:p>
        </p:txBody>
      </p:sp>
      <p:cxnSp>
        <p:nvCxnSpPr>
          <p:cNvPr id="9" name="Google Shape;124;g136c2cfec24_0_2">
            <a:extLst>
              <a:ext uri="{FF2B5EF4-FFF2-40B4-BE49-F238E27FC236}">
                <a16:creationId xmlns:a16="http://schemas.microsoft.com/office/drawing/2014/main" id="{A001C646-45CE-B5E1-1044-B0751D8987BD}"/>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13" name="TextBox 12">
            <a:extLst>
              <a:ext uri="{FF2B5EF4-FFF2-40B4-BE49-F238E27FC236}">
                <a16:creationId xmlns:a16="http://schemas.microsoft.com/office/drawing/2014/main" id="{A84EB2C7-9921-36AC-FEC6-DC5EFAFBDC00}"/>
              </a:ext>
            </a:extLst>
          </p:cNvPr>
          <p:cNvSpPr txBox="1"/>
          <p:nvPr/>
        </p:nvSpPr>
        <p:spPr>
          <a:xfrm>
            <a:off x="323589" y="1424836"/>
            <a:ext cx="5156547"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cs typeface="Times New Roman"/>
              </a:rPr>
              <a:t>Frontend Implementation</a:t>
            </a:r>
            <a:endParaRPr lang="en-US"/>
          </a:p>
          <a:p>
            <a:pPr marL="285750" indent="-285750" algn="just">
              <a:buFont typeface="Arial"/>
              <a:buChar char="•"/>
            </a:pPr>
            <a:r>
              <a:rPr lang="en-US">
                <a:latin typeface="Times New Roman"/>
                <a:cs typeface="Times New Roman"/>
              </a:rPr>
              <a:t>Developed using </a:t>
            </a:r>
            <a:r>
              <a:rPr lang="en-US" b="1" err="1">
                <a:latin typeface="Times New Roman"/>
                <a:cs typeface="Times New Roman"/>
              </a:rPr>
              <a:t>Streamlit</a:t>
            </a:r>
            <a:r>
              <a:rPr lang="en-US">
                <a:latin typeface="Times New Roman"/>
                <a:cs typeface="Times New Roman"/>
              </a:rPr>
              <a:t> for an interactive web interface. </a:t>
            </a:r>
            <a:endParaRPr lang="en-US">
              <a:latin typeface="Times New Roman"/>
              <a:ea typeface="Calibri"/>
              <a:cs typeface="Times New Roman"/>
            </a:endParaRPr>
          </a:p>
          <a:p>
            <a:pPr marL="285750" indent="-285750" algn="just">
              <a:buFont typeface="Arial"/>
              <a:buChar char="•"/>
            </a:pPr>
            <a:r>
              <a:rPr lang="en-US">
                <a:latin typeface="Times New Roman"/>
                <a:cs typeface="Times New Roman"/>
              </a:rPr>
              <a:t>Supports PDF upload and podcast style selection. </a:t>
            </a:r>
            <a:endParaRPr lang="en-US">
              <a:latin typeface="Times New Roman"/>
              <a:ea typeface="Calibri"/>
              <a:cs typeface="Times New Roman"/>
            </a:endParaRPr>
          </a:p>
          <a:p>
            <a:pPr marL="285750" indent="-285750" algn="just">
              <a:buFont typeface="Arial"/>
              <a:buChar char="•"/>
            </a:pPr>
            <a:r>
              <a:rPr lang="en-US">
                <a:latin typeface="Times New Roman"/>
                <a:cs typeface="Times New Roman"/>
              </a:rPr>
              <a:t>Displays generated analysis, research gaps, and podcast outputs. </a:t>
            </a:r>
            <a:endParaRPr lang="en-US">
              <a:latin typeface="Times New Roman"/>
              <a:ea typeface="Calibri"/>
              <a:cs typeface="Times New Roman"/>
            </a:endParaRPr>
          </a:p>
          <a:p>
            <a:pPr marL="285750" indent="-285750" algn="just">
              <a:buFont typeface="Arial"/>
              <a:buChar char="•"/>
            </a:pPr>
            <a:endParaRPr lang="en-US">
              <a:latin typeface="Times New Roman"/>
              <a:ea typeface="Calibri"/>
              <a:cs typeface="Times New Roman"/>
            </a:endParaRPr>
          </a:p>
          <a:p>
            <a:pPr algn="just"/>
            <a:r>
              <a:rPr lang="en-US" b="1">
                <a:latin typeface="Times New Roman"/>
                <a:cs typeface="Times New Roman"/>
              </a:rPr>
              <a:t>Backend Implementation</a:t>
            </a:r>
          </a:p>
          <a:p>
            <a:pPr marL="285750" indent="-285750" algn="just">
              <a:buFont typeface="Arial"/>
              <a:buChar char="•"/>
            </a:pPr>
            <a:r>
              <a:rPr lang="en-US">
                <a:latin typeface="Times New Roman"/>
                <a:cs typeface="Times New Roman"/>
              </a:rPr>
              <a:t>Implemented in </a:t>
            </a:r>
            <a:r>
              <a:rPr lang="en-US" b="1">
                <a:latin typeface="Times New Roman"/>
                <a:cs typeface="Times New Roman"/>
              </a:rPr>
              <a:t>Python</a:t>
            </a:r>
            <a:r>
              <a:rPr lang="en-US">
                <a:latin typeface="Times New Roman"/>
                <a:cs typeface="Times New Roman"/>
              </a:rPr>
              <a:t>. </a:t>
            </a:r>
            <a:endParaRPr lang="en-US">
              <a:latin typeface="Times New Roman"/>
              <a:ea typeface="Calibri"/>
              <a:cs typeface="Times New Roman"/>
            </a:endParaRPr>
          </a:p>
          <a:p>
            <a:pPr marL="285750" indent="-285750" algn="just">
              <a:buFont typeface="Arial"/>
              <a:buChar char="•"/>
            </a:pPr>
            <a:r>
              <a:rPr lang="en-US" b="1" err="1">
                <a:latin typeface="Times New Roman"/>
                <a:cs typeface="Times New Roman"/>
              </a:rPr>
              <a:t>PyPDF</a:t>
            </a:r>
            <a:r>
              <a:rPr lang="en-US">
                <a:latin typeface="Times New Roman"/>
                <a:cs typeface="Times New Roman"/>
              </a:rPr>
              <a:t> extracts text from uploaded research papers. </a:t>
            </a:r>
            <a:endParaRPr lang="en-US">
              <a:latin typeface="Times New Roman"/>
              <a:ea typeface="Calibri"/>
              <a:cs typeface="Times New Roman"/>
            </a:endParaRPr>
          </a:p>
          <a:p>
            <a:pPr marL="285750" indent="-285750" algn="just">
              <a:buFont typeface="Arial"/>
              <a:buChar char="•"/>
            </a:pPr>
            <a:r>
              <a:rPr lang="en-US">
                <a:latin typeface="Times New Roman"/>
                <a:cs typeface="Times New Roman"/>
              </a:rPr>
              <a:t>Text preprocessing prepares content for AI analysis. </a:t>
            </a:r>
            <a:endParaRPr lang="en-US">
              <a:latin typeface="Times New Roman"/>
              <a:ea typeface="Calibri"/>
              <a:cs typeface="Times New Roman"/>
            </a:endParaRPr>
          </a:p>
          <a:p>
            <a:pPr algn="just"/>
            <a:endParaRPr lang="en-US">
              <a:latin typeface="Times New Roman"/>
              <a:cs typeface="Times New Roman"/>
            </a:endParaRPr>
          </a:p>
          <a:p>
            <a:pPr algn="just"/>
            <a:r>
              <a:rPr lang="en-US" b="1">
                <a:latin typeface="Times New Roman"/>
                <a:cs typeface="Times New Roman"/>
              </a:rPr>
              <a:t>Dataset Integration</a:t>
            </a:r>
            <a:r>
              <a:rPr lang="en-US">
                <a:latin typeface="Times New Roman"/>
                <a:cs typeface="Times New Roman"/>
              </a:rPr>
              <a:t> </a:t>
            </a:r>
          </a:p>
          <a:p>
            <a:pPr marL="228600" indent="-228600" algn="just">
              <a:buFont typeface="Arial"/>
              <a:buChar char="•"/>
            </a:pPr>
            <a:r>
              <a:rPr lang="en-US">
                <a:latin typeface="Times New Roman"/>
                <a:cs typeface="Times New Roman"/>
              </a:rPr>
              <a:t>Scientific Lay </a:t>
            </a:r>
            <a:r>
              <a:rPr lang="en-US" err="1">
                <a:latin typeface="Times New Roman"/>
                <a:cs typeface="Times New Roman"/>
              </a:rPr>
              <a:t>Summarisation</a:t>
            </a:r>
            <a:r>
              <a:rPr lang="en-US">
                <a:latin typeface="Times New Roman"/>
                <a:cs typeface="Times New Roman"/>
              </a:rPr>
              <a:t> Dataset used to create easy-to-understand explanations and listener-friendly content. </a:t>
            </a:r>
          </a:p>
          <a:p>
            <a:pPr algn="just"/>
            <a:endParaRPr lang="en-US">
              <a:latin typeface="Times New Roman"/>
              <a:cs typeface="Times New Roman"/>
            </a:endParaRPr>
          </a:p>
        </p:txBody>
      </p:sp>
      <p:sp>
        <p:nvSpPr>
          <p:cNvPr id="14" name="TextBox 13">
            <a:extLst>
              <a:ext uri="{FF2B5EF4-FFF2-40B4-BE49-F238E27FC236}">
                <a16:creationId xmlns:a16="http://schemas.microsoft.com/office/drawing/2014/main" id="{680AC9C8-440D-9D4B-0DA1-9C9982727324}"/>
              </a:ext>
            </a:extLst>
          </p:cNvPr>
          <p:cNvSpPr txBox="1"/>
          <p:nvPr/>
        </p:nvSpPr>
        <p:spPr>
          <a:xfrm>
            <a:off x="5928986" y="1424836"/>
            <a:ext cx="60960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latin typeface="Times New Roman"/>
                <a:cs typeface="Times New Roman"/>
              </a:rPr>
              <a:t>AI Integration Module</a:t>
            </a:r>
            <a:endParaRPr lang="en-US"/>
          </a:p>
          <a:p>
            <a:pPr marL="285750" indent="-285750" algn="just">
              <a:buFont typeface="Arial"/>
              <a:buChar char="•"/>
            </a:pPr>
            <a:r>
              <a:rPr lang="en-US">
                <a:solidFill>
                  <a:srgbClr val="000000"/>
                </a:solidFill>
                <a:latin typeface="Times New Roman"/>
                <a:ea typeface="+mn-lt"/>
                <a:cs typeface="Times New Roman"/>
              </a:rPr>
              <a:t>Integrated </a:t>
            </a:r>
            <a:r>
              <a:rPr lang="en-US" err="1">
                <a:solidFill>
                  <a:srgbClr val="000000"/>
                </a:solidFill>
                <a:latin typeface="Times New Roman"/>
                <a:ea typeface="+mn-lt"/>
                <a:cs typeface="Times New Roman"/>
              </a:rPr>
              <a:t>Groq</a:t>
            </a:r>
            <a:r>
              <a:rPr lang="en-US">
                <a:solidFill>
                  <a:srgbClr val="000000"/>
                </a:solidFill>
                <a:latin typeface="Times New Roman"/>
                <a:ea typeface="+mn-lt"/>
                <a:cs typeface="Times New Roman"/>
              </a:rPr>
              <a:t> API with Llama 3.3 70B. </a:t>
            </a:r>
            <a:endParaRPr lang="en-US">
              <a:latin typeface="Times New Roman"/>
              <a:cs typeface="Times New Roman"/>
            </a:endParaRPr>
          </a:p>
          <a:p>
            <a:pPr marL="285750" indent="-285750" algn="just">
              <a:buFont typeface="Arial"/>
              <a:buChar char="•"/>
            </a:pPr>
            <a:r>
              <a:rPr lang="en-US">
                <a:solidFill>
                  <a:srgbClr val="000000"/>
                </a:solidFill>
                <a:latin typeface="Times New Roman"/>
                <a:ea typeface="+mn-lt"/>
                <a:cs typeface="Times New Roman"/>
              </a:rPr>
              <a:t>Designed prompts for: </a:t>
            </a:r>
            <a:endParaRPr lang="en-US">
              <a:latin typeface="Times New Roman"/>
              <a:cs typeface="Times New Roman"/>
            </a:endParaRPr>
          </a:p>
          <a:p>
            <a:pPr marL="742950" lvl="1" indent="-285750" algn="just">
              <a:buFont typeface="Arial"/>
              <a:buChar char="•"/>
            </a:pPr>
            <a:r>
              <a:rPr lang="en-US">
                <a:solidFill>
                  <a:srgbClr val="000000"/>
                </a:solidFill>
                <a:latin typeface="Times New Roman"/>
                <a:ea typeface="+mn-lt"/>
                <a:cs typeface="Times New Roman"/>
              </a:rPr>
              <a:t>Paper analysis </a:t>
            </a:r>
            <a:endParaRPr lang="en-US">
              <a:latin typeface="Times New Roman"/>
              <a:cs typeface="Times New Roman"/>
            </a:endParaRPr>
          </a:p>
          <a:p>
            <a:pPr marL="742950" lvl="1" indent="-285750" algn="just">
              <a:buFont typeface="Arial"/>
              <a:buChar char="•"/>
            </a:pPr>
            <a:r>
              <a:rPr lang="en-US">
                <a:solidFill>
                  <a:srgbClr val="000000"/>
                </a:solidFill>
                <a:latin typeface="Times New Roman"/>
                <a:ea typeface="+mn-lt"/>
                <a:cs typeface="Times New Roman"/>
              </a:rPr>
              <a:t>Research gap identification </a:t>
            </a:r>
            <a:endParaRPr lang="en-US">
              <a:latin typeface="Times New Roman"/>
              <a:cs typeface="Times New Roman"/>
            </a:endParaRPr>
          </a:p>
          <a:p>
            <a:pPr marL="742950" lvl="1" indent="-285750" algn="just">
              <a:buFont typeface="Arial"/>
              <a:buChar char="•"/>
            </a:pPr>
            <a:r>
              <a:rPr lang="en-US">
                <a:solidFill>
                  <a:srgbClr val="000000"/>
                </a:solidFill>
                <a:latin typeface="Times New Roman"/>
                <a:ea typeface="+mn-lt"/>
                <a:cs typeface="Times New Roman"/>
              </a:rPr>
              <a:t>Podcast generation </a:t>
            </a:r>
            <a:endParaRPr lang="en-US">
              <a:latin typeface="Times New Roman"/>
              <a:cs typeface="Times New Roman"/>
            </a:endParaRPr>
          </a:p>
          <a:p>
            <a:pPr marL="285750" indent="-285750" algn="just">
              <a:buFont typeface="Arial"/>
              <a:buChar char="•"/>
            </a:pPr>
            <a:r>
              <a:rPr lang="en-US">
                <a:solidFill>
                  <a:srgbClr val="000000"/>
                </a:solidFill>
                <a:latin typeface="Times New Roman"/>
                <a:ea typeface="+mn-lt"/>
                <a:cs typeface="Times New Roman"/>
              </a:rPr>
              <a:t>Manage</a:t>
            </a:r>
            <a:r>
              <a:rPr lang="en-US">
                <a:solidFill>
                  <a:srgbClr val="000000"/>
                </a:solidFill>
                <a:ea typeface="+mn-lt"/>
                <a:cs typeface="+mn-lt"/>
              </a:rPr>
              <a:t>d communication between the application and AI model.</a:t>
            </a:r>
            <a:endParaRPr lang="en-US">
              <a:ea typeface="Calibri"/>
              <a:cs typeface="Calibri"/>
            </a:endParaRPr>
          </a:p>
          <a:p>
            <a:pPr marL="228600" lvl="1" indent="-228600" algn="just">
              <a:buFont typeface=""/>
              <a:buChar char="•"/>
            </a:pPr>
            <a:endParaRPr lang="en-US" sz="1800" b="0" i="0">
              <a:solidFill>
                <a:srgbClr val="000000"/>
              </a:solidFill>
              <a:latin typeface="Times New Roman"/>
              <a:ea typeface="Arial"/>
              <a:cs typeface="Times New Roman"/>
            </a:endParaRPr>
          </a:p>
          <a:p>
            <a:pPr algn="just" rtl="0"/>
            <a:r>
              <a:rPr lang="en-US" sz="1800" b="1" i="0" u="none" strike="noStrike" baseline="0">
                <a:solidFill>
                  <a:srgbClr val="000000"/>
                </a:solidFill>
                <a:latin typeface="Times New Roman"/>
                <a:ea typeface="Segoe UI"/>
                <a:cs typeface="Times New Roman"/>
              </a:rPr>
              <a:t>Audio &amp; Export Module</a:t>
            </a:r>
            <a:r>
              <a:rPr lang="en-US" sz="1800" b="0" i="0">
                <a:solidFill>
                  <a:srgbClr val="000000"/>
                </a:solidFill>
                <a:latin typeface="Times New Roman"/>
                <a:ea typeface="Segoe UI"/>
                <a:cs typeface="Times New Roman"/>
              </a:rPr>
              <a:t>​</a:t>
            </a:r>
          </a:p>
          <a:p>
            <a:pPr marL="228600" lvl="0" indent="-228600" algn="just" rtl="0">
              <a:buFont typeface=""/>
              <a:buChar char="•"/>
            </a:pPr>
            <a:r>
              <a:rPr lang="en-US" sz="1800" b="1" i="0" u="none" strike="noStrike" baseline="0" err="1">
                <a:solidFill>
                  <a:srgbClr val="000000"/>
                </a:solidFill>
                <a:latin typeface="Times New Roman"/>
                <a:ea typeface="Arial"/>
                <a:cs typeface="Times New Roman"/>
              </a:rPr>
              <a:t>gTTS</a:t>
            </a:r>
            <a:r>
              <a:rPr lang="en-US" sz="1800" b="1" i="0" u="none" strike="noStrike" baseline="0">
                <a:solidFill>
                  <a:srgbClr val="000000"/>
                </a:solidFill>
                <a:latin typeface="Times New Roman"/>
                <a:ea typeface="Arial"/>
                <a:cs typeface="Times New Roman"/>
              </a:rPr>
              <a:t> (Google Text-to-Speech)</a:t>
            </a:r>
            <a:r>
              <a:rPr lang="en-US" sz="1800" b="0" i="0" u="none" strike="noStrike" baseline="0">
                <a:solidFill>
                  <a:srgbClr val="000000"/>
                </a:solidFill>
                <a:latin typeface="Times New Roman"/>
                <a:ea typeface="Arial"/>
                <a:cs typeface="Times New Roman"/>
              </a:rPr>
              <a:t> converts podcast scripts into audio. </a:t>
            </a:r>
            <a:r>
              <a:rPr lang="en-US" sz="1800" b="0" i="0">
                <a:solidFill>
                  <a:srgbClr val="000000"/>
                </a:solidFill>
                <a:latin typeface="Times New Roman"/>
                <a:ea typeface="Arial"/>
                <a:cs typeface="Times New Roman"/>
              </a:rPr>
              <a:t>​</a:t>
            </a:r>
          </a:p>
          <a:p>
            <a:pPr marL="228600" lvl="0" indent="-228600" algn="just" rtl="0">
              <a:buFont typeface=""/>
              <a:buChar char="•"/>
            </a:pPr>
            <a:r>
              <a:rPr lang="en-US" sz="1800" b="1" i="0" u="none" strike="noStrike" baseline="0">
                <a:solidFill>
                  <a:srgbClr val="000000"/>
                </a:solidFill>
                <a:latin typeface="Times New Roman"/>
                <a:ea typeface="Arial"/>
                <a:cs typeface="Times New Roman"/>
              </a:rPr>
              <a:t>python-docx</a:t>
            </a:r>
            <a:r>
              <a:rPr lang="en-US" sz="1800" b="0" i="0" u="none" strike="noStrike" baseline="0">
                <a:solidFill>
                  <a:srgbClr val="000000"/>
                </a:solidFill>
                <a:latin typeface="Times New Roman"/>
                <a:ea typeface="Arial"/>
                <a:cs typeface="Times New Roman"/>
              </a:rPr>
              <a:t> generates downloadable DOCX files. </a:t>
            </a:r>
            <a:r>
              <a:rPr lang="en-US" sz="1800" b="0" i="0">
                <a:solidFill>
                  <a:srgbClr val="000000"/>
                </a:solidFill>
                <a:latin typeface="Times New Roman"/>
                <a:ea typeface="Arial"/>
                <a:cs typeface="Times New Roman"/>
              </a:rPr>
              <a:t>​</a:t>
            </a:r>
          </a:p>
          <a:p>
            <a:pPr marL="228600" lvl="0" indent="-228600" algn="just" rtl="0">
              <a:buFont typeface=""/>
              <a:buChar char="•"/>
            </a:pPr>
            <a:r>
              <a:rPr lang="en-US" sz="1800" b="0" i="0" u="none" strike="noStrike" baseline="0">
                <a:solidFill>
                  <a:srgbClr val="000000"/>
                </a:solidFill>
                <a:latin typeface="Times New Roman"/>
                <a:ea typeface="Arial"/>
                <a:cs typeface="Times New Roman"/>
              </a:rPr>
              <a:t>MP3 audio files are generated for podcast listening. </a:t>
            </a:r>
            <a:r>
              <a:rPr lang="en-US">
                <a:solidFill>
                  <a:srgbClr val="000000"/>
                </a:solidFill>
                <a:latin typeface="Times New Roman"/>
                <a:ea typeface="Arial"/>
                <a:cs typeface="Times New Roman"/>
              </a:rPr>
              <a:t>​​</a:t>
            </a:r>
            <a:endParaRPr lang="en-US" sz="1800" b="0" i="0">
              <a:solidFill>
                <a:srgbClr val="000000"/>
              </a:solidFill>
              <a:latin typeface="Times New Roman"/>
              <a:ea typeface="Segoe UI"/>
              <a:cs typeface="Times New Roman"/>
            </a:endParaRPr>
          </a:p>
          <a:p>
            <a:pPr algn="just"/>
            <a:endParaRPr lang="en-US">
              <a:latin typeface="Times New Roman"/>
              <a:cs typeface="Times New Roman"/>
            </a:endParaRPr>
          </a:p>
        </p:txBody>
      </p:sp>
    </p:spTree>
    <p:extLst>
      <p:ext uri="{BB962C8B-B14F-4D97-AF65-F5344CB8AC3E}">
        <p14:creationId xmlns:p14="http://schemas.microsoft.com/office/powerpoint/2010/main" val="3735373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D887-C30F-F7D3-3B68-1CEB8DC88978}"/>
            </a:ext>
          </a:extLst>
        </p:cNvPr>
        <p:cNvGrpSpPr/>
        <p:nvPr/>
      </p:nvGrpSpPr>
      <p:grpSpPr>
        <a:xfrm>
          <a:off x="0" y="0"/>
          <a:ext cx="0" cy="0"/>
          <a:chOff x="0" y="0"/>
          <a:chExt cx="0" cy="0"/>
        </a:xfrm>
      </p:grpSpPr>
      <p:cxnSp>
        <p:nvCxnSpPr>
          <p:cNvPr id="4101" name="Google Shape;124;g136c2cfec24_0_2">
            <a:extLst>
              <a:ext uri="{FF2B5EF4-FFF2-40B4-BE49-F238E27FC236}">
                <a16:creationId xmlns:a16="http://schemas.microsoft.com/office/drawing/2014/main" id="{3E1633F0-1B6F-1AF9-FEFF-5465B673D9B8}"/>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113E6D68-03E6-C671-351C-0BF8DD4D20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Times New Roman"/>
                <a:cs typeface="Times New Roman"/>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Times New Roman"/>
              <a:cs typeface="Times New Roman"/>
            </a:endParaRPr>
          </a:p>
        </p:txBody>
      </p:sp>
      <p:pic>
        <p:nvPicPr>
          <p:cNvPr id="7" name="Picture 6" descr="WhatsApp Image 2026-03-08 at 12.28.26 PM.jpeg">
            <a:extLst>
              <a:ext uri="{FF2B5EF4-FFF2-40B4-BE49-F238E27FC236}">
                <a16:creationId xmlns:a16="http://schemas.microsoft.com/office/drawing/2014/main" id="{260ECBE5-0EF0-5323-E925-764683630569}"/>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DBBA85EB-8603-A076-3024-4761B9BCB70C}"/>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 name="TextBox 7">
            <a:extLst>
              <a:ext uri="{FF2B5EF4-FFF2-40B4-BE49-F238E27FC236}">
                <a16:creationId xmlns:a16="http://schemas.microsoft.com/office/drawing/2014/main" id="{03BD9EAA-32CE-5365-9C6D-625384471A3D}"/>
              </a:ext>
            </a:extLst>
          </p:cNvPr>
          <p:cNvSpPr txBox="1"/>
          <p:nvPr/>
        </p:nvSpPr>
        <p:spPr>
          <a:xfrm>
            <a:off x="536754" y="302908"/>
            <a:ext cx="7245779" cy="1077218"/>
          </a:xfrm>
          <a:prstGeom prst="rect">
            <a:avLst/>
          </a:prstGeom>
          <a:noFill/>
        </p:spPr>
        <p:txBody>
          <a:bodyPr wrap="square" lIns="91440" tIns="45720" rIns="91440" bIns="45720" rtlCol="0" anchor="t">
            <a:spAutoFit/>
          </a:bodyPr>
          <a:lstStyle/>
          <a:p>
            <a:r>
              <a:rPr lang="en-IN" sz="3200" b="1">
                <a:solidFill>
                  <a:srgbClr val="C0383C"/>
                </a:solidFill>
                <a:latin typeface="Times New Roman"/>
                <a:cs typeface="Times New Roman"/>
              </a:rPr>
              <a:t>Results and Outputs</a:t>
            </a:r>
            <a:endParaRPr lang="en-IN" sz="3200" b="1" i="0" u="none" strike="noStrike" kern="1200" cap="none" spc="0" normalizeH="0" baseline="0" noProof="0">
              <a:ln>
                <a:noFill/>
              </a:ln>
              <a:solidFill>
                <a:srgbClr val="C0383C"/>
              </a:solidFill>
              <a:effectLst/>
              <a:uLnTx/>
              <a:uFillTx/>
              <a:latin typeface="Times New Roman"/>
              <a:cs typeface="Times New Roman"/>
            </a:endParaRPr>
          </a:p>
          <a:p>
            <a:endParaRPr lang="en-US" sz="3200">
              <a:latin typeface="Times New Roman"/>
              <a:cs typeface="Times New Roman"/>
            </a:endParaRPr>
          </a:p>
        </p:txBody>
      </p:sp>
      <p:sp>
        <p:nvSpPr>
          <p:cNvPr id="2" name="TextBox 1">
            <a:extLst>
              <a:ext uri="{FF2B5EF4-FFF2-40B4-BE49-F238E27FC236}">
                <a16:creationId xmlns:a16="http://schemas.microsoft.com/office/drawing/2014/main" id="{A37805C9-2514-AE1D-75FC-61A917FB68E5}"/>
              </a:ext>
            </a:extLst>
          </p:cNvPr>
          <p:cNvSpPr txBox="1"/>
          <p:nvPr/>
        </p:nvSpPr>
        <p:spPr>
          <a:xfrm>
            <a:off x="532356" y="1112695"/>
            <a:ext cx="6098562" cy="4197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latin typeface="Times New Roman"/>
                <a:cs typeface="Times New Roman"/>
              </a:rPr>
              <a:t>Generated Outputs</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Successfully extracted and analyzed research paper content.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Identified problem statement, methodology, key findings, and research gaps.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Generated podcast-style Host–Expert conversational scripts.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Created listener-friendly analogies, key takeaways, and show notes.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Automatically generated chapter-wise timestamps.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Produced downloadable DOCX and MP3 podcast outputs.</a:t>
            </a:r>
            <a:endParaRPr lang="en-US">
              <a:latin typeface="Times New Roman"/>
              <a:ea typeface="Calibri"/>
              <a:cs typeface="Times New Roman"/>
            </a:endParaRPr>
          </a:p>
          <a:p>
            <a:pPr marL="285750" indent="-285750" algn="ctr">
              <a:lnSpc>
                <a:spcPct val="150000"/>
              </a:lnSpc>
              <a:buFont typeface="Arial"/>
              <a:buChar char="•"/>
            </a:pPr>
            <a:endParaRPr lang="en-US">
              <a:latin typeface="Times New Roman"/>
              <a:ea typeface="Calibri"/>
              <a:cs typeface="Times New Roman"/>
            </a:endParaRPr>
          </a:p>
        </p:txBody>
      </p:sp>
      <p:pic>
        <p:nvPicPr>
          <p:cNvPr id="3" name="Picture 2" descr="A screenshot of a podcast script&#10;&#10;AI-generated content may be incorrect.">
            <a:extLst>
              <a:ext uri="{FF2B5EF4-FFF2-40B4-BE49-F238E27FC236}">
                <a16:creationId xmlns:a16="http://schemas.microsoft.com/office/drawing/2014/main" id="{1F310C17-280A-4E5E-5C26-4C2A151725F8}"/>
              </a:ext>
            </a:extLst>
          </p:cNvPr>
          <p:cNvPicPr>
            <a:picLocks noChangeAspect="1"/>
          </p:cNvPicPr>
          <p:nvPr/>
        </p:nvPicPr>
        <p:blipFill>
          <a:blip r:embed="rId4"/>
          <a:stretch>
            <a:fillRect/>
          </a:stretch>
        </p:blipFill>
        <p:spPr>
          <a:xfrm>
            <a:off x="7093139" y="3019403"/>
            <a:ext cx="4744065" cy="1502814"/>
          </a:xfrm>
          <a:prstGeom prst="rect">
            <a:avLst/>
          </a:prstGeom>
        </p:spPr>
      </p:pic>
      <p:pic>
        <p:nvPicPr>
          <p:cNvPr id="4" name="Picture 3" descr="A screenshot of a podcast&#10;&#10;AI-generated content may be incorrect.">
            <a:extLst>
              <a:ext uri="{FF2B5EF4-FFF2-40B4-BE49-F238E27FC236}">
                <a16:creationId xmlns:a16="http://schemas.microsoft.com/office/drawing/2014/main" id="{7A5163C1-D6C7-B497-068B-1C7EEE0A093C}"/>
              </a:ext>
            </a:extLst>
          </p:cNvPr>
          <p:cNvPicPr>
            <a:picLocks noChangeAspect="1"/>
          </p:cNvPicPr>
          <p:nvPr/>
        </p:nvPicPr>
        <p:blipFill>
          <a:blip r:embed="rId5"/>
          <a:stretch>
            <a:fillRect/>
          </a:stretch>
        </p:blipFill>
        <p:spPr>
          <a:xfrm>
            <a:off x="7089893" y="1377622"/>
            <a:ext cx="4735718" cy="1393316"/>
          </a:xfrm>
          <a:prstGeom prst="rect">
            <a:avLst/>
          </a:prstGeom>
        </p:spPr>
      </p:pic>
      <p:pic>
        <p:nvPicPr>
          <p:cNvPr id="5" name="Picture 4" descr="A screenshot of a video&#10;&#10;AI-generated content may be incorrect.">
            <a:extLst>
              <a:ext uri="{FF2B5EF4-FFF2-40B4-BE49-F238E27FC236}">
                <a16:creationId xmlns:a16="http://schemas.microsoft.com/office/drawing/2014/main" id="{B31068C2-A1E9-D01B-EE7F-C4FB444D0DA7}"/>
              </a:ext>
            </a:extLst>
          </p:cNvPr>
          <p:cNvPicPr>
            <a:picLocks noChangeAspect="1"/>
          </p:cNvPicPr>
          <p:nvPr/>
        </p:nvPicPr>
        <p:blipFill>
          <a:blip r:embed="rId6"/>
          <a:stretch>
            <a:fillRect/>
          </a:stretch>
        </p:blipFill>
        <p:spPr>
          <a:xfrm>
            <a:off x="7088037" y="4632349"/>
            <a:ext cx="4744528" cy="1906510"/>
          </a:xfrm>
          <a:prstGeom prst="rect">
            <a:avLst/>
          </a:prstGeom>
        </p:spPr>
      </p:pic>
    </p:spTree>
    <p:extLst>
      <p:ext uri="{BB962C8B-B14F-4D97-AF65-F5344CB8AC3E}">
        <p14:creationId xmlns:p14="http://schemas.microsoft.com/office/powerpoint/2010/main" val="339169949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60562-5154-46ED-FB7D-205B57503A9B}"/>
            </a:ext>
          </a:extLst>
        </p:cNvPr>
        <p:cNvGrpSpPr/>
        <p:nvPr/>
      </p:nvGrpSpPr>
      <p:grpSpPr>
        <a:xfrm>
          <a:off x="0" y="0"/>
          <a:ext cx="0" cy="0"/>
          <a:chOff x="0" y="0"/>
          <a:chExt cx="0" cy="0"/>
        </a:xfrm>
      </p:grpSpPr>
      <p:cxnSp>
        <p:nvCxnSpPr>
          <p:cNvPr id="4101" name="Google Shape;124;g136c2cfec24_0_2">
            <a:extLst>
              <a:ext uri="{FF2B5EF4-FFF2-40B4-BE49-F238E27FC236}">
                <a16:creationId xmlns:a16="http://schemas.microsoft.com/office/drawing/2014/main" id="{2B4B3798-A0ED-4C1B-A622-0A3BCCB76110}"/>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A1637676-11D4-1622-6A2E-B082276342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Times New Roman"/>
                <a:cs typeface="Times New Roman"/>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Times New Roman"/>
              <a:cs typeface="Times New Roman"/>
            </a:endParaRPr>
          </a:p>
        </p:txBody>
      </p:sp>
      <p:pic>
        <p:nvPicPr>
          <p:cNvPr id="7" name="Picture 6" descr="WhatsApp Image 2026-03-08 at 12.28.26 PM.jpeg">
            <a:extLst>
              <a:ext uri="{FF2B5EF4-FFF2-40B4-BE49-F238E27FC236}">
                <a16:creationId xmlns:a16="http://schemas.microsoft.com/office/drawing/2014/main" id="{FA00A9F0-15D8-231F-AFD7-0C902EF2A745}"/>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8199ACDB-AC9C-14D5-A147-CE5EDDC4CDF5}"/>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 name="TextBox 7">
            <a:extLst>
              <a:ext uri="{FF2B5EF4-FFF2-40B4-BE49-F238E27FC236}">
                <a16:creationId xmlns:a16="http://schemas.microsoft.com/office/drawing/2014/main" id="{7DC3DEDA-0E66-CAB9-15B3-D367B76FFC60}"/>
              </a:ext>
            </a:extLst>
          </p:cNvPr>
          <p:cNvSpPr txBox="1"/>
          <p:nvPr/>
        </p:nvSpPr>
        <p:spPr>
          <a:xfrm>
            <a:off x="390617" y="282031"/>
            <a:ext cx="7245779" cy="1077218"/>
          </a:xfrm>
          <a:prstGeom prst="rect">
            <a:avLst/>
          </a:prstGeom>
          <a:noFill/>
        </p:spPr>
        <p:txBody>
          <a:bodyPr wrap="square" lIns="91440" tIns="45720" rIns="91440" bIns="45720" rtlCol="0" anchor="t">
            <a:spAutoFit/>
          </a:bodyPr>
          <a:lstStyle/>
          <a:p>
            <a:r>
              <a:rPr lang="en-IN" sz="3200" b="1">
                <a:solidFill>
                  <a:srgbClr val="C0383C"/>
                </a:solidFill>
                <a:latin typeface="Times New Roman"/>
                <a:cs typeface="Times New Roman"/>
              </a:rPr>
              <a:t>Conclusion</a:t>
            </a:r>
            <a:endParaRPr lang="en-IN" sz="3200" b="1" i="0" u="none" strike="noStrike" kern="1200" cap="none" spc="0" normalizeH="0" baseline="0" noProof="0">
              <a:ln>
                <a:noFill/>
              </a:ln>
              <a:solidFill>
                <a:srgbClr val="C0383C"/>
              </a:solidFill>
              <a:effectLst/>
              <a:uLnTx/>
              <a:uFillTx/>
              <a:latin typeface="Times New Roman"/>
              <a:cs typeface="Times New Roman"/>
            </a:endParaRPr>
          </a:p>
          <a:p>
            <a:endParaRPr lang="en-US" sz="3200">
              <a:latin typeface="Times New Roman"/>
              <a:cs typeface="Times New Roman"/>
            </a:endParaRPr>
          </a:p>
        </p:txBody>
      </p:sp>
      <p:sp>
        <p:nvSpPr>
          <p:cNvPr id="3" name="TextBox 2">
            <a:extLst>
              <a:ext uri="{FF2B5EF4-FFF2-40B4-BE49-F238E27FC236}">
                <a16:creationId xmlns:a16="http://schemas.microsoft.com/office/drawing/2014/main" id="{16B619CA-89D8-D48C-1C8C-3F59A28277D8}"/>
              </a:ext>
            </a:extLst>
          </p:cNvPr>
          <p:cNvSpPr txBox="1"/>
          <p:nvPr/>
        </p:nvSpPr>
        <p:spPr>
          <a:xfrm>
            <a:off x="383086" y="1119197"/>
            <a:ext cx="10815483" cy="25355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a:latin typeface="Times New Roman"/>
                <a:ea typeface="+mn-lt"/>
                <a:cs typeface="Times New Roman"/>
              </a:rPr>
              <a:t>Smart Podcast Generation from Academic Research Papers is a Generative AI–based solution that converts complex research papers into engaging podcast-style content. By analyzing research papers, identifying research gaps, and generating podcast scripts, show notes, key terms, and timestamps, the system makes scientific knowledge more accessible and easier to understand. This project helps students, researchers, and professionals consume research content efficiently, while future enhancements will include audio generation and improved user experience.</a:t>
            </a:r>
            <a:endParaRPr lang="en-US">
              <a:latin typeface="Times New Roman"/>
              <a:ea typeface="Calibri"/>
              <a:cs typeface="Times New Roman"/>
            </a:endParaRPr>
          </a:p>
        </p:txBody>
      </p:sp>
      <p:sp>
        <p:nvSpPr>
          <p:cNvPr id="5" name="TextBox 4">
            <a:extLst>
              <a:ext uri="{FF2B5EF4-FFF2-40B4-BE49-F238E27FC236}">
                <a16:creationId xmlns:a16="http://schemas.microsoft.com/office/drawing/2014/main" id="{4334548E-5C22-C495-4C91-B849027BC786}"/>
              </a:ext>
            </a:extLst>
          </p:cNvPr>
          <p:cNvSpPr txBox="1"/>
          <p:nvPr/>
        </p:nvSpPr>
        <p:spPr>
          <a:xfrm>
            <a:off x="386219" y="3804781"/>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000" b="1">
                <a:solidFill>
                  <a:srgbClr val="C0383C"/>
                </a:solidFill>
                <a:latin typeface="Times New Roman"/>
                <a:ea typeface="Segoe UI"/>
                <a:cs typeface="Segoe UI"/>
              </a:rPr>
              <a:t>Future Scope</a:t>
            </a:r>
            <a:endParaRPr lang="en-IN" sz="3000" b="1" i="0">
              <a:solidFill>
                <a:srgbClr val="C0383C"/>
              </a:solidFill>
              <a:latin typeface="Times New Roman"/>
              <a:ea typeface="Segoe UI"/>
              <a:cs typeface="Segoe UI"/>
            </a:endParaRPr>
          </a:p>
        </p:txBody>
      </p:sp>
      <p:sp>
        <p:nvSpPr>
          <p:cNvPr id="9" name="TextBox 8">
            <a:extLst>
              <a:ext uri="{FF2B5EF4-FFF2-40B4-BE49-F238E27FC236}">
                <a16:creationId xmlns:a16="http://schemas.microsoft.com/office/drawing/2014/main" id="{ECDB5A08-DB53-3086-A281-64F48678DDD9}"/>
              </a:ext>
            </a:extLst>
          </p:cNvPr>
          <p:cNvSpPr txBox="1"/>
          <p:nvPr/>
        </p:nvSpPr>
        <p:spPr>
          <a:xfrm>
            <a:off x="386219" y="4243192"/>
            <a:ext cx="6096000" cy="29510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latin typeface="Times New Roman"/>
                <a:cs typeface="Times New Roman"/>
              </a:rPr>
              <a:t>Support for multiple languages. </a:t>
            </a:r>
            <a:endParaRPr lang="en-US"/>
          </a:p>
          <a:p>
            <a:pPr marL="285750" indent="-285750">
              <a:lnSpc>
                <a:spcPct val="150000"/>
              </a:lnSpc>
              <a:buFont typeface="Arial"/>
              <a:buChar char="•"/>
            </a:pPr>
            <a:r>
              <a:rPr lang="en-US">
                <a:latin typeface="Times New Roman"/>
                <a:cs typeface="Times New Roman"/>
              </a:rPr>
              <a:t>More natural AI voice generation and voice cloning.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Mobile application development.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Integration with podcast platforms such as Spotify.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Enhanced analysis of research figures, tables, and charts. </a:t>
            </a:r>
            <a:endParaRPr lang="en-US">
              <a:latin typeface="Times New Roman"/>
              <a:ea typeface="Calibri"/>
              <a:cs typeface="Times New Roman"/>
            </a:endParaRPr>
          </a:p>
          <a:p>
            <a:pPr marL="285750" indent="-285750">
              <a:lnSpc>
                <a:spcPct val="150000"/>
              </a:lnSpc>
              <a:buFont typeface="Arial"/>
              <a:buChar char="•"/>
            </a:pPr>
            <a:r>
              <a:rPr lang="en-US">
                <a:latin typeface="Times New Roman"/>
                <a:cs typeface="Times New Roman"/>
              </a:rPr>
              <a:t>Personalized podcast generation based on user preferences.</a:t>
            </a:r>
            <a:endParaRPr lang="en-US">
              <a:latin typeface="Times New Roman"/>
              <a:ea typeface="Calibri"/>
              <a:cs typeface="Times New Roman"/>
            </a:endParaRPr>
          </a:p>
          <a:p>
            <a:pPr marL="285750" indent="-285750" algn="ctr">
              <a:lnSpc>
                <a:spcPct val="150000"/>
              </a:lnSpc>
              <a:buFont typeface="Arial"/>
              <a:buChar char="•"/>
            </a:pPr>
            <a:endParaRPr lang="en-US">
              <a:latin typeface="Times New Roman"/>
              <a:ea typeface="Calibri"/>
              <a:cs typeface="Times New Roman"/>
            </a:endParaRPr>
          </a:p>
        </p:txBody>
      </p:sp>
    </p:spTree>
    <p:extLst>
      <p:ext uri="{BB962C8B-B14F-4D97-AF65-F5344CB8AC3E}">
        <p14:creationId xmlns:p14="http://schemas.microsoft.com/office/powerpoint/2010/main" val="2524942044"/>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AB184-D38A-0DAA-6EF8-C9B973076782}"/>
            </a:ext>
          </a:extLst>
        </p:cNvPr>
        <p:cNvGrpSpPr/>
        <p:nvPr/>
      </p:nvGrpSpPr>
      <p:grpSpPr>
        <a:xfrm>
          <a:off x="0" y="0"/>
          <a:ext cx="0" cy="0"/>
          <a:chOff x="0" y="0"/>
          <a:chExt cx="0" cy="0"/>
        </a:xfrm>
      </p:grpSpPr>
      <p:cxnSp>
        <p:nvCxnSpPr>
          <p:cNvPr id="4101" name="Google Shape;124;g136c2cfec24_0_2">
            <a:extLst>
              <a:ext uri="{FF2B5EF4-FFF2-40B4-BE49-F238E27FC236}">
                <a16:creationId xmlns:a16="http://schemas.microsoft.com/office/drawing/2014/main" id="{899D85E9-85ED-4154-3249-2AC76E7C1530}"/>
              </a:ext>
            </a:extLst>
          </p:cNvPr>
          <p:cNvCxnSpPr/>
          <p:nvPr/>
        </p:nvCxnSpPr>
        <p:spPr>
          <a:xfrm>
            <a:off x="0" y="1116013"/>
            <a:ext cx="12192000" cy="0"/>
          </a:xfrm>
          <a:prstGeom prst="straightConnector1">
            <a:avLst/>
          </a:prstGeom>
          <a:ln w="9525" cap="flat" cmpd="sng">
            <a:solidFill>
              <a:srgbClr val="C00000"/>
            </a:solidFill>
            <a:prstDash val="solid"/>
            <a:miter/>
            <a:headEnd type="none" w="sm" len="sm"/>
            <a:tailEnd type="none" w="sm" len="sm"/>
          </a:ln>
        </p:spPr>
      </p:cxnSp>
      <p:sp>
        <p:nvSpPr>
          <p:cNvPr id="6" name="Slide Number Placeholder 5">
            <a:extLst>
              <a:ext uri="{FF2B5EF4-FFF2-40B4-BE49-F238E27FC236}">
                <a16:creationId xmlns:a16="http://schemas.microsoft.com/office/drawing/2014/main" id="{9A1A7AE7-384C-8645-28C9-E0646298C0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618960-8005-486C-9A75-10CB2AAC16F9}" type="slidenum">
              <a:rPr kumimoji="0" lang="en-US" sz="1200" b="0" i="0" u="none" strike="noStrike" kern="1200" cap="none" spc="0" normalizeH="0" baseline="0" noProof="0" smtClean="0">
                <a:ln>
                  <a:noFill/>
                </a:ln>
                <a:solidFill>
                  <a:prstClr val="black">
                    <a:tint val="75000"/>
                  </a:prstClr>
                </a:solidFill>
                <a:effectLst/>
                <a:uLnTx/>
                <a:uFillTx/>
                <a:latin typeface="Times New Roman"/>
                <a:cs typeface="Times New Roman"/>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Times New Roman"/>
              <a:cs typeface="Times New Roman"/>
            </a:endParaRPr>
          </a:p>
        </p:txBody>
      </p:sp>
      <p:pic>
        <p:nvPicPr>
          <p:cNvPr id="7" name="Picture 6" descr="WhatsApp Image 2026-03-08 at 12.28.26 PM.jpeg">
            <a:extLst>
              <a:ext uri="{FF2B5EF4-FFF2-40B4-BE49-F238E27FC236}">
                <a16:creationId xmlns:a16="http://schemas.microsoft.com/office/drawing/2014/main" id="{60BB6183-B9AE-D7C5-7E32-CCA88D57983B}"/>
              </a:ext>
            </a:extLst>
          </p:cNvPr>
          <p:cNvPicPr>
            <a:picLocks noChangeAspect="1"/>
          </p:cNvPicPr>
          <p:nvPr/>
        </p:nvPicPr>
        <p:blipFill>
          <a:blip r:embed="rId3"/>
          <a:stretch>
            <a:fillRect/>
          </a:stretch>
        </p:blipFill>
        <p:spPr>
          <a:xfrm>
            <a:off x="7322781" y="115018"/>
            <a:ext cx="4869220" cy="822499"/>
          </a:xfrm>
          <a:prstGeom prst="rect">
            <a:avLst/>
          </a:prstGeom>
        </p:spPr>
      </p:pic>
      <p:sp>
        <p:nvSpPr>
          <p:cNvPr id="10" name="TextBox 9">
            <a:extLst>
              <a:ext uri="{FF2B5EF4-FFF2-40B4-BE49-F238E27FC236}">
                <a16:creationId xmlns:a16="http://schemas.microsoft.com/office/drawing/2014/main" id="{7DC265CE-B95B-2974-2E43-5F98D3F6414E}"/>
              </a:ext>
            </a:extLst>
          </p:cNvPr>
          <p:cNvSpPr txBox="1"/>
          <p:nvPr/>
        </p:nvSpPr>
        <p:spPr>
          <a:xfrm>
            <a:off x="388189" y="1991264"/>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a:ea typeface="+mn-ea"/>
              <a:cs typeface="Times New Roman"/>
            </a:endParaRPr>
          </a:p>
        </p:txBody>
      </p:sp>
      <p:sp>
        <p:nvSpPr>
          <p:cNvPr id="8" name="TextBox 7">
            <a:extLst>
              <a:ext uri="{FF2B5EF4-FFF2-40B4-BE49-F238E27FC236}">
                <a16:creationId xmlns:a16="http://schemas.microsoft.com/office/drawing/2014/main" id="{E428F35D-71B8-C65E-4640-E458A6535F25}"/>
              </a:ext>
            </a:extLst>
          </p:cNvPr>
          <p:cNvSpPr txBox="1"/>
          <p:nvPr/>
        </p:nvSpPr>
        <p:spPr>
          <a:xfrm>
            <a:off x="536754" y="302908"/>
            <a:ext cx="7245779" cy="584775"/>
          </a:xfrm>
          <a:prstGeom prst="rect">
            <a:avLst/>
          </a:prstGeom>
          <a:noFill/>
        </p:spPr>
        <p:txBody>
          <a:bodyPr wrap="square" lIns="91440" tIns="45720" rIns="91440" bIns="45720" rtlCol="0" anchor="t">
            <a:spAutoFit/>
          </a:bodyPr>
          <a:lstStyle/>
          <a:p>
            <a:endParaRPr lang="en-IN" sz="3200" b="1">
              <a:solidFill>
                <a:srgbClr val="C0383C"/>
              </a:solidFill>
              <a:latin typeface="Times New Roman"/>
              <a:cs typeface="Times New Roman"/>
            </a:endParaRPr>
          </a:p>
        </p:txBody>
      </p:sp>
      <p:sp>
        <p:nvSpPr>
          <p:cNvPr id="2" name="TextBox 1">
            <a:extLst>
              <a:ext uri="{FF2B5EF4-FFF2-40B4-BE49-F238E27FC236}">
                <a16:creationId xmlns:a16="http://schemas.microsoft.com/office/drawing/2014/main" id="{0026D0B4-0AA1-2624-BC89-E6133E56B1C6}"/>
              </a:ext>
            </a:extLst>
          </p:cNvPr>
          <p:cNvSpPr txBox="1"/>
          <p:nvPr/>
        </p:nvSpPr>
        <p:spPr>
          <a:xfrm>
            <a:off x="2828795" y="3063658"/>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5600" b="1">
                <a:solidFill>
                  <a:srgbClr val="C0383C"/>
                </a:solidFill>
                <a:latin typeface="Times New Roman"/>
                <a:ea typeface="Segoe UI"/>
                <a:cs typeface="Segoe UI"/>
              </a:rPr>
              <a:t>THANK YOU</a:t>
            </a:r>
            <a:endParaRPr lang="en-US"/>
          </a:p>
        </p:txBody>
      </p:sp>
    </p:spTree>
    <p:extLst>
      <p:ext uri="{BB962C8B-B14F-4D97-AF65-F5344CB8AC3E}">
        <p14:creationId xmlns:p14="http://schemas.microsoft.com/office/powerpoint/2010/main" val="336820566"/>
      </p:ext>
    </p:extLst>
  </p:cSld>
  <p:clrMapOvr>
    <a:masterClrMapping/>
  </p:clrMapOvr>
  <p:transition spd="slow">
    <p:fade/>
  </p:transition>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9</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1_Office Theme</vt:lpstr>
      <vt:lpstr>PowerPoint Presentation</vt:lpstr>
      <vt:lpstr>PowerPoint Presentation</vt:lpstr>
      <vt:lpstr>PowerPoint Presentation</vt:lpstr>
      <vt:lpstr>PowerPoint Presentation</vt:lpstr>
      <vt:lpstr>PowerPoint Presentation</vt:lpstr>
      <vt:lpstr>PowerPoint Presentation</vt:lpstr>
      <vt:lpstr>Dataset Used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begarravi95@gmail.com</dc:creator>
  <cp:revision>11</cp:revision>
  <dcterms:created xsi:type="dcterms:W3CDTF">2026-05-30T15:31:23Z</dcterms:created>
  <dcterms:modified xsi:type="dcterms:W3CDTF">2026-05-31T01:48:28Z</dcterms:modified>
</cp:coreProperties>
</file>