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Host Grotesk Medium" panose="020B0604020202020204" charset="0"/>
      <p:regular r:id="rId15"/>
    </p:embeddedFont>
    <p:embeddedFont>
      <p:font typeface="Roboto" panose="020000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7F3C83-64B5-475F-9D0D-8ECD567BEFFF}" v="2" dt="2026-05-30T20:16:18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4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388194"/>
            <a:ext cx="1806401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430685"/>
            <a:ext cx="2093491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2025 · DOMAIN 12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69998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Agentic Customer Support Escalation Handler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798564"/>
            <a:ext cx="4722763" cy="956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12 — Agentic AI &amp; Multi-Agent Systems · CO4 / CO5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D15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Amogh T · Ananya H · Anusha S · Vachanshree P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Hours · 4 Members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241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68004"/>
            <a:ext cx="4722763" cy="10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E-commerce support teams handle thousands of complex complaints. Build an agentic GenAI system that triages incoming tickets, resolves Tier-1 queries like order status and returns, escalates complex cases to the right Tier-2 team with a contextual brief, and tracks resolution status across a simulated queue.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3776"/>
            <a:ext cx="413972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Domain &amp; Team Profile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579364"/>
            <a:ext cx="4107135" cy="2640360"/>
          </a:xfrm>
          <a:prstGeom prst="roundRect">
            <a:avLst>
              <a:gd name="adj" fmla="val 3866"/>
            </a:avLst>
          </a:prstGeom>
          <a:solidFill>
            <a:srgbClr val="95CCDA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72112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Domain Details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84338"/>
            <a:ext cx="3823618" cy="144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 12</a:t>
            </a:r>
            <a:endParaRPr lang="en-US" sz="110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AI &amp; Multi-Agent Systems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Outcomes: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CO4 / CO5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Duration: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 Hours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72112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Team D15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084338"/>
            <a:ext cx="390294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members collaborating across agent design, LLM integration, data engineering, and UI development.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637086"/>
            <a:ext cx="3902943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Amogh T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Ananya H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Anusha S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Vachanshree 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3795638"/>
            <a:ext cx="1136675" cy="264616"/>
          </a:xfrm>
          <a:prstGeom prst="roundRect">
            <a:avLst>
              <a:gd name="adj" fmla="val 18001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9519" y="3842891"/>
            <a:ext cx="141423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HACKATHON 2026</a:t>
            </a:r>
            <a:endParaRPr lang="en-US" sz="8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06A7C-5914-8A6E-EA62-97252C5704BD}"/>
              </a:ext>
            </a:extLst>
          </p:cNvPr>
          <p:cNvSpPr/>
          <p:nvPr/>
        </p:nvSpPr>
        <p:spPr>
          <a:xfrm>
            <a:off x="7350369" y="4518901"/>
            <a:ext cx="1793631" cy="57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492"/>
            <a:ext cx="3646959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19845"/>
            <a:ext cx="255166" cy="255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1848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LangChain Agents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6119" y="1686595"/>
            <a:ext cx="400414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Multi-agent pipeline orchestration with chaining and memory for sequential ticket processing.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3735" y="1019845"/>
            <a:ext cx="255166" cy="2551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3735" y="141848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LLM API (Grok)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643735" y="1686595"/>
            <a:ext cx="4004146" cy="545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Grok API for intelligent ticket classification, auto-resolution drafting, and structured escalation brief generation with advanced reasoning capabilities.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61617"/>
            <a:ext cx="255166" cy="2551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86025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Python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96119" y="3128367"/>
            <a:ext cx="400414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logic, data processing, and pipeline control across all three agents.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3735" y="2461617"/>
            <a:ext cx="255166" cy="2551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3735" y="286025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Next.js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643735" y="3128367"/>
            <a:ext cx="400414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dashboard UI with real-time ticket status updates, interactive filtering, and responsive design for support team workflows.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21596"/>
            <a:ext cx="255166" cy="2551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120232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pandas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96119" y="4388346"/>
            <a:ext cx="400414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queue management, CSV loading, and data transformation for agent input.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3735" y="3721596"/>
            <a:ext cx="255166" cy="25516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43735" y="4120232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Supabase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643735" y="4388346"/>
            <a:ext cx="400414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PostgreSQL-backed database with real-time subscriptions for live ticket state synchronization, authentication, and secure API endpoints.</a:t>
            </a:r>
            <a:endParaRPr lang="en-US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47B0C-ADA2-EE5B-E855-8C081DC02CCA}"/>
              </a:ext>
            </a:extLst>
          </p:cNvPr>
          <p:cNvSpPr/>
          <p:nvPr/>
        </p:nvSpPr>
        <p:spPr>
          <a:xfrm>
            <a:off x="7462910" y="4807288"/>
            <a:ext cx="1793631" cy="57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23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48" y="991772"/>
            <a:ext cx="8236634" cy="39741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71ADC6-3707-5A8C-52FD-5AAF5FA0C9EF}"/>
              </a:ext>
            </a:extLst>
          </p:cNvPr>
          <p:cNvSpPr/>
          <p:nvPr/>
        </p:nvSpPr>
        <p:spPr>
          <a:xfrm>
            <a:off x="7913077" y="4677507"/>
            <a:ext cx="1793631" cy="57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287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065386"/>
            <a:ext cx="359129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Primary: Bitext Customer Support Intent 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333277"/>
            <a:ext cx="3263205" cy="306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 · SHIPPING · CANCEL · INVOICE · PAYMENT · REFUND · FEEDBACK · CONTACT · ACCOUNT · DELIVERY · SUBSCRIPTION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040758" y="1065386"/>
            <a:ext cx="24018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Additional Reference Datasets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6471" y="1344588"/>
            <a:ext cx="4626099" cy="6763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11315" y="1472282"/>
            <a:ext cx="177179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The dataset was split 80/20 into 21,497 training samples and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5,375 test samples, using a stratified strategy to ensure all 27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intents were represented in both splits.</a:t>
            </a:r>
            <a:endParaRPr lang="en-IN" sz="1100" dirty="0">
              <a:solidFill>
                <a:schemeClr val="tx2"/>
              </a:solidFill>
              <a:latin typeface="Host Grotesk Medium" panose="020B0604020202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11315" y="1740173"/>
            <a:ext cx="4313560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6471" y="2111648"/>
            <a:ext cx="4626099" cy="12090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40746" y="2246895"/>
            <a:ext cx="4626100" cy="1176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The 27 intents are divided into Tier 1 (22 intents — simple queries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like tracking orders, refunds, and account management that a bot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auto-resolves) and Tier 2 (5 intents — sensitive cases like complaints,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payment issues, and account deletion that are escalated to a human),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mapped across 7 departments: Logistics, Orders, Returns, Billing,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Account, Support, and General.</a:t>
            </a:r>
            <a:endParaRPr lang="en-IN" sz="1100" dirty="0">
              <a:solidFill>
                <a:schemeClr val="tx2"/>
              </a:solidFill>
              <a:latin typeface="Host Grotesk Medium" panose="020B060402020202020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197" y="2158864"/>
            <a:ext cx="3641998" cy="6763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11315" y="3006403"/>
            <a:ext cx="175193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211315" y="3274293"/>
            <a:ext cx="4313560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96119" y="3787453"/>
            <a:ext cx="8151763" cy="8483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691381" y="3983013"/>
            <a:ext cx="1562249" cy="374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27K+</a:t>
            </a:r>
            <a:endParaRPr lang="en-US" sz="2900" dirty="0"/>
          </a:p>
        </p:txBody>
      </p:sp>
      <p:sp>
        <p:nvSpPr>
          <p:cNvPr id="17" name="Text 12"/>
          <p:cNvSpPr/>
          <p:nvPr/>
        </p:nvSpPr>
        <p:spPr>
          <a:xfrm>
            <a:off x="763712" y="448203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Utterances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757636" y="3983013"/>
            <a:ext cx="1562323" cy="374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11</a:t>
            </a:r>
            <a:endParaRPr lang="en-US" sz="2900" dirty="0"/>
          </a:p>
        </p:txBody>
      </p:sp>
      <p:sp>
        <p:nvSpPr>
          <p:cNvPr id="19" name="Text 14"/>
          <p:cNvSpPr/>
          <p:nvPr/>
        </p:nvSpPr>
        <p:spPr>
          <a:xfrm>
            <a:off x="2829967" y="448203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823966" y="3983013"/>
            <a:ext cx="1562249" cy="374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27</a:t>
            </a:r>
            <a:endParaRPr lang="en-US" sz="2900" dirty="0"/>
          </a:p>
        </p:txBody>
      </p:sp>
      <p:sp>
        <p:nvSpPr>
          <p:cNvPr id="21" name="Text 16"/>
          <p:cNvSpPr/>
          <p:nvPr/>
        </p:nvSpPr>
        <p:spPr>
          <a:xfrm>
            <a:off x="4896296" y="448203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Intents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890221" y="3983013"/>
            <a:ext cx="1562323" cy="374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900" dirty="0"/>
          </a:p>
        </p:txBody>
      </p:sp>
      <p:sp>
        <p:nvSpPr>
          <p:cNvPr id="23" name="Text 18"/>
          <p:cNvSpPr/>
          <p:nvPr/>
        </p:nvSpPr>
        <p:spPr>
          <a:xfrm>
            <a:off x="6962552" y="448203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Columns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356B38-0652-96DD-14BF-0AF66A2FE624}"/>
              </a:ext>
            </a:extLst>
          </p:cNvPr>
          <p:cNvSpPr/>
          <p:nvPr/>
        </p:nvSpPr>
        <p:spPr>
          <a:xfrm>
            <a:off x="7751066" y="4783930"/>
            <a:ext cx="1793631" cy="57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E9A0A5-5D2F-495C-D58D-E131DAC81868}"/>
              </a:ext>
            </a:extLst>
          </p:cNvPr>
          <p:cNvSpPr txBox="1"/>
          <p:nvPr/>
        </p:nvSpPr>
        <p:spPr>
          <a:xfrm>
            <a:off x="369646" y="2249397"/>
            <a:ext cx="47759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The model achieved a weighted F1 score of 0.9957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 (99.57% accuracy), exceeding the target of 0.88 </a:t>
            </a:r>
          </a:p>
          <a:p>
            <a:r>
              <a:rPr lang="en-US" sz="1100" dirty="0">
                <a:solidFill>
                  <a:schemeClr val="tx2"/>
                </a:solidFill>
                <a:latin typeface="Host Grotesk Medium" panose="020B0604020202020204" charset="0"/>
              </a:rPr>
              <a:t>by 11.57%.</a:t>
            </a:r>
            <a:endParaRPr lang="en-IN" sz="1100" dirty="0">
              <a:solidFill>
                <a:schemeClr val="tx2"/>
              </a:solidFill>
              <a:latin typeface="Host Grotesk Medium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354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Multi-Agent Pipeline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0048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048842"/>
            <a:ext cx="20220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Agent 1: Ticket Classifier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355354"/>
            <a:ext cx="2433712" cy="8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Raw ticket text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LangChain chain with few-shot prompting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tier, category, confidence }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340048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048842"/>
            <a:ext cx="20001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Agent 2: Tier-1 Resolver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2355354"/>
            <a:ext cx="2433712" cy="107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order_status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return_request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basic_faq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Simulated data lookup → auto-resolution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100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RESOLVED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340048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048842"/>
            <a:ext cx="20463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Agent 3: Tier-2 Escalator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2355354"/>
            <a:ext cx="2433712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Billing, fraud, technical, legal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Structured brief + department routing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100" dirty="0">
                <a:solidFill>
                  <a:srgbClr val="1565C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ESCALATED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729112"/>
            <a:ext cx="8151763" cy="800770"/>
          </a:xfrm>
          <a:prstGeom prst="roundRect">
            <a:avLst>
              <a:gd name="adj" fmla="val 7436"/>
            </a:avLst>
          </a:prstGeom>
          <a:solidFill>
            <a:srgbClr val="B6D6F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934644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906292"/>
            <a:ext cx="754930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three agents write to Supabase on completion. Real-time subscriptions sync ticket state changes instantly to the Next.js dashboard, ensuring live status tracking across PENDING → RESOLVED / ESCALATED states.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52288-234E-3351-9DFE-59577ADA3546}"/>
              </a:ext>
            </a:extLst>
          </p:cNvPr>
          <p:cNvSpPr/>
          <p:nvPr/>
        </p:nvSpPr>
        <p:spPr>
          <a:xfrm>
            <a:off x="7609307" y="4664572"/>
            <a:ext cx="1793631" cy="57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555203"/>
            <a:ext cx="503262" cy="160734"/>
          </a:xfrm>
          <a:prstGeom prst="roundRect">
            <a:avLst>
              <a:gd name="adj" fmla="val 20745"/>
            </a:avLst>
          </a:prstGeom>
          <a:solidFill>
            <a:srgbClr val="D9EDF2"/>
          </a:solidFill>
          <a:ln/>
        </p:spPr>
      </p:sp>
      <p:sp>
        <p:nvSpPr>
          <p:cNvPr id="4" name="Text 1"/>
          <p:cNvSpPr/>
          <p:nvPr/>
        </p:nvSpPr>
        <p:spPr>
          <a:xfrm>
            <a:off x="3984650" y="584969"/>
            <a:ext cx="841400" cy="101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925119" y="743694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Agentic Customer Support Escalation Handler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3925119" y="1468041"/>
            <a:ext cx="4722763" cy="531093"/>
          </a:xfrm>
          <a:prstGeom prst="roundRect">
            <a:avLst>
              <a:gd name="adj" fmla="val 78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29075" y="1571997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3-Agent Pipeline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029075" y="1768673"/>
            <a:ext cx="4514850" cy="12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Classifier → Resolver / Escalator using LangChain + Grok orchestration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925119" y="2068562"/>
            <a:ext cx="4722763" cy="531093"/>
          </a:xfrm>
          <a:prstGeom prst="roundRect">
            <a:avLst>
              <a:gd name="adj" fmla="val 78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9075" y="2172519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Rich Training Data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029075" y="2369195"/>
            <a:ext cx="4514850" cy="12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27,000+ Bitext utterances across 11 customer support categories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925119" y="2669084"/>
            <a:ext cx="4722763" cy="531093"/>
          </a:xfrm>
          <a:prstGeom prst="roundRect">
            <a:avLst>
              <a:gd name="adj" fmla="val 78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9075" y="2773040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Live Dashboard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29075" y="2969716"/>
            <a:ext cx="4514850" cy="12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Next.js UI with Supabase-backed real-time resolution tracking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925119" y="3269605"/>
            <a:ext cx="4722763" cy="531093"/>
          </a:xfrm>
          <a:prstGeom prst="roundRect">
            <a:avLst>
              <a:gd name="adj" fmla="val 7848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9075" y="3373562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End-to-End Flow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029075" y="3570238"/>
            <a:ext cx="4514850" cy="126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ingestion → classification → resolution → customer response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925119" y="3904878"/>
            <a:ext cx="3059683" cy="24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925119" y="4257080"/>
            <a:ext cx="4722763" cy="331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Discussion</a:t>
            </a:r>
            <a:endParaRPr lang="en-US" sz="7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D15</a:t>
            </a:r>
            <a:r>
              <a:rPr lang="en-US" sz="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Amogh T · Ananya H · Anusha S · Vachanshree P · Hackathon 2026</a:t>
            </a:r>
            <a:endParaRPr lang="en-US" sz="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FA47EC-C949-AE1F-E65E-9BA08C70E6AE}"/>
              </a:ext>
            </a:extLst>
          </p:cNvPr>
          <p:cNvSpPr/>
          <p:nvPr/>
        </p:nvSpPr>
        <p:spPr>
          <a:xfrm>
            <a:off x="7350369" y="4518901"/>
            <a:ext cx="1793631" cy="57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627</Words>
  <Application>Microsoft Office PowerPoint</Application>
  <PresentationFormat>On-screen Show (16:9)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</vt:lpstr>
      <vt:lpstr>Consolas</vt:lpstr>
      <vt:lpstr>Host Grotesk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Anusha</dc:creator>
  <cp:lastModifiedBy>Anusha Shigihalli</cp:lastModifiedBy>
  <cp:revision>4</cp:revision>
  <dcterms:created xsi:type="dcterms:W3CDTF">2026-05-30T18:59:47Z</dcterms:created>
  <dcterms:modified xsi:type="dcterms:W3CDTF">2026-05-30T20:19:10Z</dcterms:modified>
</cp:coreProperties>
</file>