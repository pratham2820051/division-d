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257" r:id="rId2"/>
    <p:sldId id="258" r:id="rId3"/>
    <p:sldId id="260" r:id="rId4"/>
    <p:sldId id="305" r:id="rId5"/>
    <p:sldId id="304" r:id="rId6"/>
    <p:sldId id="306" r:id="rId7"/>
    <p:sldId id="307" r:id="rId8"/>
    <p:sldId id="309" r:id="rId9"/>
    <p:sldId id="311" r:id="rId10"/>
    <p:sldId id="263" r:id="rId11"/>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F62D36-8BD8-2792-8256-AFC982E018FE}" v="20" dt="2026-04-09T09:14:26.024"/>
    <p1510:client id="{4DF64FA8-A803-D66D-CFC3-2BAED5237B7D}" v="284" dt="2026-04-09T08:59:38.653"/>
    <p1510:client id="{80E7D981-314A-14FF-F29C-D372B79B5F16}" v="55" dt="2026-04-09T08:54:05.603"/>
    <p1510:client id="{A2B65668-B743-B7B7-B6AC-4DC31E495DBE}" v="418" dt="2026-04-09T09:06:41.738"/>
    <p1510:client id="{ACB5CDAE-B373-91D8-396E-27303E022AF2}" v="96" dt="2026-04-09T09:06:38.427"/>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2" d="100"/>
          <a:sy n="62" d="100"/>
        </p:scale>
        <p:origin x="80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22578B-C60A-4F8B-BF53-ABEAF7E0ED5A}" type="datetimeFigureOut">
              <a:t>5/31/2026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5291B5-522A-4F73-A5B2-65E25828FAAC}" type="slidenum">
              <a:t>‹#›</a:t>
            </a:fld>
            <a:endParaRPr lang="en-GB"/>
          </a:p>
        </p:txBody>
      </p:sp>
    </p:spTree>
    <p:extLst>
      <p:ext uri="{BB962C8B-B14F-4D97-AF65-F5344CB8AC3E}">
        <p14:creationId xmlns:p14="http://schemas.microsoft.com/office/powerpoint/2010/main" val="24421405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a:extLst>
            <a:ext uri="{FF2B5EF4-FFF2-40B4-BE49-F238E27FC236}">
              <a16:creationId xmlns:a16="http://schemas.microsoft.com/office/drawing/2014/main" id="{8C6004D6-A627-2FC4-576C-EFA4EBFF0882}"/>
            </a:ext>
          </a:extLst>
        </p:cNvPr>
        <p:cNvGrpSpPr/>
        <p:nvPr/>
      </p:nvGrpSpPr>
      <p:grpSpPr>
        <a:xfrm>
          <a:off x="0" y="0"/>
          <a:ext cx="0" cy="0"/>
          <a:chOff x="0" y="0"/>
          <a:chExt cx="0" cy="0"/>
        </a:xfrm>
      </p:grpSpPr>
      <p:sp>
        <p:nvSpPr>
          <p:cNvPr id="94" name="Google Shape;94;p2:notes">
            <a:extLst>
              <a:ext uri="{FF2B5EF4-FFF2-40B4-BE49-F238E27FC236}">
                <a16:creationId xmlns:a16="http://schemas.microsoft.com/office/drawing/2014/main" id="{E265A548-FDB8-DBF8-2D57-7D330F4B814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2:notes">
            <a:extLst>
              <a:ext uri="{FF2B5EF4-FFF2-40B4-BE49-F238E27FC236}">
                <a16:creationId xmlns:a16="http://schemas.microsoft.com/office/drawing/2014/main" id="{1F7F3B94-BD87-675C-7D1F-14C8B6FC8F9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091196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a:extLst>
            <a:ext uri="{FF2B5EF4-FFF2-40B4-BE49-F238E27FC236}">
              <a16:creationId xmlns:a16="http://schemas.microsoft.com/office/drawing/2014/main" id="{95F3E7AE-2CDC-49D3-3F14-78B264FD3C31}"/>
            </a:ext>
          </a:extLst>
        </p:cNvPr>
        <p:cNvGrpSpPr/>
        <p:nvPr/>
      </p:nvGrpSpPr>
      <p:grpSpPr>
        <a:xfrm>
          <a:off x="0" y="0"/>
          <a:ext cx="0" cy="0"/>
          <a:chOff x="0" y="0"/>
          <a:chExt cx="0" cy="0"/>
        </a:xfrm>
      </p:grpSpPr>
      <p:sp>
        <p:nvSpPr>
          <p:cNvPr id="94" name="Google Shape;94;p2:notes">
            <a:extLst>
              <a:ext uri="{FF2B5EF4-FFF2-40B4-BE49-F238E27FC236}">
                <a16:creationId xmlns:a16="http://schemas.microsoft.com/office/drawing/2014/main" id="{F58A95D9-787D-4A7E-045E-FDD7E6929BB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2:notes">
            <a:extLst>
              <a:ext uri="{FF2B5EF4-FFF2-40B4-BE49-F238E27FC236}">
                <a16:creationId xmlns:a16="http://schemas.microsoft.com/office/drawing/2014/main" id="{6EA032ED-61DF-FAB8-BCD0-DC060F3723B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813339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a:extLst>
            <a:ext uri="{FF2B5EF4-FFF2-40B4-BE49-F238E27FC236}">
              <a16:creationId xmlns:a16="http://schemas.microsoft.com/office/drawing/2014/main" id="{535DFC7C-6261-0395-393C-7C5E70D8552B}"/>
            </a:ext>
          </a:extLst>
        </p:cNvPr>
        <p:cNvGrpSpPr/>
        <p:nvPr/>
      </p:nvGrpSpPr>
      <p:grpSpPr>
        <a:xfrm>
          <a:off x="0" y="0"/>
          <a:ext cx="0" cy="0"/>
          <a:chOff x="0" y="0"/>
          <a:chExt cx="0" cy="0"/>
        </a:xfrm>
      </p:grpSpPr>
      <p:sp>
        <p:nvSpPr>
          <p:cNvPr id="94" name="Google Shape;94;p2:notes">
            <a:extLst>
              <a:ext uri="{FF2B5EF4-FFF2-40B4-BE49-F238E27FC236}">
                <a16:creationId xmlns:a16="http://schemas.microsoft.com/office/drawing/2014/main" id="{05B29AB1-240F-CA9A-112C-DACA164135B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2:notes">
            <a:extLst>
              <a:ext uri="{FF2B5EF4-FFF2-40B4-BE49-F238E27FC236}">
                <a16:creationId xmlns:a16="http://schemas.microsoft.com/office/drawing/2014/main" id="{F67230D0-4DC2-8937-18B5-7AB931D06DD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293655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a:extLst>
            <a:ext uri="{FF2B5EF4-FFF2-40B4-BE49-F238E27FC236}">
              <a16:creationId xmlns:a16="http://schemas.microsoft.com/office/drawing/2014/main" id="{0143B47B-5D19-A29E-4A90-D986C3E763D8}"/>
            </a:ext>
          </a:extLst>
        </p:cNvPr>
        <p:cNvGrpSpPr/>
        <p:nvPr/>
      </p:nvGrpSpPr>
      <p:grpSpPr>
        <a:xfrm>
          <a:off x="0" y="0"/>
          <a:ext cx="0" cy="0"/>
          <a:chOff x="0" y="0"/>
          <a:chExt cx="0" cy="0"/>
        </a:xfrm>
      </p:grpSpPr>
      <p:sp>
        <p:nvSpPr>
          <p:cNvPr id="94" name="Google Shape;94;p2:notes">
            <a:extLst>
              <a:ext uri="{FF2B5EF4-FFF2-40B4-BE49-F238E27FC236}">
                <a16:creationId xmlns:a16="http://schemas.microsoft.com/office/drawing/2014/main" id="{B21B8CEB-F263-CB27-9029-F1057805B2F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2:notes">
            <a:extLst>
              <a:ext uri="{FF2B5EF4-FFF2-40B4-BE49-F238E27FC236}">
                <a16:creationId xmlns:a16="http://schemas.microsoft.com/office/drawing/2014/main" id="{68409124-1156-9224-B938-661FA66082F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052291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a:extLst>
            <a:ext uri="{FF2B5EF4-FFF2-40B4-BE49-F238E27FC236}">
              <a16:creationId xmlns:a16="http://schemas.microsoft.com/office/drawing/2014/main" id="{223E9AFA-AC6D-D233-E1AF-537BB9A607C2}"/>
            </a:ext>
          </a:extLst>
        </p:cNvPr>
        <p:cNvGrpSpPr/>
        <p:nvPr/>
      </p:nvGrpSpPr>
      <p:grpSpPr>
        <a:xfrm>
          <a:off x="0" y="0"/>
          <a:ext cx="0" cy="0"/>
          <a:chOff x="0" y="0"/>
          <a:chExt cx="0" cy="0"/>
        </a:xfrm>
      </p:grpSpPr>
      <p:sp>
        <p:nvSpPr>
          <p:cNvPr id="94" name="Google Shape;94;p2:notes">
            <a:extLst>
              <a:ext uri="{FF2B5EF4-FFF2-40B4-BE49-F238E27FC236}">
                <a16:creationId xmlns:a16="http://schemas.microsoft.com/office/drawing/2014/main" id="{744F9AD2-E1E1-7553-F802-953BC544DC7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2:notes">
            <a:extLst>
              <a:ext uri="{FF2B5EF4-FFF2-40B4-BE49-F238E27FC236}">
                <a16:creationId xmlns:a16="http://schemas.microsoft.com/office/drawing/2014/main" id="{4763CF86-F97F-8660-55D5-B1DDC018F7B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77090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a:extLst>
            <a:ext uri="{FF2B5EF4-FFF2-40B4-BE49-F238E27FC236}">
              <a16:creationId xmlns:a16="http://schemas.microsoft.com/office/drawing/2014/main" id="{4D297EEA-D35C-3731-6145-C2736F9F7BDC}"/>
            </a:ext>
          </a:extLst>
        </p:cNvPr>
        <p:cNvGrpSpPr/>
        <p:nvPr/>
      </p:nvGrpSpPr>
      <p:grpSpPr>
        <a:xfrm>
          <a:off x="0" y="0"/>
          <a:ext cx="0" cy="0"/>
          <a:chOff x="0" y="0"/>
          <a:chExt cx="0" cy="0"/>
        </a:xfrm>
      </p:grpSpPr>
      <p:sp>
        <p:nvSpPr>
          <p:cNvPr id="94" name="Google Shape;94;p2:notes">
            <a:extLst>
              <a:ext uri="{FF2B5EF4-FFF2-40B4-BE49-F238E27FC236}">
                <a16:creationId xmlns:a16="http://schemas.microsoft.com/office/drawing/2014/main" id="{EFE59BCF-58FF-2AD1-95D7-C9F3061DC73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2:notes">
            <a:extLst>
              <a:ext uri="{FF2B5EF4-FFF2-40B4-BE49-F238E27FC236}">
                <a16:creationId xmlns:a16="http://schemas.microsoft.com/office/drawing/2014/main" id="{0EF99EA4-BB8E-5E22-723A-7586FE22884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185664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a:extLst>
            <a:ext uri="{FF2B5EF4-FFF2-40B4-BE49-F238E27FC236}">
              <a16:creationId xmlns:a16="http://schemas.microsoft.com/office/drawing/2014/main" id="{3C4D962A-2CF9-2038-7F93-B22B27E5E628}"/>
            </a:ext>
          </a:extLst>
        </p:cNvPr>
        <p:cNvGrpSpPr/>
        <p:nvPr/>
      </p:nvGrpSpPr>
      <p:grpSpPr>
        <a:xfrm>
          <a:off x="0" y="0"/>
          <a:ext cx="0" cy="0"/>
          <a:chOff x="0" y="0"/>
          <a:chExt cx="0" cy="0"/>
        </a:xfrm>
      </p:grpSpPr>
      <p:sp>
        <p:nvSpPr>
          <p:cNvPr id="94" name="Google Shape;94;p2:notes">
            <a:extLst>
              <a:ext uri="{FF2B5EF4-FFF2-40B4-BE49-F238E27FC236}">
                <a16:creationId xmlns:a16="http://schemas.microsoft.com/office/drawing/2014/main" id="{82DD9E29-AE5B-93EE-56E8-0D1E91E6FDC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2:notes">
            <a:extLst>
              <a:ext uri="{FF2B5EF4-FFF2-40B4-BE49-F238E27FC236}">
                <a16:creationId xmlns:a16="http://schemas.microsoft.com/office/drawing/2014/main" id="{CBD0DCC2-5846-8A29-0A3A-9310EB36B7E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278140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31/05/2026</a:t>
            </a:fld>
            <a:endParaRPr lang="en-GB"/>
          </a:p>
        </p:txBody>
      </p:sp>
      <p:sp>
        <p:nvSpPr>
          <p:cNvPr id="5" name="Footer Placeholder 4"/>
          <p:cNvSpPr>
            <a:spLocks noGrp="1"/>
          </p:cNvSpPr>
          <p:nvPr>
            <p:ph type="ftr" sz="quarter" idx="11"/>
          </p:nvPr>
        </p:nvSpPr>
        <p:spPr/>
        <p:txBody>
          <a:bodyPr/>
          <a:lstStyle/>
          <a:p>
            <a:r>
              <a:rPr lang="en-GB"/>
              <a:t>School of Computer Science and Engineering</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31/05/2026</a:t>
            </a:fld>
            <a:endParaRPr lang="en-GB"/>
          </a:p>
        </p:txBody>
      </p:sp>
      <p:sp>
        <p:nvSpPr>
          <p:cNvPr id="5" name="Footer Placeholder 4"/>
          <p:cNvSpPr>
            <a:spLocks noGrp="1"/>
          </p:cNvSpPr>
          <p:nvPr>
            <p:ph type="ftr" sz="quarter" idx="11"/>
          </p:nvPr>
        </p:nvSpPr>
        <p:spPr/>
        <p:txBody>
          <a:bodyPr/>
          <a:lstStyle/>
          <a:p>
            <a:r>
              <a:rPr lang="en-GB"/>
              <a:t>School of Computer Science and Engineering</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31/05/2026</a:t>
            </a:fld>
            <a:endParaRPr lang="en-GB"/>
          </a:p>
        </p:txBody>
      </p:sp>
      <p:sp>
        <p:nvSpPr>
          <p:cNvPr id="5" name="Footer Placeholder 4"/>
          <p:cNvSpPr>
            <a:spLocks noGrp="1"/>
          </p:cNvSpPr>
          <p:nvPr>
            <p:ph type="ftr" sz="quarter" idx="11"/>
          </p:nvPr>
        </p:nvSpPr>
        <p:spPr/>
        <p:txBody>
          <a:bodyPr/>
          <a:lstStyle/>
          <a:p>
            <a:r>
              <a:rPr lang="en-GB"/>
              <a:t>School of Computer Science and Engineering</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p:cNvSpPr>
            <a:spLocks noGrp="1"/>
          </p:cNvSpPr>
          <p:nvPr>
            <p:ph type="dt" sz="half" idx="10"/>
          </p:nvPr>
        </p:nvSpPr>
        <p:spPr/>
        <p:txBody>
          <a:bodyPr/>
          <a:lstStyle/>
          <a:p>
            <a:fld id="{846CE7D5-CF57-46EF-B807-FDD0502418D4}" type="datetimeFigureOut">
              <a:rPr lang="en-GB" smtClean="0"/>
              <a:t>31/05/2026</a:t>
            </a:fld>
            <a:endParaRPr lang="en-GB"/>
          </a:p>
        </p:txBody>
      </p:sp>
      <p:sp>
        <p:nvSpPr>
          <p:cNvPr id="6" name="Footer Placeholder 5"/>
          <p:cNvSpPr>
            <a:spLocks noGrp="1"/>
          </p:cNvSpPr>
          <p:nvPr>
            <p:ph type="ftr" sz="quarter" idx="11"/>
          </p:nvPr>
        </p:nvSpPr>
        <p:spPr/>
        <p:txBody>
          <a:bodyPr/>
          <a:lstStyle/>
          <a:p>
            <a:r>
              <a:rPr lang="en-GB"/>
              <a:t>School of Computer Science and Engineering</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p:cNvSpPr>
            <a:spLocks noGrp="1"/>
          </p:cNvSpPr>
          <p:nvPr>
            <p:ph type="dt" sz="half" idx="10"/>
          </p:nvPr>
        </p:nvSpPr>
        <p:spPr/>
        <p:txBody>
          <a:bodyPr/>
          <a:lstStyle/>
          <a:p>
            <a:fld id="{846CE7D5-CF57-46EF-B807-FDD0502418D4}" type="datetimeFigureOut">
              <a:rPr lang="en-GB" smtClean="0"/>
              <a:t>31/05/2026</a:t>
            </a:fld>
            <a:endParaRPr lang="en-GB"/>
          </a:p>
        </p:txBody>
      </p:sp>
      <p:sp>
        <p:nvSpPr>
          <p:cNvPr id="8" name="Footer Placeholder 7"/>
          <p:cNvSpPr>
            <a:spLocks noGrp="1"/>
          </p:cNvSpPr>
          <p:nvPr>
            <p:ph type="ftr" sz="quarter" idx="11"/>
          </p:nvPr>
        </p:nvSpPr>
        <p:spPr/>
        <p:txBody>
          <a:bodyPr/>
          <a:lstStyle/>
          <a:p>
            <a:r>
              <a:rPr lang="en-GB"/>
              <a:t>School of Computer Science and Engineering</a:t>
            </a:r>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GB" smtClean="0"/>
              <a:t>31/05/2026</a:t>
            </a:fld>
            <a:endParaRPr lang="en-GB"/>
          </a:p>
        </p:txBody>
      </p:sp>
      <p:sp>
        <p:nvSpPr>
          <p:cNvPr id="4" name="Footer Placeholder 3"/>
          <p:cNvSpPr>
            <a:spLocks noGrp="1"/>
          </p:cNvSpPr>
          <p:nvPr>
            <p:ph type="ftr" sz="quarter" idx="11"/>
          </p:nvPr>
        </p:nvSpPr>
        <p:spPr/>
        <p:txBody>
          <a:bodyPr/>
          <a:lstStyle/>
          <a:p>
            <a:r>
              <a:rPr lang="en-GB"/>
              <a:t>School of Computer Science and Engineering</a:t>
            </a:r>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31/05/2026</a:t>
            </a:fld>
            <a:endParaRPr lang="en-GB"/>
          </a:p>
        </p:txBody>
      </p:sp>
      <p:sp>
        <p:nvSpPr>
          <p:cNvPr id="3" name="Footer Placeholder 2"/>
          <p:cNvSpPr>
            <a:spLocks noGrp="1"/>
          </p:cNvSpPr>
          <p:nvPr>
            <p:ph type="ftr" sz="quarter" idx="11"/>
          </p:nvPr>
        </p:nvSpPr>
        <p:spPr/>
        <p:txBody>
          <a:bodyPr/>
          <a:lstStyle/>
          <a:p>
            <a:r>
              <a:rPr lang="en-GB"/>
              <a:t>School of Computer Science and Engineering</a:t>
            </a:r>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31/05/2026</a:t>
            </a:fld>
            <a:endParaRPr lang="en-GB"/>
          </a:p>
        </p:txBody>
      </p:sp>
      <p:sp>
        <p:nvSpPr>
          <p:cNvPr id="6" name="Footer Placeholder 5"/>
          <p:cNvSpPr>
            <a:spLocks noGrp="1"/>
          </p:cNvSpPr>
          <p:nvPr>
            <p:ph type="ftr" sz="quarter" idx="11"/>
          </p:nvPr>
        </p:nvSpPr>
        <p:spPr/>
        <p:txBody>
          <a:bodyPr/>
          <a:lstStyle/>
          <a:p>
            <a:r>
              <a:rPr lang="en-GB"/>
              <a:t>School of Computer Science and Engineering</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31/05/2026</a:t>
            </a:fld>
            <a:endParaRPr lang="en-GB"/>
          </a:p>
        </p:txBody>
      </p:sp>
      <p:sp>
        <p:nvSpPr>
          <p:cNvPr id="6" name="Footer Placeholder 5"/>
          <p:cNvSpPr>
            <a:spLocks noGrp="1"/>
          </p:cNvSpPr>
          <p:nvPr>
            <p:ph type="ftr" sz="quarter" idx="11"/>
          </p:nvPr>
        </p:nvSpPr>
        <p:spPr/>
        <p:txBody>
          <a:bodyPr/>
          <a:lstStyle/>
          <a:p>
            <a:r>
              <a:rPr lang="en-GB"/>
              <a:t>School of Computer Science and Engineering</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31/05/2026</a:t>
            </a:fld>
            <a:endParaRPr lang="en-GB"/>
          </a:p>
        </p:txBody>
      </p:sp>
      <p:sp>
        <p:nvSpPr>
          <p:cNvPr id="5" name="Footer Placeholder 4"/>
          <p:cNvSpPr>
            <a:spLocks noGrp="1"/>
          </p:cNvSpPr>
          <p:nvPr>
            <p:ph type="ftr" sz="quarter" idx="11"/>
          </p:nvPr>
        </p:nvSpPr>
        <p:spPr/>
        <p:txBody>
          <a:bodyPr/>
          <a:lstStyle/>
          <a:p>
            <a:r>
              <a:rPr lang="en-GB"/>
              <a:t>School of Computer Science and Engineering</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31/05/2026</a:t>
            </a:fld>
            <a:endParaRPr lang="en-GB"/>
          </a:p>
        </p:txBody>
      </p:sp>
      <p:sp>
        <p:nvSpPr>
          <p:cNvPr id="5" name="Footer Placeholder 4"/>
          <p:cNvSpPr>
            <a:spLocks noGrp="1"/>
          </p:cNvSpPr>
          <p:nvPr>
            <p:ph type="ftr" sz="quarter" idx="11"/>
          </p:nvPr>
        </p:nvSpPr>
        <p:spPr/>
        <p:txBody>
          <a:bodyPr/>
          <a:lstStyle/>
          <a:p>
            <a:r>
              <a:rPr lang="en-GB"/>
              <a:t>School of Computer Science and Engineering</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GB" smtClean="0"/>
              <a:t>31/05/2026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GB"/>
              <a:t>School of Computer Science and Engineering</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2.jpeg"/><Relationship Id="rId4" Type="http://schemas.openxmlformats.org/officeDocument/2006/relationships/image" Target="../media/image6.jpeg"/></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image" Target="../media/image2.jpeg"/><Relationship Id="rId4" Type="http://schemas.openxmlformats.org/officeDocument/2006/relationships/image" Target="../media/image8.jpeg"/></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p:nvPr/>
        </p:nvSpPr>
        <p:spPr>
          <a:xfrm>
            <a:off x="0" y="874074"/>
            <a:ext cx="12192000" cy="1787525"/>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None/>
            </a:pPr>
            <a:endParaRPr lang="en-IN" sz="4000" b="0" i="0" u="none" strike="noStrike" cap="none">
              <a:solidFill>
                <a:schemeClr val="dk1"/>
              </a:solidFill>
              <a:latin typeface="Times New Roman"/>
              <a:ea typeface="Times New Roman"/>
              <a:cs typeface="Times New Roman"/>
            </a:endParaRPr>
          </a:p>
        </p:txBody>
      </p:sp>
      <p:pic>
        <p:nvPicPr>
          <p:cNvPr id="89" name="Google Shape;89;p1"/>
          <p:cNvPicPr preferRelativeResize="0"/>
          <p:nvPr/>
        </p:nvPicPr>
        <p:blipFill rotWithShape="1">
          <a:blip r:embed="rId3">
            <a:alphaModFix/>
          </a:blip>
          <a:srcRect/>
          <a:stretch/>
        </p:blipFill>
        <p:spPr>
          <a:xfrm>
            <a:off x="3245318" y="223647"/>
            <a:ext cx="5701363" cy="969551"/>
          </a:xfrm>
          <a:prstGeom prst="rect">
            <a:avLst/>
          </a:prstGeom>
          <a:noFill/>
          <a:ln>
            <a:noFill/>
          </a:ln>
        </p:spPr>
      </p:pic>
      <p:graphicFrame>
        <p:nvGraphicFramePr>
          <p:cNvPr id="90" name="Google Shape;90;p1"/>
          <p:cNvGraphicFramePr/>
          <p:nvPr>
            <p:extLst>
              <p:ext uri="{D42A27DB-BD31-4B8C-83A1-F6EECF244321}">
                <p14:modId xmlns:p14="http://schemas.microsoft.com/office/powerpoint/2010/main" val="1011490179"/>
              </p:ext>
            </p:extLst>
          </p:nvPr>
        </p:nvGraphicFramePr>
        <p:xfrm>
          <a:off x="2455132" y="3132803"/>
          <a:ext cx="7865798" cy="2443808"/>
        </p:xfrm>
        <a:graphic>
          <a:graphicData uri="http://schemas.openxmlformats.org/drawingml/2006/table">
            <a:tbl>
              <a:tblPr firstRow="1" bandRow="1">
                <a:tableStyleId>{5940675A-B579-460E-94D1-54222C63F5DA}</a:tableStyleId>
              </a:tblPr>
              <a:tblGrid>
                <a:gridCol w="1958874">
                  <a:extLst>
                    <a:ext uri="{9D8B030D-6E8A-4147-A177-3AD203B41FA5}">
                      <a16:colId xmlns:a16="http://schemas.microsoft.com/office/drawing/2014/main" val="20000"/>
                    </a:ext>
                  </a:extLst>
                </a:gridCol>
                <a:gridCol w="2805043">
                  <a:extLst>
                    <a:ext uri="{9D8B030D-6E8A-4147-A177-3AD203B41FA5}">
                      <a16:colId xmlns:a16="http://schemas.microsoft.com/office/drawing/2014/main" val="20001"/>
                    </a:ext>
                  </a:extLst>
                </a:gridCol>
                <a:gridCol w="3101881">
                  <a:extLst>
                    <a:ext uri="{9D8B030D-6E8A-4147-A177-3AD203B41FA5}">
                      <a16:colId xmlns:a16="http://schemas.microsoft.com/office/drawing/2014/main" val="20002"/>
                    </a:ext>
                  </a:extLst>
                </a:gridCol>
              </a:tblGrid>
              <a:tr h="422854">
                <a:tc>
                  <a:txBody>
                    <a:bodyPr/>
                    <a:lstStyle/>
                    <a:p>
                      <a:pPr marL="0" marR="0" lvl="0" indent="0" algn="ctr" rtl="0">
                        <a:spcBef>
                          <a:spcPts val="0"/>
                        </a:spcBef>
                        <a:spcAft>
                          <a:spcPts val="0"/>
                        </a:spcAft>
                        <a:buNone/>
                      </a:pPr>
                      <a:r>
                        <a:rPr lang="en-IN" sz="2000" b="1" u="none" strike="noStrike" kern="1200" cap="none">
                          <a:solidFill>
                            <a:srgbClr val="000000"/>
                          </a:solidFill>
                          <a:latin typeface="Times New Roman"/>
                          <a:ea typeface="+mn-ea"/>
                          <a:cs typeface="+mn-cs"/>
                        </a:rPr>
                        <a:t>SI no.</a:t>
                      </a:r>
                      <a:endParaRPr lang="en-US" sz="2000" b="1" u="none" strike="noStrike" kern="1200" cap="none">
                        <a:solidFill>
                          <a:srgbClr val="000000"/>
                        </a:solidFill>
                        <a:latin typeface="Times New Roman"/>
                        <a:ea typeface="+mn-ea"/>
                        <a:cs typeface="+mn-cs"/>
                      </a:endParaRPr>
                    </a:p>
                  </a:txBody>
                  <a:tcPr marL="91450" marR="91450" marT="45725" marB="45725">
                    <a:lnL w="12700">
                      <a:solidFill>
                        <a:schemeClr val="tx1"/>
                      </a:solidFill>
                    </a:lnL>
                    <a:lnR w="12700">
                      <a:solidFill>
                        <a:schemeClr val="tx1"/>
                      </a:solidFill>
                    </a:lnR>
                    <a:lnT w="12700">
                      <a:solidFill>
                        <a:schemeClr val="tx1"/>
                      </a:solidFill>
                    </a:lnT>
                    <a:lnB w="12700">
                      <a:solidFill>
                        <a:schemeClr val="tx1"/>
                      </a:solidFill>
                    </a:lnB>
                  </a:tcPr>
                </a:tc>
                <a:tc>
                  <a:txBody>
                    <a:bodyPr/>
                    <a:lstStyle/>
                    <a:p>
                      <a:pPr marL="0" marR="0" lvl="0" indent="0" algn="ctr" rtl="0">
                        <a:spcBef>
                          <a:spcPts val="0"/>
                        </a:spcBef>
                        <a:spcAft>
                          <a:spcPts val="0"/>
                        </a:spcAft>
                        <a:buNone/>
                      </a:pPr>
                      <a:r>
                        <a:rPr lang="en-IN" sz="2000" b="1" u="none" strike="noStrike" kern="1200" cap="none">
                          <a:solidFill>
                            <a:srgbClr val="000000"/>
                          </a:solidFill>
                          <a:latin typeface="Times New Roman"/>
                          <a:ea typeface="+mn-ea"/>
                          <a:cs typeface="+mn-cs"/>
                        </a:rPr>
                        <a:t>Name</a:t>
                      </a:r>
                      <a:endParaRPr lang="en-US" sz="2000" b="1" u="none" strike="noStrike" kern="1200" cap="none">
                        <a:solidFill>
                          <a:srgbClr val="000000"/>
                        </a:solidFill>
                        <a:latin typeface="Times New Roman"/>
                        <a:ea typeface="+mn-ea"/>
                        <a:cs typeface="+mn-cs"/>
                      </a:endParaRPr>
                    </a:p>
                  </a:txBody>
                  <a:tcPr marL="91450" marR="91450" marT="45725" marB="45725">
                    <a:lnL w="12700">
                      <a:solidFill>
                        <a:schemeClr val="tx1"/>
                      </a:solidFill>
                    </a:lnL>
                    <a:lnR w="12700">
                      <a:solidFill>
                        <a:schemeClr val="tx1"/>
                      </a:solidFill>
                    </a:lnR>
                    <a:lnT w="12700">
                      <a:solidFill>
                        <a:schemeClr val="tx1"/>
                      </a:solidFill>
                    </a:lnT>
                    <a:lnB w="12700">
                      <a:solidFill>
                        <a:schemeClr val="tx1"/>
                      </a:solidFill>
                    </a:lnB>
                  </a:tcPr>
                </a:tc>
                <a:tc>
                  <a:txBody>
                    <a:bodyPr/>
                    <a:lstStyle/>
                    <a:p>
                      <a:pPr marL="0" marR="0" lvl="0" indent="0" algn="ctr" rtl="0">
                        <a:spcBef>
                          <a:spcPts val="0"/>
                        </a:spcBef>
                        <a:spcAft>
                          <a:spcPts val="0"/>
                        </a:spcAft>
                        <a:buNone/>
                      </a:pPr>
                      <a:r>
                        <a:rPr lang="en-IN" sz="2000" b="1" u="none" strike="noStrike" kern="1200" cap="none">
                          <a:solidFill>
                            <a:srgbClr val="000000"/>
                          </a:solidFill>
                          <a:latin typeface="Times New Roman"/>
                          <a:ea typeface="+mn-ea"/>
                          <a:cs typeface="+mn-cs"/>
                        </a:rPr>
                        <a:t>USN</a:t>
                      </a:r>
                      <a:endParaRPr lang="en-US" sz="2000" b="1" u="none" strike="noStrike" kern="1200" cap="none">
                        <a:solidFill>
                          <a:srgbClr val="000000"/>
                        </a:solidFill>
                        <a:latin typeface="Times New Roman"/>
                        <a:ea typeface="+mn-ea"/>
                        <a:cs typeface="+mn-cs"/>
                      </a:endParaRPr>
                    </a:p>
                  </a:txBody>
                  <a:tcPr marL="91450" marR="91450" marT="45725" marB="45725">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0000"/>
                  </a:ext>
                </a:extLst>
              </a:tr>
              <a:tr h="474869">
                <a:tc>
                  <a:txBody>
                    <a:bodyPr/>
                    <a:lstStyle/>
                    <a:p>
                      <a:pPr marL="0" marR="0" lvl="0" indent="0" algn="ctr" rtl="0">
                        <a:spcBef>
                          <a:spcPts val="0"/>
                        </a:spcBef>
                        <a:spcAft>
                          <a:spcPts val="0"/>
                        </a:spcAft>
                        <a:buNone/>
                      </a:pPr>
                      <a:r>
                        <a:rPr lang="en-IN" sz="2000" b="1" u="none" strike="noStrike" kern="1200" cap="none">
                          <a:solidFill>
                            <a:srgbClr val="000000"/>
                          </a:solidFill>
                          <a:latin typeface="Times New Roman"/>
                          <a:ea typeface="+mn-ea"/>
                          <a:cs typeface="+mn-cs"/>
                        </a:rPr>
                        <a:t>1.</a:t>
                      </a:r>
                      <a:endParaRPr lang="en-US" sz="2000" b="1" u="none" strike="noStrike" kern="1200" cap="none">
                        <a:solidFill>
                          <a:srgbClr val="000000"/>
                        </a:solidFill>
                        <a:latin typeface="Times New Roman"/>
                        <a:ea typeface="+mn-ea"/>
                        <a:cs typeface="+mn-cs"/>
                      </a:endParaRPr>
                    </a:p>
                  </a:txBody>
                  <a:tcPr marL="91450" marR="91450" marT="45725" marB="45725">
                    <a:lnL w="12700">
                      <a:solidFill>
                        <a:schemeClr val="tx1"/>
                      </a:solidFill>
                    </a:lnL>
                    <a:lnR w="12700">
                      <a:solidFill>
                        <a:schemeClr val="tx1"/>
                      </a:solidFill>
                    </a:lnR>
                    <a:lnT w="12700">
                      <a:solidFill>
                        <a:schemeClr val="tx1"/>
                      </a:solidFill>
                    </a:lnT>
                    <a:lnB w="12700">
                      <a:solidFill>
                        <a:schemeClr val="tx1"/>
                      </a:solidFill>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u="none" strike="noStrike" kern="1200" cap="none">
                          <a:solidFill>
                            <a:srgbClr val="000000"/>
                          </a:solidFill>
                          <a:latin typeface="Times New Roman"/>
                          <a:ea typeface="+mn-ea"/>
                          <a:cs typeface="+mn-cs"/>
                        </a:rPr>
                        <a:t>Anuja H</a:t>
                      </a:r>
                    </a:p>
                  </a:txBody>
                  <a:tcPr marL="91450" marR="91450" marT="45725" marB="45725">
                    <a:lnL w="12700">
                      <a:solidFill>
                        <a:schemeClr val="tx1"/>
                      </a:solidFill>
                    </a:lnL>
                    <a:lnR w="12700">
                      <a:solidFill>
                        <a:schemeClr val="tx1"/>
                      </a:solidFill>
                    </a:lnR>
                    <a:lnT w="12700">
                      <a:solidFill>
                        <a:schemeClr val="tx1"/>
                      </a:solidFill>
                    </a:lnT>
                    <a:lnB w="12700">
                      <a:solidFill>
                        <a:schemeClr val="tx1"/>
                      </a:solidFill>
                    </a:lnB>
                  </a:tcPr>
                </a:tc>
                <a:tc>
                  <a:txBody>
                    <a:bodyPr/>
                    <a:lstStyle/>
                    <a:p>
                      <a:pPr marL="0" marR="0" lvl="0" indent="0" algn="ctr" rtl="0">
                        <a:spcBef>
                          <a:spcPts val="0"/>
                        </a:spcBef>
                        <a:spcAft>
                          <a:spcPts val="0"/>
                        </a:spcAft>
                        <a:buNone/>
                      </a:pPr>
                      <a:r>
                        <a:rPr lang="en-IN" sz="2000" b="1" u="none" strike="noStrike" kern="1200" cap="none">
                          <a:solidFill>
                            <a:srgbClr val="000000"/>
                          </a:solidFill>
                          <a:latin typeface="Times New Roman"/>
                          <a:ea typeface="+mn-ea"/>
                          <a:cs typeface="+mn-cs"/>
                        </a:rPr>
                        <a:t>01FE23BCS263</a:t>
                      </a:r>
                      <a:endParaRPr lang="en-US" sz="2000" b="1" u="none" strike="noStrike" kern="1200" cap="none">
                        <a:solidFill>
                          <a:srgbClr val="000000"/>
                        </a:solidFill>
                        <a:latin typeface="Times New Roman"/>
                        <a:ea typeface="+mn-ea"/>
                        <a:cs typeface="+mn-cs"/>
                      </a:endParaRPr>
                    </a:p>
                  </a:txBody>
                  <a:tcPr marL="91450" marR="91450" marT="45725" marB="45725">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0001"/>
                  </a:ext>
                </a:extLst>
              </a:tr>
              <a:tr h="530086">
                <a:tc>
                  <a:txBody>
                    <a:bodyPr/>
                    <a:lstStyle/>
                    <a:p>
                      <a:pPr marL="0" marR="0" lvl="0" indent="0" algn="ctr" rtl="0">
                        <a:spcBef>
                          <a:spcPts val="0"/>
                        </a:spcBef>
                        <a:spcAft>
                          <a:spcPts val="0"/>
                        </a:spcAft>
                        <a:buNone/>
                      </a:pPr>
                      <a:r>
                        <a:rPr lang="en-IN" sz="2000" b="1" u="none" strike="noStrike" kern="1200" cap="none">
                          <a:solidFill>
                            <a:srgbClr val="000000"/>
                          </a:solidFill>
                          <a:latin typeface="Times New Roman"/>
                          <a:ea typeface="+mn-ea"/>
                          <a:cs typeface="+mn-cs"/>
                        </a:rPr>
                        <a:t>2.</a:t>
                      </a:r>
                      <a:endParaRPr lang="en-US" sz="2000" b="1" u="none" strike="noStrike" kern="1200" cap="none">
                        <a:solidFill>
                          <a:srgbClr val="000000"/>
                        </a:solidFill>
                        <a:latin typeface="Times New Roman"/>
                        <a:ea typeface="+mn-ea"/>
                        <a:cs typeface="+mn-cs"/>
                      </a:endParaRPr>
                    </a:p>
                  </a:txBody>
                  <a:tcPr marL="91450" marR="91450" marT="45725" marB="45725">
                    <a:lnL w="12700">
                      <a:solidFill>
                        <a:schemeClr val="tx1"/>
                      </a:solidFill>
                    </a:lnL>
                    <a:lnR w="12700">
                      <a:solidFill>
                        <a:schemeClr val="tx1"/>
                      </a:solidFill>
                    </a:lnR>
                    <a:lnT w="12700">
                      <a:solidFill>
                        <a:schemeClr val="tx1"/>
                      </a:solidFill>
                    </a:lnT>
                    <a:lnB w="12700">
                      <a:solidFill>
                        <a:schemeClr val="tx1"/>
                      </a:solidFill>
                    </a:lnB>
                  </a:tcPr>
                </a:tc>
                <a:tc>
                  <a:txBody>
                    <a:bodyPr/>
                    <a:lstStyle/>
                    <a:p>
                      <a:pPr marL="0" marR="0" lvl="0" indent="0" algn="ctr" rtl="0" eaLnBrk="1" fontAlgn="auto" latinLnBrk="0" hangingPunct="1">
                        <a:lnSpc>
                          <a:spcPct val="100000"/>
                        </a:lnSpc>
                        <a:spcBef>
                          <a:spcPts val="0"/>
                        </a:spcBef>
                        <a:spcAft>
                          <a:spcPts val="0"/>
                        </a:spcAft>
                        <a:buClrTx/>
                        <a:buSzTx/>
                        <a:buFontTx/>
                        <a:buNone/>
                      </a:pPr>
                      <a:r>
                        <a:rPr lang="en-IN" sz="2000" b="1" u="none" strike="noStrike" kern="1200" cap="none" err="1">
                          <a:solidFill>
                            <a:srgbClr val="000000"/>
                          </a:solidFill>
                          <a:latin typeface="Times New Roman"/>
                          <a:ea typeface="+mn-ea"/>
                          <a:cs typeface="+mn-cs"/>
                        </a:rPr>
                        <a:t>Gurulingamma</a:t>
                      </a:r>
                      <a:r>
                        <a:rPr lang="en-IN" sz="2000" b="1" u="none" strike="noStrike" kern="1200" cap="none">
                          <a:solidFill>
                            <a:srgbClr val="000000"/>
                          </a:solidFill>
                          <a:latin typeface="Times New Roman"/>
                          <a:ea typeface="+mn-ea"/>
                          <a:cs typeface="+mn-cs"/>
                        </a:rPr>
                        <a:t> V B</a:t>
                      </a:r>
                      <a:endParaRPr lang="en-US" sz="2000" b="1" u="none" strike="noStrike" kern="1200" cap="none">
                        <a:solidFill>
                          <a:srgbClr val="000000"/>
                        </a:solidFill>
                        <a:latin typeface="Times New Roman"/>
                        <a:ea typeface="+mn-ea"/>
                        <a:cs typeface="+mn-cs"/>
                      </a:endParaRPr>
                    </a:p>
                  </a:txBody>
                  <a:tcPr marL="91450" marR="91450" marT="45725" marB="45725">
                    <a:lnL w="12700">
                      <a:solidFill>
                        <a:schemeClr val="tx1"/>
                      </a:solidFill>
                    </a:lnL>
                    <a:lnR w="12700">
                      <a:solidFill>
                        <a:schemeClr val="tx1"/>
                      </a:solidFill>
                    </a:lnR>
                    <a:lnT w="12700">
                      <a:solidFill>
                        <a:schemeClr val="tx1"/>
                      </a:solidFill>
                    </a:lnT>
                    <a:lnB w="12700">
                      <a:solidFill>
                        <a:schemeClr val="tx1"/>
                      </a:solidFill>
                    </a:lnB>
                  </a:tcPr>
                </a:tc>
                <a:tc>
                  <a:txBody>
                    <a:bodyPr/>
                    <a:lstStyle/>
                    <a:p>
                      <a:pPr marL="0" marR="0" lvl="0" indent="0" algn="ctr" rtl="0">
                        <a:spcBef>
                          <a:spcPts val="0"/>
                        </a:spcBef>
                        <a:spcAft>
                          <a:spcPts val="0"/>
                        </a:spcAft>
                        <a:buClr>
                          <a:srgbClr val="000000"/>
                        </a:buClr>
                        <a:buSzPts val="2000"/>
                        <a:buFont typeface="Times New Roman"/>
                        <a:buNone/>
                      </a:pPr>
                      <a:r>
                        <a:rPr lang="en-IN" sz="2000" b="1" u="none" strike="noStrike" kern="1200" cap="none">
                          <a:solidFill>
                            <a:srgbClr val="000000"/>
                          </a:solidFill>
                          <a:latin typeface="Times New Roman"/>
                          <a:ea typeface="+mn-ea"/>
                          <a:cs typeface="+mn-cs"/>
                        </a:rPr>
                        <a:t>01FE23BCS282</a:t>
                      </a:r>
                      <a:endParaRPr lang="en-US" sz="2000" b="1" u="none" strike="noStrike" kern="1200" cap="none">
                        <a:solidFill>
                          <a:srgbClr val="000000"/>
                        </a:solidFill>
                        <a:latin typeface="Times New Roman"/>
                        <a:ea typeface="+mn-ea"/>
                        <a:cs typeface="+mn-cs"/>
                        <a:sym typeface="Times New Roman"/>
                      </a:endParaRPr>
                    </a:p>
                  </a:txBody>
                  <a:tcPr marL="91450" marR="91450" marT="45725" marB="45725">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0002"/>
                  </a:ext>
                </a:extLst>
              </a:tr>
              <a:tr h="530086">
                <a:tc>
                  <a:txBody>
                    <a:bodyPr/>
                    <a:lstStyle/>
                    <a:p>
                      <a:pPr marL="0" marR="0" lvl="0" indent="0" algn="ctr" rtl="0">
                        <a:spcBef>
                          <a:spcPts val="0"/>
                        </a:spcBef>
                        <a:spcAft>
                          <a:spcPts val="0"/>
                        </a:spcAft>
                        <a:buNone/>
                      </a:pPr>
                      <a:r>
                        <a:rPr lang="en-US" sz="2000" b="1" u="none" strike="noStrike" kern="1200" cap="none">
                          <a:solidFill>
                            <a:srgbClr val="000000"/>
                          </a:solidFill>
                          <a:latin typeface="Times New Roman"/>
                          <a:ea typeface="+mn-ea"/>
                          <a:cs typeface="+mn-cs"/>
                        </a:rPr>
                        <a:t>3.</a:t>
                      </a:r>
                    </a:p>
                  </a:txBody>
                  <a:tcPr marL="91450" marR="91450" marT="45725" marB="45725">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u="none" strike="noStrike" kern="1200" cap="none">
                          <a:solidFill>
                            <a:srgbClr val="000000"/>
                          </a:solidFill>
                          <a:latin typeface="Times New Roman"/>
                          <a:ea typeface="+mn-ea"/>
                          <a:cs typeface="+mn-cs"/>
                        </a:rPr>
                        <a:t>Sahana </a:t>
                      </a:r>
                      <a:r>
                        <a:rPr lang="en-US" sz="2000" b="1" u="none" strike="noStrike" kern="1200" cap="none" err="1">
                          <a:solidFill>
                            <a:srgbClr val="000000"/>
                          </a:solidFill>
                          <a:latin typeface="Times New Roman"/>
                          <a:ea typeface="+mn-ea"/>
                          <a:cs typeface="+mn-cs"/>
                        </a:rPr>
                        <a:t>Sulegavi</a:t>
                      </a:r>
                      <a:endParaRPr lang="en-US" sz="2000" b="1" u="none" strike="noStrike" kern="1200" cap="none">
                        <a:solidFill>
                          <a:srgbClr val="000000"/>
                        </a:solidFill>
                        <a:latin typeface="Times New Roman"/>
                        <a:ea typeface="+mn-ea"/>
                        <a:cs typeface="+mn-cs"/>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tcPr>
                </a:tc>
                <a:tc>
                  <a:txBody>
                    <a:bodyPr/>
                    <a:lstStyle/>
                    <a:p>
                      <a:pPr marL="0" marR="0" lvl="0" indent="0" algn="ctr" rtl="0">
                        <a:spcBef>
                          <a:spcPts val="0"/>
                        </a:spcBef>
                        <a:spcAft>
                          <a:spcPts val="0"/>
                        </a:spcAft>
                        <a:buClr>
                          <a:srgbClr val="000000"/>
                        </a:buClr>
                        <a:buSzPts val="2000"/>
                        <a:buFont typeface="Times New Roman"/>
                        <a:buNone/>
                      </a:pPr>
                      <a:r>
                        <a:rPr lang="en-US" sz="2000" b="1" u="none" strike="noStrike" kern="1200" cap="none">
                          <a:solidFill>
                            <a:srgbClr val="000000"/>
                          </a:solidFill>
                          <a:latin typeface="Times New Roman"/>
                          <a:ea typeface="+mn-ea"/>
                          <a:cs typeface="+mn-cs"/>
                        </a:rPr>
                        <a:t>01FE23BCS300</a:t>
                      </a:r>
                      <a:endParaRPr lang="en-US" sz="2000" b="1" u="none" strike="noStrike" kern="1200" cap="none">
                        <a:solidFill>
                          <a:srgbClr val="000000"/>
                        </a:solidFill>
                        <a:latin typeface="Times New Roman"/>
                        <a:ea typeface="+mn-ea"/>
                        <a:cs typeface="+mn-cs"/>
                        <a:sym typeface="Times New Roman"/>
                      </a:endParaRPr>
                    </a:p>
                  </a:txBody>
                  <a:tcPr marL="91450" marR="91450" marT="45725" marB="45725">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a:solidFill>
                        <a:schemeClr val="tx1"/>
                      </a:solidFill>
                    </a:lnB>
                  </a:tcPr>
                </a:tc>
                <a:extLst>
                  <a:ext uri="{0D108BD9-81ED-4DB2-BD59-A6C34878D82A}">
                    <a16:rowId xmlns:a16="http://schemas.microsoft.com/office/drawing/2014/main" val="2361782139"/>
                  </a:ext>
                </a:extLst>
              </a:tr>
              <a:tr h="485913">
                <a:tc>
                  <a:txBody>
                    <a:bodyPr/>
                    <a:lstStyle/>
                    <a:p>
                      <a:pPr marL="0" marR="0" lvl="0" indent="0" algn="ctr" rtl="0">
                        <a:spcBef>
                          <a:spcPts val="0"/>
                        </a:spcBef>
                        <a:spcAft>
                          <a:spcPts val="0"/>
                        </a:spcAft>
                        <a:buNone/>
                      </a:pPr>
                      <a:r>
                        <a:rPr lang="en-IN" sz="2000" b="1" u="none" strike="noStrike" kern="1200" cap="none">
                          <a:solidFill>
                            <a:srgbClr val="000000"/>
                          </a:solidFill>
                          <a:latin typeface="Times New Roman"/>
                          <a:ea typeface="+mn-ea"/>
                          <a:cs typeface="+mn-cs"/>
                        </a:rPr>
                        <a:t>4.</a:t>
                      </a:r>
                      <a:endParaRPr lang="en-US" sz="2000" b="1" u="none" strike="noStrike" kern="1200" cap="none">
                        <a:solidFill>
                          <a:srgbClr val="000000"/>
                        </a:solidFill>
                        <a:latin typeface="Times New Roman"/>
                        <a:ea typeface="+mn-ea"/>
                        <a:cs typeface="+mn-cs"/>
                      </a:endParaRPr>
                    </a:p>
                  </a:txBody>
                  <a:tcPr marL="91450" marR="91450" marT="45725" marB="45725">
                    <a:lnL w="12700">
                      <a:solidFill>
                        <a:schemeClr val="tx1"/>
                      </a:solidFill>
                    </a:lnL>
                    <a:lnR w="12700">
                      <a:solidFill>
                        <a:schemeClr val="tx1"/>
                      </a:solidFill>
                    </a:lnR>
                    <a:lnT w="12700">
                      <a:solidFill>
                        <a:schemeClr val="tx1"/>
                      </a:solidFill>
                    </a:lnT>
                    <a:lnB w="12700">
                      <a:solidFill>
                        <a:schemeClr val="tx1"/>
                      </a:solidFill>
                    </a:lnB>
                  </a:tcPr>
                </a:tc>
                <a:tc>
                  <a:txBody>
                    <a:bodyPr/>
                    <a:lstStyle/>
                    <a:p>
                      <a:pPr marL="0" marR="0" lvl="0" indent="0" algn="ctr" rtl="0">
                        <a:spcBef>
                          <a:spcPts val="0"/>
                        </a:spcBef>
                        <a:spcAft>
                          <a:spcPts val="0"/>
                        </a:spcAft>
                        <a:buNone/>
                      </a:pPr>
                      <a:r>
                        <a:rPr lang="en-US" sz="2000" b="1" u="none" strike="noStrike" kern="1200" cap="none">
                          <a:solidFill>
                            <a:srgbClr val="000000"/>
                          </a:solidFill>
                          <a:latin typeface="Times New Roman"/>
                          <a:ea typeface="+mn-ea"/>
                          <a:cs typeface="+mn-cs"/>
                        </a:rPr>
                        <a:t>Rashmi Khot</a:t>
                      </a:r>
                    </a:p>
                  </a:txBody>
                  <a:tcPr marL="91450" marR="91450" marT="45725" marB="45725">
                    <a:lnL w="12700">
                      <a:solidFill>
                        <a:schemeClr val="tx1"/>
                      </a:solidFill>
                    </a:lnL>
                    <a:lnR w="12700">
                      <a:solidFill>
                        <a:schemeClr val="tx1"/>
                      </a:solidFill>
                    </a:lnR>
                    <a:lnT w="12700">
                      <a:solidFill>
                        <a:schemeClr val="tx1"/>
                      </a:solidFill>
                    </a:lnT>
                    <a:lnB w="12700">
                      <a:solidFill>
                        <a:schemeClr val="tx1"/>
                      </a:solidFill>
                    </a:lnB>
                  </a:tcPr>
                </a:tc>
                <a:tc>
                  <a:txBody>
                    <a:bodyPr/>
                    <a:lstStyle/>
                    <a:p>
                      <a:pPr marL="0" marR="0" lvl="0" indent="0" algn="ctr" rtl="0">
                        <a:spcBef>
                          <a:spcPts val="0"/>
                        </a:spcBef>
                        <a:spcAft>
                          <a:spcPts val="0"/>
                        </a:spcAft>
                        <a:buClr>
                          <a:srgbClr val="000000"/>
                        </a:buClr>
                        <a:buSzPts val="2000"/>
                        <a:buFont typeface="Times New Roman"/>
                        <a:buNone/>
                      </a:pPr>
                      <a:r>
                        <a:rPr lang="en-IN" sz="2000" b="1" u="none" strike="noStrike" kern="1200" cap="none" dirty="0">
                          <a:solidFill>
                            <a:srgbClr val="000000"/>
                          </a:solidFill>
                          <a:latin typeface="Times New Roman"/>
                          <a:ea typeface="+mn-ea"/>
                          <a:cs typeface="+mn-cs"/>
                        </a:rPr>
                        <a:t>01FE24BCS408</a:t>
                      </a:r>
                      <a:endParaRPr lang="en-IN" sz="2000" b="1" u="none" strike="noStrike" kern="1200" cap="none" dirty="0">
                        <a:solidFill>
                          <a:srgbClr val="000000"/>
                        </a:solidFill>
                        <a:latin typeface="Times New Roman"/>
                        <a:ea typeface="+mn-ea"/>
                        <a:cs typeface="+mn-cs"/>
                        <a:sym typeface="Times New Roman"/>
                      </a:endParaRPr>
                    </a:p>
                  </a:txBody>
                  <a:tcPr marL="91450" marR="91450" marT="45725" marB="45725">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0003"/>
                  </a:ext>
                </a:extLst>
              </a:tr>
            </a:tbl>
          </a:graphicData>
        </a:graphic>
      </p:graphicFrame>
      <p:sp>
        <p:nvSpPr>
          <p:cNvPr id="91" name="Google Shape;91;p1"/>
          <p:cNvSpPr txBox="1"/>
          <p:nvPr/>
        </p:nvSpPr>
        <p:spPr>
          <a:xfrm>
            <a:off x="206524" y="5776197"/>
            <a:ext cx="11837581" cy="415458"/>
          </a:xfrm>
          <a:prstGeom prst="rect">
            <a:avLst/>
          </a:prstGeom>
          <a:noFill/>
          <a:ln>
            <a:noFill/>
          </a:ln>
        </p:spPr>
        <p:txBody>
          <a:bodyPr spcFirstLastPara="1" wrap="square" lIns="91425" tIns="45700" rIns="91425" bIns="45700" anchor="t" anchorCtr="0">
            <a:spAutoFit/>
          </a:bodyPr>
          <a:lstStyle/>
          <a:p>
            <a:pPr algn="ctr">
              <a:buClr>
                <a:srgbClr val="000000"/>
              </a:buClr>
              <a:buSzPts val="1800"/>
            </a:pPr>
            <a:r>
              <a:rPr lang="en-IN" sz="2000" b="1" i="0" u="none" strike="noStrike" cap="none">
                <a:solidFill>
                  <a:schemeClr val="dk1"/>
                </a:solidFill>
                <a:latin typeface="Times New Roman"/>
                <a:ea typeface="Times New Roman"/>
                <a:cs typeface="Times New Roman"/>
                <a:sym typeface="Times New Roman"/>
              </a:rPr>
              <a:t>GUIDE: Gurup</a:t>
            </a:r>
            <a:r>
              <a:rPr lang="en-IN" sz="2000" b="1">
                <a:solidFill>
                  <a:schemeClr val="dk1"/>
                </a:solidFill>
                <a:latin typeface="Times New Roman"/>
                <a:ea typeface="Times New Roman"/>
                <a:cs typeface="Times New Roman"/>
                <a:sym typeface="Times New Roman"/>
              </a:rPr>
              <a:t>rasad Hiremath </a:t>
            </a:r>
            <a:endParaRPr lang="en-US" sz="2100">
              <a:solidFill>
                <a:schemeClr val="dk1"/>
              </a:solidFill>
              <a:latin typeface="Times New Roman"/>
              <a:ea typeface="Times New Roman"/>
              <a:cs typeface="Times New Roman"/>
            </a:endParaRPr>
          </a:p>
        </p:txBody>
      </p:sp>
      <p:sp>
        <p:nvSpPr>
          <p:cNvPr id="3" name="TextBox 2">
            <a:extLst>
              <a:ext uri="{FF2B5EF4-FFF2-40B4-BE49-F238E27FC236}">
                <a16:creationId xmlns:a16="http://schemas.microsoft.com/office/drawing/2014/main" id="{2FA1CB64-18A1-5592-DE09-007FFBBA4710}"/>
              </a:ext>
            </a:extLst>
          </p:cNvPr>
          <p:cNvSpPr txBox="1"/>
          <p:nvPr/>
        </p:nvSpPr>
        <p:spPr>
          <a:xfrm>
            <a:off x="1285207" y="1649832"/>
            <a:ext cx="10068593" cy="646331"/>
          </a:xfrm>
          <a:prstGeom prst="rect">
            <a:avLst/>
          </a:prstGeom>
          <a:noFill/>
          <a:ln w="15875">
            <a:solidFill>
              <a:schemeClr val="tx1">
                <a:lumMod val="95000"/>
                <a:lumOff val="5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b="1" dirty="0"/>
              <a:t>FIR Simplification and Discrepancy Detection</a:t>
            </a:r>
            <a:endParaRPr lang="en-US" sz="3600"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76EFEC71-D17E-3EFD-3BDC-FADBCC691758}"/>
              </a:ext>
            </a:extLst>
          </p:cNvPr>
          <p:cNvSpPr>
            <a:spLocks noGrp="1"/>
          </p:cNvSpPr>
          <p:nvPr>
            <p:ph type="sldNum" sz="quarter" idx="12"/>
          </p:nvPr>
        </p:nvSpPr>
        <p:spPr/>
        <p:txBody>
          <a:bodyPr/>
          <a:lstStyle/>
          <a:p>
            <a:fld id="{330EA680-D336-4FF7-8B7A-9848BB0A1C32}" type="slidenum">
              <a:rPr lang="en-GB" smtClean="0"/>
              <a:t>1</a:t>
            </a:fld>
            <a:endParaRPr lang="en-US"/>
          </a:p>
        </p:txBody>
      </p:sp>
      <p:sp>
        <p:nvSpPr>
          <p:cNvPr id="2" name="Footer Placeholder 1">
            <a:extLst>
              <a:ext uri="{FF2B5EF4-FFF2-40B4-BE49-F238E27FC236}">
                <a16:creationId xmlns:a16="http://schemas.microsoft.com/office/drawing/2014/main" id="{E4B89B6A-94F7-6377-B264-F41F5FFB6090}"/>
              </a:ext>
            </a:extLst>
          </p:cNvPr>
          <p:cNvSpPr>
            <a:spLocks noGrp="1"/>
          </p:cNvSpPr>
          <p:nvPr>
            <p:ph type="ftr" sz="quarter" idx="11"/>
          </p:nvPr>
        </p:nvSpPr>
        <p:spPr>
          <a:xfrm>
            <a:off x="4067915" y="6469780"/>
            <a:ext cx="4114800" cy="365125"/>
          </a:xfrm>
        </p:spPr>
        <p:txBody>
          <a:bodyPr/>
          <a:lstStyle/>
          <a:p>
            <a:r>
              <a:rPr lang="en-US"/>
              <a:t>School of Computer Science and Engineering</a:t>
            </a:r>
          </a:p>
        </p:txBody>
      </p:sp>
      <p:sp>
        <p:nvSpPr>
          <p:cNvPr id="5" name="TextBox 4">
            <a:extLst>
              <a:ext uri="{FF2B5EF4-FFF2-40B4-BE49-F238E27FC236}">
                <a16:creationId xmlns:a16="http://schemas.microsoft.com/office/drawing/2014/main" id="{BAB8C547-7B04-0499-029C-AC40C66F77F1}"/>
              </a:ext>
            </a:extLst>
          </p:cNvPr>
          <p:cNvSpPr txBox="1"/>
          <p:nvPr/>
        </p:nvSpPr>
        <p:spPr>
          <a:xfrm>
            <a:off x="5355489" y="2719121"/>
            <a:ext cx="1315553" cy="369332"/>
          </a:xfrm>
          <a:prstGeom prst="rect">
            <a:avLst/>
          </a:prstGeom>
          <a:noFill/>
        </p:spPr>
        <p:txBody>
          <a:bodyPr wrap="none" rtlCol="0">
            <a:spAutoFit/>
          </a:bodyPr>
          <a:lstStyle/>
          <a:p>
            <a:r>
              <a:rPr lang="en-US" b="1" dirty="0"/>
              <a:t>Team : D16</a:t>
            </a:r>
          </a:p>
        </p:txBody>
      </p:sp>
    </p:spTree>
    <p:extLst>
      <p:ext uri="{BB962C8B-B14F-4D97-AF65-F5344CB8AC3E}">
        <p14:creationId xmlns:p14="http://schemas.microsoft.com/office/powerpoint/2010/main" val="24452343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
          <p:cNvSpPr txBox="1">
            <a:spLocks noGrp="1"/>
          </p:cNvSpPr>
          <p:nvPr>
            <p:ph type="title"/>
          </p:nvPr>
        </p:nvSpPr>
        <p:spPr>
          <a:xfrm>
            <a:off x="225426" y="1345"/>
            <a:ext cx="8780584" cy="958605"/>
          </a:xfrm>
          <a:prstGeom prst="rect">
            <a:avLst/>
          </a:prstGeom>
          <a:noFill/>
          <a:ln>
            <a:noFill/>
          </a:ln>
        </p:spPr>
        <p:txBody>
          <a:bodyPr spcFirstLastPara="1" wrap="square" lIns="91425" tIns="45700" rIns="91425" bIns="45700" anchor="ctr" anchorCtr="0">
            <a:normAutofit/>
          </a:bodyPr>
          <a:lstStyle/>
          <a:p>
            <a:pPr algn="just"/>
            <a:r>
              <a:rPr lang="en-US" b="1" u="sng">
                <a:latin typeface="Times New Roman"/>
                <a:ea typeface="+mn-lt"/>
                <a:cs typeface="+mn-lt"/>
              </a:rPr>
              <a:t>Problem Statement :</a:t>
            </a:r>
          </a:p>
        </p:txBody>
      </p:sp>
      <p:cxnSp>
        <p:nvCxnSpPr>
          <p:cNvPr id="102" name="Google Shape;102;p2"/>
          <p:cNvCxnSpPr/>
          <p:nvPr/>
        </p:nvCxnSpPr>
        <p:spPr>
          <a:xfrm>
            <a:off x="85725" y="884238"/>
            <a:ext cx="11993563" cy="20637"/>
          </a:xfrm>
          <a:prstGeom prst="straightConnector1">
            <a:avLst/>
          </a:prstGeom>
          <a:noFill/>
          <a:ln w="9525" cap="flat" cmpd="sng">
            <a:solidFill>
              <a:srgbClr val="E4948A"/>
            </a:solidFill>
            <a:prstDash val="solid"/>
            <a:miter lim="800000"/>
            <a:headEnd type="none" w="sm" len="sm"/>
            <a:tailEnd type="none" w="sm" len="sm"/>
          </a:ln>
        </p:spPr>
      </p:cxnSp>
      <p:pic>
        <p:nvPicPr>
          <p:cNvPr id="103" name="Google Shape;103;p2"/>
          <p:cNvPicPr preferRelativeResize="0"/>
          <p:nvPr/>
        </p:nvPicPr>
        <p:blipFill rotWithShape="1">
          <a:blip r:embed="rId3">
            <a:alphaModFix/>
          </a:blip>
          <a:srcRect/>
          <a:stretch/>
        </p:blipFill>
        <p:spPr>
          <a:xfrm>
            <a:off x="8418466" y="136410"/>
            <a:ext cx="3725409" cy="633528"/>
          </a:xfrm>
          <a:prstGeom prst="rect">
            <a:avLst/>
          </a:prstGeom>
          <a:noFill/>
          <a:ln>
            <a:noFill/>
          </a:ln>
        </p:spPr>
      </p:pic>
      <p:sp>
        <p:nvSpPr>
          <p:cNvPr id="104" name="Google Shape;104;p2"/>
          <p:cNvSpPr/>
          <p:nvPr/>
        </p:nvSpPr>
        <p:spPr>
          <a:xfrm>
            <a:off x="150817" y="4721682"/>
            <a:ext cx="11890366" cy="461624"/>
          </a:xfrm>
          <a:prstGeom prst="rect">
            <a:avLst/>
          </a:prstGeom>
          <a:noFill/>
          <a:ln>
            <a:noFill/>
          </a:ln>
        </p:spPr>
        <p:txBody>
          <a:bodyPr spcFirstLastPara="1" wrap="square" lIns="91425" tIns="45700" rIns="91425" bIns="45700" anchor="ctr" anchorCtr="0">
            <a:spAutoFit/>
          </a:bodyPr>
          <a:lstStyle/>
          <a:p>
            <a:pPr marR="0" lvl="1" algn="l" rtl="0">
              <a:spcBef>
                <a:spcPts val="0"/>
              </a:spcBef>
              <a:spcAft>
                <a:spcPts val="0"/>
              </a:spcAft>
              <a:buClr>
                <a:schemeClr val="dk1"/>
              </a:buClr>
              <a:buSzPts val="2400"/>
            </a:pPr>
            <a:endParaRPr lang="en-IN" sz="2400" b="0" i="0" u="none" strike="noStrike" cap="none">
              <a:solidFill>
                <a:schemeClr val="dk1"/>
              </a:solidFill>
              <a:latin typeface="Times New Roman"/>
              <a:ea typeface="Times New Roman"/>
              <a:cs typeface="Times New Roman"/>
            </a:endParaRPr>
          </a:p>
        </p:txBody>
      </p:sp>
      <p:sp>
        <p:nvSpPr>
          <p:cNvPr id="2" name="TextBox 1">
            <a:extLst>
              <a:ext uri="{FF2B5EF4-FFF2-40B4-BE49-F238E27FC236}">
                <a16:creationId xmlns:a16="http://schemas.microsoft.com/office/drawing/2014/main" id="{FCF3F5AF-63FE-63C6-9C90-51398439CAEE}"/>
              </a:ext>
            </a:extLst>
          </p:cNvPr>
          <p:cNvSpPr txBox="1"/>
          <p:nvPr/>
        </p:nvSpPr>
        <p:spPr>
          <a:xfrm>
            <a:off x="93785" y="1131426"/>
            <a:ext cx="12016151"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dirty="0">
                <a:latin typeface="Times New Roman" panose="02020603050405020304" pitchFamily="18" charset="0"/>
                <a:cs typeface="Times New Roman" panose="02020603050405020304" pitchFamily="18" charset="0"/>
              </a:rPr>
              <a:t>First Information Reports (FIRs) often contain complex legal language that is difficult for common citizens to understand. This project aims to develop an AI-powered system that simplifies FIR content, identifies relevant IPC/BNS sections, and explains them in plain language. The solution also detects discrepancies between the complainant's statement and the FIR narrative while providing multilingual support for improved accessibility and transparency.</a:t>
            </a:r>
          </a:p>
        </p:txBody>
      </p:sp>
      <p:sp>
        <p:nvSpPr>
          <p:cNvPr id="3" name="TextBox 2">
            <a:extLst>
              <a:ext uri="{FF2B5EF4-FFF2-40B4-BE49-F238E27FC236}">
                <a16:creationId xmlns:a16="http://schemas.microsoft.com/office/drawing/2014/main" id="{CA8565FC-4E89-FC6F-B000-3BB8F1D2A0C7}"/>
              </a:ext>
            </a:extLst>
          </p:cNvPr>
          <p:cNvSpPr txBox="1"/>
          <p:nvPr/>
        </p:nvSpPr>
        <p:spPr>
          <a:xfrm>
            <a:off x="222738" y="2757277"/>
            <a:ext cx="3196683"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400" b="1" dirty="0">
                <a:latin typeface="Times New Roman"/>
              </a:rPr>
              <a:t>Objectives</a:t>
            </a:r>
            <a:r>
              <a:rPr lang="en-US" sz="4400" b="1" baseline="0" dirty="0">
                <a:latin typeface="Times New Roman"/>
              </a:rPr>
              <a:t>:</a:t>
            </a:r>
            <a:endParaRPr lang="en-US" dirty="0"/>
          </a:p>
        </p:txBody>
      </p:sp>
      <p:sp>
        <p:nvSpPr>
          <p:cNvPr id="4" name="TextBox 3">
            <a:extLst>
              <a:ext uri="{FF2B5EF4-FFF2-40B4-BE49-F238E27FC236}">
                <a16:creationId xmlns:a16="http://schemas.microsoft.com/office/drawing/2014/main" id="{DDB6B70E-5E96-E733-CF61-2DBD6473BBBC}"/>
              </a:ext>
            </a:extLst>
          </p:cNvPr>
          <p:cNvSpPr txBox="1"/>
          <p:nvPr/>
        </p:nvSpPr>
        <p:spPr>
          <a:xfrm>
            <a:off x="222738" y="3735598"/>
            <a:ext cx="1119754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Arial"/>
              <a:buChar char="•"/>
            </a:pPr>
            <a:r>
              <a:rPr lang="en-US" dirty="0">
                <a:latin typeface="Arial"/>
                <a:cs typeface="Arial"/>
              </a:rPr>
              <a:t>To extract information from FIR PDF documents automatically.</a:t>
            </a:r>
          </a:p>
          <a:p>
            <a:pPr marL="285750" indent="-285750" algn="just">
              <a:buFont typeface="Arial"/>
              <a:buChar char="•"/>
            </a:pPr>
            <a:r>
              <a:rPr lang="en-US" dirty="0">
                <a:latin typeface="Arial"/>
                <a:cs typeface="Arial"/>
              </a:rPr>
              <a:t>To identify IPC/BNS sections and explain their legal meaning.</a:t>
            </a:r>
          </a:p>
          <a:p>
            <a:pPr marL="285750" indent="-285750" algn="just">
              <a:buFont typeface="Arial"/>
              <a:buChar char="•"/>
            </a:pPr>
            <a:r>
              <a:rPr lang="en-US" dirty="0">
                <a:latin typeface="Arial"/>
                <a:cs typeface="Arial"/>
              </a:rPr>
              <a:t>To convert complex legal language into simple and understandable language.</a:t>
            </a:r>
          </a:p>
          <a:p>
            <a:pPr marL="285750" indent="-285750" algn="just">
              <a:buFont typeface="Arial"/>
              <a:buChar char="•"/>
            </a:pPr>
            <a:r>
              <a:rPr lang="en-US" dirty="0">
                <a:latin typeface="Arial"/>
                <a:cs typeface="Arial"/>
              </a:rPr>
              <a:t>To provide AI-based analysis of FIR cases.</a:t>
            </a:r>
          </a:p>
          <a:p>
            <a:pPr marL="285750" indent="-285750" algn="just">
              <a:buFont typeface="Arial"/>
              <a:buChar char="•"/>
            </a:pPr>
            <a:r>
              <a:rPr lang="en-US" dirty="0">
                <a:latin typeface="Arial"/>
                <a:cs typeface="Arial"/>
              </a:rPr>
              <a:t>To translate FIR explanations into Kannada and Hindi.</a:t>
            </a:r>
          </a:p>
          <a:p>
            <a:pPr marL="285750" indent="-285750" algn="just">
              <a:buFont typeface="Arial"/>
              <a:buChar char="•"/>
            </a:pPr>
            <a:r>
              <a:rPr lang="en-US" dirty="0">
                <a:latin typeface="Arial"/>
                <a:cs typeface="Arial"/>
              </a:rPr>
              <a:t>To compare the citizen's complaint with the FIR and detect discrepancies.</a:t>
            </a:r>
          </a:p>
          <a:p>
            <a:pPr marL="285750" indent="-285750" algn="just">
              <a:buFont typeface="Arial"/>
              <a:buChar char="•"/>
            </a:pPr>
            <a:r>
              <a:rPr lang="en-US" dirty="0">
                <a:latin typeface="Arial"/>
                <a:cs typeface="Arial"/>
              </a:rPr>
              <a:t>To improve legal awareness and make FIRs easier for citizens to understand.</a:t>
            </a:r>
          </a:p>
        </p:txBody>
      </p:sp>
    </p:spTree>
    <p:extLst>
      <p:ext uri="{BB962C8B-B14F-4D97-AF65-F5344CB8AC3E}">
        <p14:creationId xmlns:p14="http://schemas.microsoft.com/office/powerpoint/2010/main" val="12979774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6">
          <a:extLst>
            <a:ext uri="{FF2B5EF4-FFF2-40B4-BE49-F238E27FC236}">
              <a16:creationId xmlns:a16="http://schemas.microsoft.com/office/drawing/2014/main" id="{7C3E1989-2F4B-E8EE-B294-85BEEF86BF4A}"/>
            </a:ext>
          </a:extLst>
        </p:cNvPr>
        <p:cNvGrpSpPr/>
        <p:nvPr/>
      </p:nvGrpSpPr>
      <p:grpSpPr>
        <a:xfrm>
          <a:off x="0" y="0"/>
          <a:ext cx="0" cy="0"/>
          <a:chOff x="0" y="0"/>
          <a:chExt cx="0" cy="0"/>
        </a:xfrm>
      </p:grpSpPr>
      <p:sp>
        <p:nvSpPr>
          <p:cNvPr id="97" name="Google Shape;97;p2">
            <a:extLst>
              <a:ext uri="{FF2B5EF4-FFF2-40B4-BE49-F238E27FC236}">
                <a16:creationId xmlns:a16="http://schemas.microsoft.com/office/drawing/2014/main" id="{53C5D78E-5906-C204-D5CA-68B1F0B352B1}"/>
              </a:ext>
            </a:extLst>
          </p:cNvPr>
          <p:cNvSpPr txBox="1">
            <a:spLocks noGrp="1"/>
          </p:cNvSpPr>
          <p:nvPr>
            <p:ph type="title"/>
          </p:nvPr>
        </p:nvSpPr>
        <p:spPr>
          <a:xfrm>
            <a:off x="169397" y="147021"/>
            <a:ext cx="8836613" cy="756900"/>
          </a:xfrm>
          <a:prstGeom prst="rect">
            <a:avLst/>
          </a:prstGeom>
          <a:noFill/>
          <a:ln>
            <a:noFill/>
          </a:ln>
        </p:spPr>
        <p:txBody>
          <a:bodyPr spcFirstLastPara="1" wrap="square" lIns="91425" tIns="45700" rIns="91425" bIns="45700" anchor="ctr" anchorCtr="0">
            <a:normAutofit/>
          </a:bodyPr>
          <a:lstStyle/>
          <a:p>
            <a:r>
              <a:rPr lang="en-IN" b="1" dirty="0">
                <a:latin typeface="Times New Roman"/>
                <a:cs typeface="Times New Roman"/>
              </a:rPr>
              <a:t>Architecture:</a:t>
            </a:r>
          </a:p>
        </p:txBody>
      </p:sp>
      <p:cxnSp>
        <p:nvCxnSpPr>
          <p:cNvPr id="102" name="Google Shape;102;p2">
            <a:extLst>
              <a:ext uri="{FF2B5EF4-FFF2-40B4-BE49-F238E27FC236}">
                <a16:creationId xmlns:a16="http://schemas.microsoft.com/office/drawing/2014/main" id="{2EAC2DC8-1A2C-4CC5-9A30-0CFB67468216}"/>
              </a:ext>
            </a:extLst>
          </p:cNvPr>
          <p:cNvCxnSpPr/>
          <p:nvPr/>
        </p:nvCxnSpPr>
        <p:spPr>
          <a:xfrm>
            <a:off x="85725" y="884238"/>
            <a:ext cx="11993563" cy="20637"/>
          </a:xfrm>
          <a:prstGeom prst="straightConnector1">
            <a:avLst/>
          </a:prstGeom>
          <a:noFill/>
          <a:ln w="9525" cap="flat" cmpd="sng">
            <a:solidFill>
              <a:srgbClr val="E4948A"/>
            </a:solidFill>
            <a:prstDash val="solid"/>
            <a:miter lim="800000"/>
            <a:headEnd type="none" w="sm" len="sm"/>
            <a:tailEnd type="none" w="sm" len="sm"/>
          </a:ln>
        </p:spPr>
      </p:cxnSp>
      <p:pic>
        <p:nvPicPr>
          <p:cNvPr id="103" name="Google Shape;103;p2">
            <a:extLst>
              <a:ext uri="{FF2B5EF4-FFF2-40B4-BE49-F238E27FC236}">
                <a16:creationId xmlns:a16="http://schemas.microsoft.com/office/drawing/2014/main" id="{B621F903-7A4C-130C-89E3-E9136955EB8A}"/>
              </a:ext>
            </a:extLst>
          </p:cNvPr>
          <p:cNvPicPr preferRelativeResize="0"/>
          <p:nvPr/>
        </p:nvPicPr>
        <p:blipFill rotWithShape="1">
          <a:blip r:embed="rId3">
            <a:alphaModFix/>
          </a:blip>
          <a:srcRect/>
          <a:stretch/>
        </p:blipFill>
        <p:spPr>
          <a:xfrm>
            <a:off x="8620171" y="136410"/>
            <a:ext cx="3557321" cy="678351"/>
          </a:xfrm>
          <a:prstGeom prst="rect">
            <a:avLst/>
          </a:prstGeom>
          <a:noFill/>
          <a:ln>
            <a:noFill/>
          </a:ln>
        </p:spPr>
      </p:pic>
      <p:pic>
        <p:nvPicPr>
          <p:cNvPr id="25" name="Picture 24">
            <a:extLst>
              <a:ext uri="{FF2B5EF4-FFF2-40B4-BE49-F238E27FC236}">
                <a16:creationId xmlns:a16="http://schemas.microsoft.com/office/drawing/2014/main" id="{20D2744D-D56C-E173-29CB-DBF5A9EC564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60652" y="914532"/>
            <a:ext cx="8270696" cy="5807177"/>
          </a:xfrm>
          <a:prstGeom prst="rect">
            <a:avLst/>
          </a:prstGeom>
        </p:spPr>
      </p:pic>
    </p:spTree>
    <p:extLst>
      <p:ext uri="{BB962C8B-B14F-4D97-AF65-F5344CB8AC3E}">
        <p14:creationId xmlns:p14="http://schemas.microsoft.com/office/powerpoint/2010/main" val="11240646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6">
          <a:extLst>
            <a:ext uri="{FF2B5EF4-FFF2-40B4-BE49-F238E27FC236}">
              <a16:creationId xmlns:a16="http://schemas.microsoft.com/office/drawing/2014/main" id="{0CCC51FE-774A-D549-93FC-E12B2F70DA53}"/>
            </a:ext>
          </a:extLst>
        </p:cNvPr>
        <p:cNvGrpSpPr/>
        <p:nvPr/>
      </p:nvGrpSpPr>
      <p:grpSpPr>
        <a:xfrm>
          <a:off x="0" y="0"/>
          <a:ext cx="0" cy="0"/>
          <a:chOff x="0" y="0"/>
          <a:chExt cx="0" cy="0"/>
        </a:xfrm>
      </p:grpSpPr>
      <p:sp>
        <p:nvSpPr>
          <p:cNvPr id="97" name="Google Shape;97;p2">
            <a:extLst>
              <a:ext uri="{FF2B5EF4-FFF2-40B4-BE49-F238E27FC236}">
                <a16:creationId xmlns:a16="http://schemas.microsoft.com/office/drawing/2014/main" id="{F8376D06-59C7-06DA-9307-742CC2C1A6AC}"/>
              </a:ext>
            </a:extLst>
          </p:cNvPr>
          <p:cNvSpPr txBox="1">
            <a:spLocks noGrp="1"/>
          </p:cNvSpPr>
          <p:nvPr>
            <p:ph type="title"/>
          </p:nvPr>
        </p:nvSpPr>
        <p:spPr>
          <a:xfrm>
            <a:off x="169397" y="147021"/>
            <a:ext cx="8836613" cy="756900"/>
          </a:xfrm>
          <a:prstGeom prst="rect">
            <a:avLst/>
          </a:prstGeom>
          <a:noFill/>
          <a:ln>
            <a:noFill/>
          </a:ln>
        </p:spPr>
        <p:txBody>
          <a:bodyPr spcFirstLastPara="1" wrap="square" lIns="91425" tIns="45700" rIns="91425" bIns="45700" anchor="ctr" anchorCtr="0">
            <a:normAutofit/>
          </a:bodyPr>
          <a:lstStyle/>
          <a:p>
            <a:r>
              <a:rPr lang="en-IN" b="1" dirty="0">
                <a:latin typeface="Times New Roman"/>
                <a:cs typeface="Times New Roman"/>
              </a:rPr>
              <a:t>Technologies Used:</a:t>
            </a:r>
          </a:p>
        </p:txBody>
      </p:sp>
      <p:cxnSp>
        <p:nvCxnSpPr>
          <p:cNvPr id="102" name="Google Shape;102;p2">
            <a:extLst>
              <a:ext uri="{FF2B5EF4-FFF2-40B4-BE49-F238E27FC236}">
                <a16:creationId xmlns:a16="http://schemas.microsoft.com/office/drawing/2014/main" id="{42C0D434-6CA8-95C8-90E4-2962EDA0C8CD}"/>
              </a:ext>
            </a:extLst>
          </p:cNvPr>
          <p:cNvCxnSpPr/>
          <p:nvPr/>
        </p:nvCxnSpPr>
        <p:spPr>
          <a:xfrm>
            <a:off x="85725" y="884238"/>
            <a:ext cx="11993563" cy="20637"/>
          </a:xfrm>
          <a:prstGeom prst="straightConnector1">
            <a:avLst/>
          </a:prstGeom>
          <a:noFill/>
          <a:ln w="9525" cap="flat" cmpd="sng">
            <a:solidFill>
              <a:srgbClr val="E4948A"/>
            </a:solidFill>
            <a:prstDash val="solid"/>
            <a:miter lim="800000"/>
            <a:headEnd type="none" w="sm" len="sm"/>
            <a:tailEnd type="none" w="sm" len="sm"/>
          </a:ln>
        </p:spPr>
      </p:cxnSp>
      <p:pic>
        <p:nvPicPr>
          <p:cNvPr id="103" name="Google Shape;103;p2">
            <a:extLst>
              <a:ext uri="{FF2B5EF4-FFF2-40B4-BE49-F238E27FC236}">
                <a16:creationId xmlns:a16="http://schemas.microsoft.com/office/drawing/2014/main" id="{9B890990-2F2E-CB67-1499-6ED580A79A15}"/>
              </a:ext>
            </a:extLst>
          </p:cNvPr>
          <p:cNvPicPr preferRelativeResize="0"/>
          <p:nvPr/>
        </p:nvPicPr>
        <p:blipFill rotWithShape="1">
          <a:blip r:embed="rId3">
            <a:alphaModFix/>
          </a:blip>
          <a:srcRect/>
          <a:stretch/>
        </p:blipFill>
        <p:spPr>
          <a:xfrm>
            <a:off x="8620171" y="136410"/>
            <a:ext cx="3557321" cy="678351"/>
          </a:xfrm>
          <a:prstGeom prst="rect">
            <a:avLst/>
          </a:prstGeom>
          <a:noFill/>
          <a:ln>
            <a:noFill/>
          </a:ln>
        </p:spPr>
      </p:pic>
      <p:sp>
        <p:nvSpPr>
          <p:cNvPr id="5" name="TextBox 4">
            <a:extLst>
              <a:ext uri="{FF2B5EF4-FFF2-40B4-BE49-F238E27FC236}">
                <a16:creationId xmlns:a16="http://schemas.microsoft.com/office/drawing/2014/main" id="{4E91C9E2-1055-9CC9-C58C-CC9A30E8733B}"/>
              </a:ext>
            </a:extLst>
          </p:cNvPr>
          <p:cNvSpPr txBox="1"/>
          <p:nvPr/>
        </p:nvSpPr>
        <p:spPr>
          <a:xfrm>
            <a:off x="169396" y="1413063"/>
            <a:ext cx="9087619" cy="3046988"/>
          </a:xfrm>
          <a:prstGeom prst="rect">
            <a:avLst/>
          </a:prstGeom>
          <a:noFill/>
        </p:spPr>
        <p:txBody>
          <a:bodyPr wrap="square">
            <a:spAutoFit/>
          </a:bodyPr>
          <a:lstStyle/>
          <a:p>
            <a:pPr marL="457200" indent="-457200">
              <a:buFont typeface="Arial" panose="020B0604020202020204" pitchFamily="34" charset="0"/>
              <a:buChar char="•"/>
            </a:pPr>
            <a:r>
              <a:rPr lang="en-IN" sz="3200" dirty="0"/>
              <a:t>Frontend      : </a:t>
            </a:r>
            <a:r>
              <a:rPr lang="en-IN" sz="3200" dirty="0" err="1"/>
              <a:t>Streamlit</a:t>
            </a:r>
            <a:endParaRPr lang="en-IN" sz="3200" dirty="0"/>
          </a:p>
          <a:p>
            <a:pPr marL="457200" indent="-457200">
              <a:buFont typeface="Arial" panose="020B0604020202020204" pitchFamily="34" charset="0"/>
              <a:buChar char="•"/>
            </a:pPr>
            <a:r>
              <a:rPr lang="en-IN" sz="3200" dirty="0"/>
              <a:t>PDF Processing: </a:t>
            </a:r>
            <a:r>
              <a:rPr lang="en-IN" sz="3200" dirty="0" err="1"/>
              <a:t>PyPDF</a:t>
            </a:r>
            <a:endParaRPr lang="en-IN" sz="3200" dirty="0"/>
          </a:p>
          <a:p>
            <a:pPr marL="457200" indent="-457200">
              <a:buFont typeface="Arial" panose="020B0604020202020204" pitchFamily="34" charset="0"/>
              <a:buChar char="•"/>
            </a:pPr>
            <a:r>
              <a:rPr lang="en-IN" sz="3200" dirty="0"/>
              <a:t>Dataset       : IPC/BNS JSON Dataset</a:t>
            </a:r>
          </a:p>
          <a:p>
            <a:pPr marL="457200" indent="-457200">
              <a:buFont typeface="Arial" panose="020B0604020202020204" pitchFamily="34" charset="0"/>
              <a:buChar char="•"/>
            </a:pPr>
            <a:r>
              <a:rPr lang="en-IN" sz="3200" dirty="0"/>
              <a:t>Generative AI : Gemini 2.5 Flash</a:t>
            </a:r>
          </a:p>
          <a:p>
            <a:pPr marL="457200" indent="-457200">
              <a:buFont typeface="Arial" panose="020B0604020202020204" pitchFamily="34" charset="0"/>
              <a:buChar char="•"/>
            </a:pPr>
            <a:r>
              <a:rPr lang="en-IN" sz="3200" dirty="0"/>
              <a:t>Translation   : Deep Translator</a:t>
            </a:r>
          </a:p>
          <a:p>
            <a:pPr marL="457200" indent="-457200">
              <a:buFont typeface="Arial" panose="020B0604020202020204" pitchFamily="34" charset="0"/>
              <a:buChar char="•"/>
            </a:pPr>
            <a:r>
              <a:rPr lang="en-IN" sz="3200" dirty="0"/>
              <a:t>Language      : Python</a:t>
            </a:r>
          </a:p>
        </p:txBody>
      </p:sp>
    </p:spTree>
    <p:extLst>
      <p:ext uri="{BB962C8B-B14F-4D97-AF65-F5344CB8AC3E}">
        <p14:creationId xmlns:p14="http://schemas.microsoft.com/office/powerpoint/2010/main" val="13590638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6">
          <a:extLst>
            <a:ext uri="{FF2B5EF4-FFF2-40B4-BE49-F238E27FC236}">
              <a16:creationId xmlns:a16="http://schemas.microsoft.com/office/drawing/2014/main" id="{00596C0D-68E3-9A84-F75C-33BBED117D58}"/>
            </a:ext>
          </a:extLst>
        </p:cNvPr>
        <p:cNvGrpSpPr/>
        <p:nvPr/>
      </p:nvGrpSpPr>
      <p:grpSpPr>
        <a:xfrm>
          <a:off x="0" y="0"/>
          <a:ext cx="0" cy="0"/>
          <a:chOff x="0" y="0"/>
          <a:chExt cx="0" cy="0"/>
        </a:xfrm>
      </p:grpSpPr>
      <p:sp>
        <p:nvSpPr>
          <p:cNvPr id="97" name="Google Shape;97;p2">
            <a:extLst>
              <a:ext uri="{FF2B5EF4-FFF2-40B4-BE49-F238E27FC236}">
                <a16:creationId xmlns:a16="http://schemas.microsoft.com/office/drawing/2014/main" id="{9243DFEC-E26F-97E2-ED03-6908E33A1EC2}"/>
              </a:ext>
            </a:extLst>
          </p:cNvPr>
          <p:cNvSpPr txBox="1">
            <a:spLocks noGrp="1"/>
          </p:cNvSpPr>
          <p:nvPr>
            <p:ph type="title"/>
          </p:nvPr>
        </p:nvSpPr>
        <p:spPr>
          <a:xfrm>
            <a:off x="169397" y="147021"/>
            <a:ext cx="8836613" cy="756900"/>
          </a:xfrm>
          <a:prstGeom prst="rect">
            <a:avLst/>
          </a:prstGeom>
          <a:noFill/>
          <a:ln>
            <a:noFill/>
          </a:ln>
        </p:spPr>
        <p:txBody>
          <a:bodyPr spcFirstLastPara="1" wrap="square" lIns="91425" tIns="45700" rIns="91425" bIns="45700" anchor="ctr" anchorCtr="0">
            <a:normAutofit/>
          </a:bodyPr>
          <a:lstStyle/>
          <a:p>
            <a:r>
              <a:rPr lang="en-IN" b="1" dirty="0">
                <a:latin typeface="Times New Roman"/>
                <a:cs typeface="Times New Roman"/>
              </a:rPr>
              <a:t>Workflow:</a:t>
            </a:r>
          </a:p>
        </p:txBody>
      </p:sp>
      <p:cxnSp>
        <p:nvCxnSpPr>
          <p:cNvPr id="102" name="Google Shape;102;p2">
            <a:extLst>
              <a:ext uri="{FF2B5EF4-FFF2-40B4-BE49-F238E27FC236}">
                <a16:creationId xmlns:a16="http://schemas.microsoft.com/office/drawing/2014/main" id="{FADA381B-165B-3669-91E9-A0D5A8CC0C2D}"/>
              </a:ext>
            </a:extLst>
          </p:cNvPr>
          <p:cNvCxnSpPr/>
          <p:nvPr/>
        </p:nvCxnSpPr>
        <p:spPr>
          <a:xfrm>
            <a:off x="85725" y="884238"/>
            <a:ext cx="11993563" cy="20637"/>
          </a:xfrm>
          <a:prstGeom prst="straightConnector1">
            <a:avLst/>
          </a:prstGeom>
          <a:noFill/>
          <a:ln w="9525" cap="flat" cmpd="sng">
            <a:solidFill>
              <a:srgbClr val="E4948A"/>
            </a:solidFill>
            <a:prstDash val="solid"/>
            <a:miter lim="800000"/>
            <a:headEnd type="none" w="sm" len="sm"/>
            <a:tailEnd type="none" w="sm" len="sm"/>
          </a:ln>
        </p:spPr>
      </p:cxnSp>
      <p:pic>
        <p:nvPicPr>
          <p:cNvPr id="103" name="Google Shape;103;p2">
            <a:extLst>
              <a:ext uri="{FF2B5EF4-FFF2-40B4-BE49-F238E27FC236}">
                <a16:creationId xmlns:a16="http://schemas.microsoft.com/office/drawing/2014/main" id="{7D48376D-6C75-7231-A801-A972C86B41EC}"/>
              </a:ext>
            </a:extLst>
          </p:cNvPr>
          <p:cNvPicPr preferRelativeResize="0"/>
          <p:nvPr/>
        </p:nvPicPr>
        <p:blipFill rotWithShape="1">
          <a:blip r:embed="rId3">
            <a:alphaModFix/>
          </a:blip>
          <a:srcRect/>
          <a:stretch/>
        </p:blipFill>
        <p:spPr>
          <a:xfrm>
            <a:off x="8620171" y="136410"/>
            <a:ext cx="3557321" cy="678351"/>
          </a:xfrm>
          <a:prstGeom prst="rect">
            <a:avLst/>
          </a:prstGeom>
          <a:noFill/>
          <a:ln>
            <a:noFill/>
          </a:ln>
        </p:spPr>
      </p:pic>
      <p:pic>
        <p:nvPicPr>
          <p:cNvPr id="3" name="Picture 2">
            <a:extLst>
              <a:ext uri="{FF2B5EF4-FFF2-40B4-BE49-F238E27FC236}">
                <a16:creationId xmlns:a16="http://schemas.microsoft.com/office/drawing/2014/main" id="{054CB4DB-B180-9D3F-D723-72309BA989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1110" y="973398"/>
            <a:ext cx="10609780" cy="5304890"/>
          </a:xfrm>
          <a:prstGeom prst="rect">
            <a:avLst/>
          </a:prstGeom>
        </p:spPr>
      </p:pic>
    </p:spTree>
    <p:extLst>
      <p:ext uri="{BB962C8B-B14F-4D97-AF65-F5344CB8AC3E}">
        <p14:creationId xmlns:p14="http://schemas.microsoft.com/office/powerpoint/2010/main" val="22079841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6">
          <a:extLst>
            <a:ext uri="{FF2B5EF4-FFF2-40B4-BE49-F238E27FC236}">
              <a16:creationId xmlns:a16="http://schemas.microsoft.com/office/drawing/2014/main" id="{7204B437-003E-DF6A-2FC8-D6FA919A2E96}"/>
            </a:ext>
          </a:extLst>
        </p:cNvPr>
        <p:cNvGrpSpPr/>
        <p:nvPr/>
      </p:nvGrpSpPr>
      <p:grpSpPr>
        <a:xfrm>
          <a:off x="0" y="0"/>
          <a:ext cx="0" cy="0"/>
          <a:chOff x="0" y="0"/>
          <a:chExt cx="0" cy="0"/>
        </a:xfrm>
      </p:grpSpPr>
      <p:sp>
        <p:nvSpPr>
          <p:cNvPr id="97" name="Google Shape;97;p2">
            <a:extLst>
              <a:ext uri="{FF2B5EF4-FFF2-40B4-BE49-F238E27FC236}">
                <a16:creationId xmlns:a16="http://schemas.microsoft.com/office/drawing/2014/main" id="{EB80F11F-19A3-AE11-CBB7-6E1D6EA65538}"/>
              </a:ext>
            </a:extLst>
          </p:cNvPr>
          <p:cNvSpPr txBox="1">
            <a:spLocks noGrp="1"/>
          </p:cNvSpPr>
          <p:nvPr>
            <p:ph type="title"/>
          </p:nvPr>
        </p:nvSpPr>
        <p:spPr>
          <a:xfrm>
            <a:off x="169397" y="147021"/>
            <a:ext cx="8836613" cy="756900"/>
          </a:xfrm>
          <a:prstGeom prst="rect">
            <a:avLst/>
          </a:prstGeom>
          <a:noFill/>
          <a:ln>
            <a:noFill/>
          </a:ln>
        </p:spPr>
        <p:txBody>
          <a:bodyPr spcFirstLastPara="1" wrap="square" lIns="91425" tIns="45700" rIns="91425" bIns="45700" anchor="ctr" anchorCtr="0">
            <a:normAutofit/>
          </a:bodyPr>
          <a:lstStyle/>
          <a:p>
            <a:r>
              <a:rPr lang="en-IN" b="1" dirty="0">
                <a:latin typeface="Times New Roman"/>
                <a:cs typeface="Times New Roman"/>
              </a:rPr>
              <a:t>Implementation:</a:t>
            </a:r>
          </a:p>
        </p:txBody>
      </p:sp>
      <p:cxnSp>
        <p:nvCxnSpPr>
          <p:cNvPr id="102" name="Google Shape;102;p2">
            <a:extLst>
              <a:ext uri="{FF2B5EF4-FFF2-40B4-BE49-F238E27FC236}">
                <a16:creationId xmlns:a16="http://schemas.microsoft.com/office/drawing/2014/main" id="{F1D5FBB2-7F31-1887-DDD4-82556C9B8C12}"/>
              </a:ext>
            </a:extLst>
          </p:cNvPr>
          <p:cNvCxnSpPr/>
          <p:nvPr/>
        </p:nvCxnSpPr>
        <p:spPr>
          <a:xfrm>
            <a:off x="85725" y="884238"/>
            <a:ext cx="11993563" cy="20637"/>
          </a:xfrm>
          <a:prstGeom prst="straightConnector1">
            <a:avLst/>
          </a:prstGeom>
          <a:noFill/>
          <a:ln w="9525" cap="flat" cmpd="sng">
            <a:solidFill>
              <a:srgbClr val="E4948A"/>
            </a:solidFill>
            <a:prstDash val="solid"/>
            <a:miter lim="800000"/>
            <a:headEnd type="none" w="sm" len="sm"/>
            <a:tailEnd type="none" w="sm" len="sm"/>
          </a:ln>
        </p:spPr>
      </p:cxnSp>
      <p:pic>
        <p:nvPicPr>
          <p:cNvPr id="103" name="Google Shape;103;p2">
            <a:extLst>
              <a:ext uri="{FF2B5EF4-FFF2-40B4-BE49-F238E27FC236}">
                <a16:creationId xmlns:a16="http://schemas.microsoft.com/office/drawing/2014/main" id="{AF93181C-3830-CBCC-3F4E-8BE8C0C16CD8}"/>
              </a:ext>
            </a:extLst>
          </p:cNvPr>
          <p:cNvPicPr preferRelativeResize="0"/>
          <p:nvPr/>
        </p:nvPicPr>
        <p:blipFill rotWithShape="1">
          <a:blip r:embed="rId3">
            <a:alphaModFix/>
          </a:blip>
          <a:srcRect/>
          <a:stretch/>
        </p:blipFill>
        <p:spPr>
          <a:xfrm>
            <a:off x="8620171" y="136410"/>
            <a:ext cx="3557321" cy="678351"/>
          </a:xfrm>
          <a:prstGeom prst="rect">
            <a:avLst/>
          </a:prstGeom>
          <a:noFill/>
          <a:ln>
            <a:noFill/>
          </a:ln>
        </p:spPr>
      </p:pic>
      <p:sp>
        <p:nvSpPr>
          <p:cNvPr id="8" name="TextBox 7">
            <a:extLst>
              <a:ext uri="{FF2B5EF4-FFF2-40B4-BE49-F238E27FC236}">
                <a16:creationId xmlns:a16="http://schemas.microsoft.com/office/drawing/2014/main" id="{08752487-4F94-D96E-0537-A4EE2040EDCD}"/>
              </a:ext>
            </a:extLst>
          </p:cNvPr>
          <p:cNvSpPr txBox="1"/>
          <p:nvPr/>
        </p:nvSpPr>
        <p:spPr>
          <a:xfrm>
            <a:off x="308429" y="1449447"/>
            <a:ext cx="11548154" cy="5078313"/>
          </a:xfrm>
          <a:prstGeom prst="rect">
            <a:avLst/>
          </a:prstGeom>
          <a:noFill/>
        </p:spPr>
        <p:txBody>
          <a:bodyPr wrap="square">
            <a:spAutoFit/>
          </a:bodyPr>
          <a:lstStyle/>
          <a:p>
            <a:pPr marL="342900" indent="-34290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FIR Upload &amp; Text Extraction: </a:t>
            </a:r>
            <a:r>
              <a:rPr lang="en-US" dirty="0">
                <a:latin typeface="Times New Roman" panose="02020603050405020304" pitchFamily="18" charset="0"/>
                <a:cs typeface="Times New Roman" panose="02020603050405020304" pitchFamily="18" charset="0"/>
              </a:rPr>
              <a:t>The system allows users to upload FIR documents in PDF format through the </a:t>
            </a:r>
            <a:r>
              <a:rPr lang="en-US" dirty="0" err="1">
                <a:latin typeface="Times New Roman" panose="02020603050405020304" pitchFamily="18" charset="0"/>
                <a:cs typeface="Times New Roman" panose="02020603050405020304" pitchFamily="18" charset="0"/>
              </a:rPr>
              <a:t>Streamlit</a:t>
            </a:r>
            <a:r>
              <a:rPr lang="en-US" dirty="0">
                <a:latin typeface="Times New Roman" panose="02020603050405020304" pitchFamily="18" charset="0"/>
                <a:cs typeface="Times New Roman" panose="02020603050405020304" pitchFamily="18" charset="0"/>
              </a:rPr>
              <a:t>-based interface. The uploaded document is processed using the </a:t>
            </a:r>
            <a:r>
              <a:rPr lang="en-US" dirty="0" err="1">
                <a:latin typeface="Times New Roman" panose="02020603050405020304" pitchFamily="18" charset="0"/>
                <a:cs typeface="Times New Roman" panose="02020603050405020304" pitchFamily="18" charset="0"/>
              </a:rPr>
              <a:t>PyPDF</a:t>
            </a:r>
            <a:r>
              <a:rPr lang="en-US" dirty="0">
                <a:latin typeface="Times New Roman" panose="02020603050405020304" pitchFamily="18" charset="0"/>
                <a:cs typeface="Times New Roman" panose="02020603050405020304" pitchFamily="18" charset="0"/>
              </a:rPr>
              <a:t> library, which extracts the textual content from the FIR. The extracted text is then prepared for further legal analysis and processing.</a:t>
            </a:r>
          </a:p>
          <a:p>
            <a:pPr marL="342900" indent="-34290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IPC/BNS Section </a:t>
            </a:r>
            <a:r>
              <a:rPr lang="en-US" b="1" dirty="0" err="1">
                <a:latin typeface="Times New Roman" panose="02020603050405020304" pitchFamily="18" charset="0"/>
                <a:cs typeface="Times New Roman" panose="02020603050405020304" pitchFamily="18" charset="0"/>
              </a:rPr>
              <a:t>Detection:</a:t>
            </a:r>
            <a:r>
              <a:rPr lang="en-US" dirty="0" err="1">
                <a:latin typeface="Times New Roman" panose="02020603050405020304" pitchFamily="18" charset="0"/>
                <a:cs typeface="Times New Roman" panose="02020603050405020304" pitchFamily="18" charset="0"/>
              </a:rPr>
              <a:t>The</a:t>
            </a:r>
            <a:r>
              <a:rPr lang="en-US" dirty="0">
                <a:latin typeface="Times New Roman" panose="02020603050405020304" pitchFamily="18" charset="0"/>
                <a:cs typeface="Times New Roman" panose="02020603050405020304" pitchFamily="18" charset="0"/>
              </a:rPr>
              <a:t> extracted FIR content is analyzed to identify IPC/BNS sections mentioned in the document. The detected sections are matched with the integrated legal dataset to retrieve relevant legal information. The corresponding section titles and descriptions are then displayed to help users understand the applicable laws.</a:t>
            </a:r>
          </a:p>
          <a:p>
            <a:pPr marL="342900" indent="-342900">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AI-Powered FIR Simplification: </a:t>
            </a:r>
            <a:r>
              <a:rPr lang="en-US" dirty="0">
                <a:latin typeface="Times New Roman" panose="02020603050405020304" pitchFamily="18" charset="0"/>
                <a:cs typeface="Times New Roman" panose="02020603050405020304" pitchFamily="18" charset="0"/>
              </a:rPr>
              <a:t>The Gemini 2.5 Flash API is used to generate a simplified version of the FIR. Complex legal terminology and lengthy narratives are converted into clear and citizen-friendly language. This enables ordinary users to understand the key details of the FIR without requiring legal expertise.</a:t>
            </a:r>
          </a:p>
          <a:p>
            <a:pPr marL="342900" indent="-342900">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AI Legal Explanation: </a:t>
            </a:r>
            <a:r>
              <a:rPr lang="en-US" dirty="0">
                <a:latin typeface="Times New Roman" panose="02020603050405020304" pitchFamily="18" charset="0"/>
                <a:cs typeface="Times New Roman" panose="02020603050405020304" pitchFamily="18" charset="0"/>
              </a:rPr>
              <a:t>The system utilizes Gemini to provide a detailed explanation of the FIR. It identifies the nature of the crime, highlights important facts, explains possible legal implications, and describes the actions being taken by law enforcement authorities. This feature helps users gain a deeper understanding of the case.</a:t>
            </a:r>
          </a:p>
          <a:p>
            <a:pPr marL="342900" indent="-34290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31747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6">
          <a:extLst>
            <a:ext uri="{FF2B5EF4-FFF2-40B4-BE49-F238E27FC236}">
              <a16:creationId xmlns:a16="http://schemas.microsoft.com/office/drawing/2014/main" id="{F9089EC6-A49C-A120-A286-A4C0BF7E1200}"/>
            </a:ext>
          </a:extLst>
        </p:cNvPr>
        <p:cNvGrpSpPr/>
        <p:nvPr/>
      </p:nvGrpSpPr>
      <p:grpSpPr>
        <a:xfrm>
          <a:off x="0" y="0"/>
          <a:ext cx="0" cy="0"/>
          <a:chOff x="0" y="0"/>
          <a:chExt cx="0" cy="0"/>
        </a:xfrm>
      </p:grpSpPr>
      <p:sp>
        <p:nvSpPr>
          <p:cNvPr id="97" name="Google Shape;97;p2">
            <a:extLst>
              <a:ext uri="{FF2B5EF4-FFF2-40B4-BE49-F238E27FC236}">
                <a16:creationId xmlns:a16="http://schemas.microsoft.com/office/drawing/2014/main" id="{01A6AC0B-7298-88F1-3534-CEF0461947BF}"/>
              </a:ext>
            </a:extLst>
          </p:cNvPr>
          <p:cNvSpPr txBox="1">
            <a:spLocks noGrp="1"/>
          </p:cNvSpPr>
          <p:nvPr>
            <p:ph type="title"/>
          </p:nvPr>
        </p:nvSpPr>
        <p:spPr>
          <a:xfrm>
            <a:off x="169397" y="147021"/>
            <a:ext cx="8836613" cy="756900"/>
          </a:xfrm>
          <a:prstGeom prst="rect">
            <a:avLst/>
          </a:prstGeom>
          <a:noFill/>
          <a:ln>
            <a:noFill/>
          </a:ln>
        </p:spPr>
        <p:txBody>
          <a:bodyPr spcFirstLastPara="1" wrap="square" lIns="91425" tIns="45700" rIns="91425" bIns="45700" anchor="ctr" anchorCtr="0">
            <a:normAutofit/>
          </a:bodyPr>
          <a:lstStyle/>
          <a:p>
            <a:r>
              <a:rPr lang="en-IN" b="1" dirty="0">
                <a:latin typeface="Times New Roman"/>
                <a:cs typeface="Times New Roman"/>
              </a:rPr>
              <a:t>Implementation:</a:t>
            </a:r>
          </a:p>
        </p:txBody>
      </p:sp>
      <p:cxnSp>
        <p:nvCxnSpPr>
          <p:cNvPr id="102" name="Google Shape;102;p2">
            <a:extLst>
              <a:ext uri="{FF2B5EF4-FFF2-40B4-BE49-F238E27FC236}">
                <a16:creationId xmlns:a16="http://schemas.microsoft.com/office/drawing/2014/main" id="{9E983C96-82BE-5D98-F948-7C235CB18EC0}"/>
              </a:ext>
            </a:extLst>
          </p:cNvPr>
          <p:cNvCxnSpPr/>
          <p:nvPr/>
        </p:nvCxnSpPr>
        <p:spPr>
          <a:xfrm>
            <a:off x="85725" y="884238"/>
            <a:ext cx="11993563" cy="20637"/>
          </a:xfrm>
          <a:prstGeom prst="straightConnector1">
            <a:avLst/>
          </a:prstGeom>
          <a:noFill/>
          <a:ln w="9525" cap="flat" cmpd="sng">
            <a:solidFill>
              <a:srgbClr val="E4948A"/>
            </a:solidFill>
            <a:prstDash val="solid"/>
            <a:miter lim="800000"/>
            <a:headEnd type="none" w="sm" len="sm"/>
            <a:tailEnd type="none" w="sm" len="sm"/>
          </a:ln>
        </p:spPr>
      </p:cxnSp>
      <p:pic>
        <p:nvPicPr>
          <p:cNvPr id="103" name="Google Shape;103;p2">
            <a:extLst>
              <a:ext uri="{FF2B5EF4-FFF2-40B4-BE49-F238E27FC236}">
                <a16:creationId xmlns:a16="http://schemas.microsoft.com/office/drawing/2014/main" id="{3F25D9FD-E261-3C82-325B-2CFFF0881CCC}"/>
              </a:ext>
            </a:extLst>
          </p:cNvPr>
          <p:cNvPicPr preferRelativeResize="0"/>
          <p:nvPr/>
        </p:nvPicPr>
        <p:blipFill rotWithShape="1">
          <a:blip r:embed="rId3">
            <a:alphaModFix/>
          </a:blip>
          <a:srcRect/>
          <a:stretch/>
        </p:blipFill>
        <p:spPr>
          <a:xfrm>
            <a:off x="8620171" y="136410"/>
            <a:ext cx="3557321" cy="678351"/>
          </a:xfrm>
          <a:prstGeom prst="rect">
            <a:avLst/>
          </a:prstGeom>
          <a:noFill/>
          <a:ln>
            <a:noFill/>
          </a:ln>
        </p:spPr>
      </p:pic>
      <p:sp>
        <p:nvSpPr>
          <p:cNvPr id="3" name="TextBox 2">
            <a:extLst>
              <a:ext uri="{FF2B5EF4-FFF2-40B4-BE49-F238E27FC236}">
                <a16:creationId xmlns:a16="http://schemas.microsoft.com/office/drawing/2014/main" id="{2CD31B42-A8F0-A57F-977B-34DADA6F1931}"/>
              </a:ext>
            </a:extLst>
          </p:cNvPr>
          <p:cNvSpPr txBox="1"/>
          <p:nvPr/>
        </p:nvSpPr>
        <p:spPr>
          <a:xfrm>
            <a:off x="457404" y="1365023"/>
            <a:ext cx="11250203" cy="3416320"/>
          </a:xfrm>
          <a:prstGeom prst="rect">
            <a:avLst/>
          </a:prstGeom>
          <a:noFill/>
        </p:spPr>
        <p:txBody>
          <a:bodyPr wrap="square">
            <a:spAutoFit/>
          </a:bodyPr>
          <a:lstStyle/>
          <a:p>
            <a:pPr marL="342900" indent="-34290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Multilingual Translation: </a:t>
            </a:r>
            <a:r>
              <a:rPr lang="en-US" dirty="0">
                <a:latin typeface="Times New Roman" panose="02020603050405020304" pitchFamily="18" charset="0"/>
                <a:cs typeface="Times New Roman" panose="02020603050405020304" pitchFamily="18" charset="0"/>
              </a:rPr>
              <a:t>To improve accessibility, the generated legal explanation is automatically translated into Kannada and Hindi using the Deep Translator library. This multilingual support ensures that users can understand FIR information in their preferred language.</a:t>
            </a:r>
          </a:p>
          <a:p>
            <a:pPr marL="342900" indent="-34290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Discrepancy </a:t>
            </a:r>
            <a:r>
              <a:rPr lang="en-US" b="1" dirty="0" err="1">
                <a:latin typeface="Times New Roman" panose="02020603050405020304" pitchFamily="18" charset="0"/>
                <a:cs typeface="Times New Roman" panose="02020603050405020304" pitchFamily="18" charset="0"/>
              </a:rPr>
              <a:t>Analysis:</a:t>
            </a:r>
            <a:r>
              <a:rPr lang="en-US" dirty="0" err="1">
                <a:latin typeface="Times New Roman" panose="02020603050405020304" pitchFamily="18" charset="0"/>
                <a:cs typeface="Times New Roman" panose="02020603050405020304" pitchFamily="18" charset="0"/>
              </a:rPr>
              <a:t>The</a:t>
            </a:r>
            <a:r>
              <a:rPr lang="en-US" dirty="0">
                <a:latin typeface="Times New Roman" panose="02020603050405020304" pitchFamily="18" charset="0"/>
                <a:cs typeface="Times New Roman" panose="02020603050405020304" pitchFamily="18" charset="0"/>
              </a:rPr>
              <a:t> original citizen complaint is compared with the official FIR using Gemini-based analysis. The system identifies missing information, mismatched details, and additional information present in the FIR. A discrepancy report is then generated to help users verify the accuracy of the recorded complaint.</a:t>
            </a:r>
          </a:p>
          <a:p>
            <a:pPr marL="342900" indent="-34290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AI Crime Classification: </a:t>
            </a:r>
            <a:r>
              <a:rPr lang="en-US" dirty="0">
                <a:latin typeface="Times New Roman" panose="02020603050405020304" pitchFamily="18" charset="0"/>
                <a:cs typeface="Times New Roman" panose="02020603050405020304" pitchFamily="18" charset="0"/>
              </a:rPr>
              <a:t>The Gemini model analyzes the FIR narrative to determine the likely crime category and applicable IPC/BNS sections. Even when legal sections are not explicitly mentioned, the system uses semantic understanding to classify the crime and provide reasoning behind its prediction. This improves the overall intelligence and adaptability of the solution.</a:t>
            </a:r>
          </a:p>
        </p:txBody>
      </p:sp>
    </p:spTree>
    <p:extLst>
      <p:ext uri="{BB962C8B-B14F-4D97-AF65-F5344CB8AC3E}">
        <p14:creationId xmlns:p14="http://schemas.microsoft.com/office/powerpoint/2010/main" val="6470716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6">
          <a:extLst>
            <a:ext uri="{FF2B5EF4-FFF2-40B4-BE49-F238E27FC236}">
              <a16:creationId xmlns:a16="http://schemas.microsoft.com/office/drawing/2014/main" id="{01110E6D-B34B-B5A9-989F-055103C6122B}"/>
            </a:ext>
          </a:extLst>
        </p:cNvPr>
        <p:cNvGrpSpPr/>
        <p:nvPr/>
      </p:nvGrpSpPr>
      <p:grpSpPr>
        <a:xfrm>
          <a:off x="0" y="0"/>
          <a:ext cx="0" cy="0"/>
          <a:chOff x="0" y="0"/>
          <a:chExt cx="0" cy="0"/>
        </a:xfrm>
      </p:grpSpPr>
      <p:sp>
        <p:nvSpPr>
          <p:cNvPr id="97" name="Google Shape;97;p2">
            <a:extLst>
              <a:ext uri="{FF2B5EF4-FFF2-40B4-BE49-F238E27FC236}">
                <a16:creationId xmlns:a16="http://schemas.microsoft.com/office/drawing/2014/main" id="{5B88DD43-08CE-BA5B-01D7-DDDFB14C60DE}"/>
              </a:ext>
            </a:extLst>
          </p:cNvPr>
          <p:cNvSpPr txBox="1">
            <a:spLocks noGrp="1"/>
          </p:cNvSpPr>
          <p:nvPr>
            <p:ph type="title"/>
          </p:nvPr>
        </p:nvSpPr>
        <p:spPr>
          <a:xfrm>
            <a:off x="243887" y="-56356"/>
            <a:ext cx="10515600" cy="1325563"/>
          </a:xfrm>
          <a:prstGeom prst="rect">
            <a:avLst/>
          </a:prstGeom>
          <a:noFill/>
          <a:ln>
            <a:noFill/>
          </a:ln>
        </p:spPr>
        <p:txBody>
          <a:bodyPr spcFirstLastPara="1" wrap="square" lIns="91425" tIns="45700" rIns="91425" bIns="45700" anchor="ctr" anchorCtr="0">
            <a:normAutofit/>
          </a:bodyPr>
          <a:lstStyle/>
          <a:p>
            <a:r>
              <a:rPr lang="en-IN" b="1" dirty="0">
                <a:latin typeface="Times New Roman"/>
                <a:cs typeface="Times New Roman"/>
              </a:rPr>
              <a:t>Screenshots:</a:t>
            </a:r>
          </a:p>
        </p:txBody>
      </p:sp>
      <p:pic>
        <p:nvPicPr>
          <p:cNvPr id="14" name="Content Placeholder 13">
            <a:extLst>
              <a:ext uri="{FF2B5EF4-FFF2-40B4-BE49-F238E27FC236}">
                <a16:creationId xmlns:a16="http://schemas.microsoft.com/office/drawing/2014/main" id="{74131BA3-35F2-3F25-83E2-4652308D58E8}"/>
              </a:ext>
            </a:extLst>
          </p:cNvPr>
          <p:cNvPicPr>
            <a:picLocks noGrp="1" noChangeAspect="1"/>
          </p:cNvPicPr>
          <p:nvPr>
            <p:ph sz="half" idx="2"/>
          </p:nvPr>
        </p:nvPicPr>
        <p:blipFill>
          <a:blip r:embed="rId3" cstate="print">
            <a:extLst>
              <a:ext uri="{28A0092B-C50C-407E-A947-70E740481C1C}">
                <a14:useLocalDpi xmlns:a14="http://schemas.microsoft.com/office/drawing/2010/main" val="0"/>
              </a:ext>
            </a:extLst>
          </a:blip>
          <a:stretch>
            <a:fillRect/>
          </a:stretch>
        </p:blipFill>
        <p:spPr>
          <a:xfrm>
            <a:off x="582934" y="2262229"/>
            <a:ext cx="5157787" cy="2749745"/>
          </a:xfrm>
        </p:spPr>
      </p:pic>
      <p:pic>
        <p:nvPicPr>
          <p:cNvPr id="16" name="Content Placeholder 15">
            <a:extLst>
              <a:ext uri="{FF2B5EF4-FFF2-40B4-BE49-F238E27FC236}">
                <a16:creationId xmlns:a16="http://schemas.microsoft.com/office/drawing/2014/main" id="{1302DF26-9124-6940-9E1D-209D5B5E4EA8}"/>
              </a:ext>
            </a:extLst>
          </p:cNvPr>
          <p:cNvPicPr>
            <a:picLocks noGrp="1" noChangeAspect="1"/>
          </p:cNvPicPr>
          <p:nvPr>
            <p:ph sz="quarter" idx="4"/>
          </p:nvPr>
        </p:nvPicPr>
        <p:blipFill>
          <a:blip r:embed="rId4" cstate="print">
            <a:extLst>
              <a:ext uri="{28A0092B-C50C-407E-A947-70E740481C1C}">
                <a14:useLocalDpi xmlns:a14="http://schemas.microsoft.com/office/drawing/2010/main" val="0"/>
              </a:ext>
            </a:extLst>
          </a:blip>
          <a:stretch>
            <a:fillRect/>
          </a:stretch>
        </p:blipFill>
        <p:spPr>
          <a:xfrm>
            <a:off x="6451281" y="2295951"/>
            <a:ext cx="5183188" cy="2682299"/>
          </a:xfrm>
        </p:spPr>
      </p:pic>
      <p:cxnSp>
        <p:nvCxnSpPr>
          <p:cNvPr id="102" name="Google Shape;102;p2">
            <a:extLst>
              <a:ext uri="{FF2B5EF4-FFF2-40B4-BE49-F238E27FC236}">
                <a16:creationId xmlns:a16="http://schemas.microsoft.com/office/drawing/2014/main" id="{3C664656-4449-EDB4-5819-044038411DD9}"/>
              </a:ext>
            </a:extLst>
          </p:cNvPr>
          <p:cNvCxnSpPr/>
          <p:nvPr/>
        </p:nvCxnSpPr>
        <p:spPr>
          <a:xfrm>
            <a:off x="85725" y="884238"/>
            <a:ext cx="11993563" cy="20637"/>
          </a:xfrm>
          <a:prstGeom prst="straightConnector1">
            <a:avLst/>
          </a:prstGeom>
          <a:noFill/>
          <a:ln w="9525" cap="flat" cmpd="sng">
            <a:solidFill>
              <a:srgbClr val="E4948A"/>
            </a:solidFill>
            <a:prstDash val="solid"/>
            <a:miter lim="800000"/>
            <a:headEnd type="none" w="sm" len="sm"/>
            <a:tailEnd type="none" w="sm" len="sm"/>
          </a:ln>
        </p:spPr>
      </p:cxnSp>
      <p:pic>
        <p:nvPicPr>
          <p:cNvPr id="103" name="Google Shape;103;p2">
            <a:extLst>
              <a:ext uri="{FF2B5EF4-FFF2-40B4-BE49-F238E27FC236}">
                <a16:creationId xmlns:a16="http://schemas.microsoft.com/office/drawing/2014/main" id="{19A5A0A6-9516-5479-FBAA-E24285C31220}"/>
              </a:ext>
            </a:extLst>
          </p:cNvPr>
          <p:cNvPicPr preferRelativeResize="0"/>
          <p:nvPr/>
        </p:nvPicPr>
        <p:blipFill rotWithShape="1">
          <a:blip r:embed="rId5">
            <a:alphaModFix/>
          </a:blip>
          <a:srcRect/>
          <a:stretch/>
        </p:blipFill>
        <p:spPr>
          <a:xfrm>
            <a:off x="8620171" y="136410"/>
            <a:ext cx="3557321" cy="678351"/>
          </a:xfrm>
          <a:prstGeom prst="rect">
            <a:avLst/>
          </a:prstGeom>
          <a:noFill/>
          <a:ln>
            <a:noFill/>
          </a:ln>
        </p:spPr>
      </p:pic>
      <p:sp>
        <p:nvSpPr>
          <p:cNvPr id="5" name="TextBox 4">
            <a:extLst>
              <a:ext uri="{FF2B5EF4-FFF2-40B4-BE49-F238E27FC236}">
                <a16:creationId xmlns:a16="http://schemas.microsoft.com/office/drawing/2014/main" id="{D5681FD7-97A7-BB80-B15B-5CA588773C2B}"/>
              </a:ext>
            </a:extLst>
          </p:cNvPr>
          <p:cNvSpPr txBox="1"/>
          <p:nvPr/>
        </p:nvSpPr>
        <p:spPr>
          <a:xfrm>
            <a:off x="2393297" y="5358242"/>
            <a:ext cx="1891608" cy="369332"/>
          </a:xfrm>
          <a:prstGeom prst="rect">
            <a:avLst/>
          </a:prstGeom>
          <a:noFill/>
        </p:spPr>
        <p:txBody>
          <a:bodyPr wrap="none" rtlCol="0">
            <a:spAutoFit/>
          </a:bodyPr>
          <a:lstStyle/>
          <a:p>
            <a:r>
              <a:rPr lang="en-US" dirty="0"/>
              <a:t>Fig1: PDF Upload</a:t>
            </a:r>
            <a:endParaRPr lang="en-IN" dirty="0"/>
          </a:p>
        </p:txBody>
      </p:sp>
      <p:sp>
        <p:nvSpPr>
          <p:cNvPr id="18" name="TextBox 17">
            <a:extLst>
              <a:ext uri="{FF2B5EF4-FFF2-40B4-BE49-F238E27FC236}">
                <a16:creationId xmlns:a16="http://schemas.microsoft.com/office/drawing/2014/main" id="{DE317865-FCEF-0FE7-926D-AA9AB9E960AC}"/>
              </a:ext>
            </a:extLst>
          </p:cNvPr>
          <p:cNvSpPr txBox="1"/>
          <p:nvPr/>
        </p:nvSpPr>
        <p:spPr>
          <a:xfrm>
            <a:off x="7805791" y="5358242"/>
            <a:ext cx="6097712" cy="369332"/>
          </a:xfrm>
          <a:prstGeom prst="rect">
            <a:avLst/>
          </a:prstGeom>
          <a:noFill/>
        </p:spPr>
        <p:txBody>
          <a:bodyPr wrap="square">
            <a:spAutoFit/>
          </a:bodyPr>
          <a:lstStyle/>
          <a:p>
            <a:r>
              <a:rPr lang="en-US" dirty="0"/>
              <a:t>Fig2: AI Legal  Analysis</a:t>
            </a:r>
          </a:p>
        </p:txBody>
      </p:sp>
    </p:spTree>
    <p:extLst>
      <p:ext uri="{BB962C8B-B14F-4D97-AF65-F5344CB8AC3E}">
        <p14:creationId xmlns:p14="http://schemas.microsoft.com/office/powerpoint/2010/main" val="173331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6">
          <a:extLst>
            <a:ext uri="{FF2B5EF4-FFF2-40B4-BE49-F238E27FC236}">
              <a16:creationId xmlns:a16="http://schemas.microsoft.com/office/drawing/2014/main" id="{11E3E7A5-D712-6922-0A8C-3AF77A95996A}"/>
            </a:ext>
          </a:extLst>
        </p:cNvPr>
        <p:cNvGrpSpPr/>
        <p:nvPr/>
      </p:nvGrpSpPr>
      <p:grpSpPr>
        <a:xfrm>
          <a:off x="0" y="0"/>
          <a:ext cx="0" cy="0"/>
          <a:chOff x="0" y="0"/>
          <a:chExt cx="0" cy="0"/>
        </a:xfrm>
      </p:grpSpPr>
      <p:sp>
        <p:nvSpPr>
          <p:cNvPr id="97" name="Google Shape;97;p2">
            <a:extLst>
              <a:ext uri="{FF2B5EF4-FFF2-40B4-BE49-F238E27FC236}">
                <a16:creationId xmlns:a16="http://schemas.microsoft.com/office/drawing/2014/main" id="{A8353A42-2A45-2AA6-E03A-2AECD8B1FDA5}"/>
              </a:ext>
            </a:extLst>
          </p:cNvPr>
          <p:cNvSpPr txBox="1">
            <a:spLocks noGrp="1"/>
          </p:cNvSpPr>
          <p:nvPr>
            <p:ph type="title"/>
          </p:nvPr>
        </p:nvSpPr>
        <p:spPr>
          <a:xfrm>
            <a:off x="243887" y="-56356"/>
            <a:ext cx="10515600" cy="1325563"/>
          </a:xfrm>
          <a:prstGeom prst="rect">
            <a:avLst/>
          </a:prstGeom>
          <a:noFill/>
          <a:ln>
            <a:noFill/>
          </a:ln>
        </p:spPr>
        <p:txBody>
          <a:bodyPr spcFirstLastPara="1" wrap="square" lIns="91425" tIns="45700" rIns="91425" bIns="45700" anchor="ctr" anchorCtr="0">
            <a:normAutofit/>
          </a:bodyPr>
          <a:lstStyle/>
          <a:p>
            <a:r>
              <a:rPr lang="en-IN" b="1" dirty="0">
                <a:latin typeface="Times New Roman"/>
                <a:cs typeface="Times New Roman"/>
              </a:rPr>
              <a:t>Screenshots:</a:t>
            </a:r>
          </a:p>
        </p:txBody>
      </p:sp>
      <p:pic>
        <p:nvPicPr>
          <p:cNvPr id="14" name="Content Placeholder 13">
            <a:extLst>
              <a:ext uri="{FF2B5EF4-FFF2-40B4-BE49-F238E27FC236}">
                <a16:creationId xmlns:a16="http://schemas.microsoft.com/office/drawing/2014/main" id="{E741AE2B-B56A-D565-EDC7-BD20E66C38B0}"/>
              </a:ext>
            </a:extLst>
          </p:cNvPr>
          <p:cNvPicPr>
            <a:picLocks noGrp="1" noChangeAspect="1"/>
          </p:cNvPicPr>
          <p:nvPr>
            <p:ph sz="half" idx="2"/>
          </p:nvPr>
        </p:nvPicPr>
        <p:blipFill>
          <a:blip r:embed="rId3" cstate="print">
            <a:extLst>
              <a:ext uri="{28A0092B-C50C-407E-A947-70E740481C1C}">
                <a14:useLocalDpi xmlns:a14="http://schemas.microsoft.com/office/drawing/2010/main" val="0"/>
              </a:ext>
            </a:extLst>
          </a:blip>
          <a:srcRect/>
          <a:stretch/>
        </p:blipFill>
        <p:spPr>
          <a:xfrm>
            <a:off x="582934" y="2262229"/>
            <a:ext cx="5157787" cy="2749745"/>
          </a:xfrm>
        </p:spPr>
      </p:pic>
      <p:pic>
        <p:nvPicPr>
          <p:cNvPr id="16" name="Content Placeholder 15">
            <a:extLst>
              <a:ext uri="{FF2B5EF4-FFF2-40B4-BE49-F238E27FC236}">
                <a16:creationId xmlns:a16="http://schemas.microsoft.com/office/drawing/2014/main" id="{F6A896B4-065A-EF07-3D10-7BB9D1079721}"/>
              </a:ext>
            </a:extLst>
          </p:cNvPr>
          <p:cNvPicPr>
            <a:picLocks noGrp="1" noChangeAspect="1"/>
          </p:cNvPicPr>
          <p:nvPr>
            <p:ph sz="quarter" idx="4"/>
          </p:nvPr>
        </p:nvPicPr>
        <p:blipFill>
          <a:blip r:embed="rId4" cstate="print">
            <a:extLst>
              <a:ext uri="{28A0092B-C50C-407E-A947-70E740481C1C}">
                <a14:useLocalDpi xmlns:a14="http://schemas.microsoft.com/office/drawing/2010/main" val="0"/>
              </a:ext>
            </a:extLst>
          </a:blip>
          <a:srcRect/>
          <a:stretch/>
        </p:blipFill>
        <p:spPr>
          <a:xfrm>
            <a:off x="6451281" y="2295951"/>
            <a:ext cx="5183188" cy="2682299"/>
          </a:xfrm>
        </p:spPr>
      </p:pic>
      <p:cxnSp>
        <p:nvCxnSpPr>
          <p:cNvPr id="102" name="Google Shape;102;p2">
            <a:extLst>
              <a:ext uri="{FF2B5EF4-FFF2-40B4-BE49-F238E27FC236}">
                <a16:creationId xmlns:a16="http://schemas.microsoft.com/office/drawing/2014/main" id="{218553AF-072F-04DF-7A31-4B4673C561D8}"/>
              </a:ext>
            </a:extLst>
          </p:cNvPr>
          <p:cNvCxnSpPr/>
          <p:nvPr/>
        </p:nvCxnSpPr>
        <p:spPr>
          <a:xfrm>
            <a:off x="85725" y="884238"/>
            <a:ext cx="11993563" cy="20637"/>
          </a:xfrm>
          <a:prstGeom prst="straightConnector1">
            <a:avLst/>
          </a:prstGeom>
          <a:noFill/>
          <a:ln w="9525" cap="flat" cmpd="sng">
            <a:solidFill>
              <a:srgbClr val="E4948A"/>
            </a:solidFill>
            <a:prstDash val="solid"/>
            <a:miter lim="800000"/>
            <a:headEnd type="none" w="sm" len="sm"/>
            <a:tailEnd type="none" w="sm" len="sm"/>
          </a:ln>
        </p:spPr>
      </p:cxnSp>
      <p:pic>
        <p:nvPicPr>
          <p:cNvPr id="103" name="Google Shape;103;p2">
            <a:extLst>
              <a:ext uri="{FF2B5EF4-FFF2-40B4-BE49-F238E27FC236}">
                <a16:creationId xmlns:a16="http://schemas.microsoft.com/office/drawing/2014/main" id="{5F4F518B-A6A8-2BCB-86A6-842C41148BE5}"/>
              </a:ext>
            </a:extLst>
          </p:cNvPr>
          <p:cNvPicPr preferRelativeResize="0"/>
          <p:nvPr/>
        </p:nvPicPr>
        <p:blipFill rotWithShape="1">
          <a:blip r:embed="rId5">
            <a:alphaModFix/>
          </a:blip>
          <a:srcRect/>
          <a:stretch/>
        </p:blipFill>
        <p:spPr>
          <a:xfrm>
            <a:off x="8620171" y="136410"/>
            <a:ext cx="3557321" cy="678351"/>
          </a:xfrm>
          <a:prstGeom prst="rect">
            <a:avLst/>
          </a:prstGeom>
          <a:noFill/>
          <a:ln>
            <a:noFill/>
          </a:ln>
        </p:spPr>
      </p:pic>
      <p:sp>
        <p:nvSpPr>
          <p:cNvPr id="5" name="TextBox 4">
            <a:extLst>
              <a:ext uri="{FF2B5EF4-FFF2-40B4-BE49-F238E27FC236}">
                <a16:creationId xmlns:a16="http://schemas.microsoft.com/office/drawing/2014/main" id="{54C7CCA8-6F06-2E85-67D9-8C85CA249953}"/>
              </a:ext>
            </a:extLst>
          </p:cNvPr>
          <p:cNvSpPr txBox="1"/>
          <p:nvPr/>
        </p:nvSpPr>
        <p:spPr>
          <a:xfrm>
            <a:off x="1717265" y="5358242"/>
            <a:ext cx="2889124" cy="369332"/>
          </a:xfrm>
          <a:prstGeom prst="rect">
            <a:avLst/>
          </a:prstGeom>
          <a:noFill/>
        </p:spPr>
        <p:txBody>
          <a:bodyPr wrap="none" rtlCol="0">
            <a:spAutoFit/>
          </a:bodyPr>
          <a:lstStyle/>
          <a:p>
            <a:r>
              <a:rPr lang="en-US" dirty="0"/>
              <a:t>Fig3: IPC Section Detection</a:t>
            </a:r>
            <a:endParaRPr lang="en-IN" dirty="0"/>
          </a:p>
        </p:txBody>
      </p:sp>
      <p:sp>
        <p:nvSpPr>
          <p:cNvPr id="18" name="TextBox 17">
            <a:extLst>
              <a:ext uri="{FF2B5EF4-FFF2-40B4-BE49-F238E27FC236}">
                <a16:creationId xmlns:a16="http://schemas.microsoft.com/office/drawing/2014/main" id="{CAD0B9A6-C58B-5B84-F4AC-398C34E6B27D}"/>
              </a:ext>
            </a:extLst>
          </p:cNvPr>
          <p:cNvSpPr txBox="1"/>
          <p:nvPr/>
        </p:nvSpPr>
        <p:spPr>
          <a:xfrm>
            <a:off x="7585613" y="5358242"/>
            <a:ext cx="6097712" cy="369332"/>
          </a:xfrm>
          <a:prstGeom prst="rect">
            <a:avLst/>
          </a:prstGeom>
          <a:noFill/>
        </p:spPr>
        <p:txBody>
          <a:bodyPr wrap="square">
            <a:spAutoFit/>
          </a:bodyPr>
          <a:lstStyle/>
          <a:p>
            <a:r>
              <a:rPr lang="en-US" dirty="0"/>
              <a:t>Fig4: Multilingual Translation</a:t>
            </a:r>
          </a:p>
        </p:txBody>
      </p:sp>
    </p:spTree>
    <p:extLst>
      <p:ext uri="{BB962C8B-B14F-4D97-AF65-F5344CB8AC3E}">
        <p14:creationId xmlns:p14="http://schemas.microsoft.com/office/powerpoint/2010/main" val="28287540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F9CBF26-CDCE-48E1-C949-83329169BDFD}"/>
              </a:ext>
            </a:extLst>
          </p:cNvPr>
          <p:cNvSpPr txBox="1"/>
          <p:nvPr/>
        </p:nvSpPr>
        <p:spPr>
          <a:xfrm>
            <a:off x="-2239" y="2646161"/>
            <a:ext cx="12175522"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9000" b="1">
                <a:latin typeface="Times New Roman"/>
                <a:cs typeface="Times New Roman"/>
              </a:rPr>
              <a:t>Thank You!</a:t>
            </a:r>
          </a:p>
        </p:txBody>
      </p:sp>
      <p:sp>
        <p:nvSpPr>
          <p:cNvPr id="7" name="Slide Number Placeholder 6">
            <a:extLst>
              <a:ext uri="{FF2B5EF4-FFF2-40B4-BE49-F238E27FC236}">
                <a16:creationId xmlns:a16="http://schemas.microsoft.com/office/drawing/2014/main" id="{7A983CD6-84D8-90C4-98DC-395537891335}"/>
              </a:ext>
            </a:extLst>
          </p:cNvPr>
          <p:cNvSpPr>
            <a:spLocks noGrp="1"/>
          </p:cNvSpPr>
          <p:nvPr>
            <p:ph type="sldNum" sz="quarter" idx="12"/>
          </p:nvPr>
        </p:nvSpPr>
        <p:spPr/>
        <p:txBody>
          <a:bodyPr/>
          <a:lstStyle/>
          <a:p>
            <a:fld id="{330EA680-D336-4FF7-8B7A-9848BB0A1C32}" type="slidenum">
              <a:rPr lang="en-GB" smtClean="0"/>
              <a:t>10</a:t>
            </a:fld>
            <a:endParaRPr lang="en-US"/>
          </a:p>
        </p:txBody>
      </p:sp>
      <p:sp>
        <p:nvSpPr>
          <p:cNvPr id="6" name="Footer Placeholder 5">
            <a:extLst>
              <a:ext uri="{FF2B5EF4-FFF2-40B4-BE49-F238E27FC236}">
                <a16:creationId xmlns:a16="http://schemas.microsoft.com/office/drawing/2014/main" id="{235DE159-5BA3-9DEF-97A7-F5F0E0DE9BBE}"/>
              </a:ext>
            </a:extLst>
          </p:cNvPr>
          <p:cNvSpPr>
            <a:spLocks noGrp="1"/>
          </p:cNvSpPr>
          <p:nvPr>
            <p:ph type="ftr" sz="quarter" idx="11"/>
          </p:nvPr>
        </p:nvSpPr>
        <p:spPr/>
        <p:txBody>
          <a:bodyPr/>
          <a:lstStyle/>
          <a:p>
            <a:r>
              <a:rPr lang="en-US"/>
              <a:t>School of Computer Science and Engineering</a:t>
            </a:r>
          </a:p>
        </p:txBody>
      </p:sp>
      <p:cxnSp>
        <p:nvCxnSpPr>
          <p:cNvPr id="3" name="Google Shape;102;p2">
            <a:extLst>
              <a:ext uri="{FF2B5EF4-FFF2-40B4-BE49-F238E27FC236}">
                <a16:creationId xmlns:a16="http://schemas.microsoft.com/office/drawing/2014/main" id="{C7CBAE20-D08D-72E0-C0C5-92DA85FDF94B}"/>
              </a:ext>
            </a:extLst>
          </p:cNvPr>
          <p:cNvCxnSpPr/>
          <p:nvPr/>
        </p:nvCxnSpPr>
        <p:spPr>
          <a:xfrm>
            <a:off x="-8059" y="872515"/>
            <a:ext cx="12181131" cy="32360"/>
          </a:xfrm>
          <a:prstGeom prst="straightConnector1">
            <a:avLst/>
          </a:prstGeom>
          <a:noFill/>
          <a:ln w="9525" cap="flat" cmpd="sng">
            <a:solidFill>
              <a:srgbClr val="E4948A"/>
            </a:solidFill>
            <a:prstDash val="solid"/>
            <a:miter lim="800000"/>
            <a:headEnd type="none" w="sm" len="sm"/>
            <a:tailEnd type="none" w="sm" len="sm"/>
          </a:ln>
        </p:spPr>
      </p:cxnSp>
      <p:pic>
        <p:nvPicPr>
          <p:cNvPr id="10" name="Google Shape;103;p2">
            <a:extLst>
              <a:ext uri="{FF2B5EF4-FFF2-40B4-BE49-F238E27FC236}">
                <a16:creationId xmlns:a16="http://schemas.microsoft.com/office/drawing/2014/main" id="{BE31FC25-EA32-948E-BA42-B9EDF8B0CD9B}"/>
              </a:ext>
            </a:extLst>
          </p:cNvPr>
          <p:cNvPicPr preferRelativeResize="0"/>
          <p:nvPr/>
        </p:nvPicPr>
        <p:blipFill rotWithShape="1">
          <a:blip r:embed="rId2">
            <a:alphaModFix/>
          </a:blip>
          <a:srcRect/>
          <a:stretch/>
        </p:blipFill>
        <p:spPr>
          <a:xfrm>
            <a:off x="8620171" y="136410"/>
            <a:ext cx="3557321" cy="678351"/>
          </a:xfrm>
          <a:prstGeom prst="rect">
            <a:avLst/>
          </a:prstGeom>
          <a:noFill/>
          <a:ln>
            <a:noFill/>
          </a:ln>
        </p:spPr>
      </p:pic>
    </p:spTree>
    <p:extLst>
      <p:ext uri="{BB962C8B-B14F-4D97-AF65-F5344CB8AC3E}">
        <p14:creationId xmlns:p14="http://schemas.microsoft.com/office/powerpoint/2010/main" val="24555766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22</TotalTime>
  <Words>632</Words>
  <Application>Microsoft Office PowerPoint</Application>
  <PresentationFormat>Widescreen</PresentationFormat>
  <Paragraphs>63</Paragraphs>
  <Slides>10</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Aptos Display</vt:lpstr>
      <vt:lpstr>Arial</vt:lpstr>
      <vt:lpstr>Calibri</vt:lpstr>
      <vt:lpstr>Times New Roman</vt:lpstr>
      <vt:lpstr>office theme</vt:lpstr>
      <vt:lpstr>PowerPoint Presentation</vt:lpstr>
      <vt:lpstr>Problem Statement :</vt:lpstr>
      <vt:lpstr>Architecture:</vt:lpstr>
      <vt:lpstr>Technologies Used:</vt:lpstr>
      <vt:lpstr>Workflow:</vt:lpstr>
      <vt:lpstr>Implementation:</vt:lpstr>
      <vt:lpstr>Implementation:</vt:lpstr>
      <vt:lpstr>Screenshots:</vt:lpstr>
      <vt:lpstr>Screenshots: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Krishna Nadgir</dc:creator>
  <cp:lastModifiedBy>Sahana B S</cp:lastModifiedBy>
  <cp:revision>19</cp:revision>
  <dcterms:created xsi:type="dcterms:W3CDTF">2026-01-16T14:48:55Z</dcterms:created>
  <dcterms:modified xsi:type="dcterms:W3CDTF">2026-05-30T22:10:09Z</dcterms:modified>
</cp:coreProperties>
</file>