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1" r:id="rId8"/>
    <p:sldId id="263" r:id="rId9"/>
    <p:sldId id="262" r:id="rId10"/>
    <p:sldId id="264" r:id="rId11"/>
    <p:sldId id="265" r:id="rId12"/>
    <p:sldId id="266" r:id="rId13"/>
    <p:sldId id="269" r:id="rId14"/>
    <p:sldId id="267" r:id="rId15"/>
    <p:sldId id="270" r:id="rId16"/>
    <p:sldId id="272" r:id="rId17"/>
    <p:sldId id="268" r:id="rId18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9A4F911-9580-4BC9-865E-C3AFB14826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58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7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ee2848945_0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g3dee2848945_0_1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4" name="Google Shape;144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ec31d0b7a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g3dec31d0b7a_0_2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ec31d0b7a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" name="Google Shape;152;g3dec31d0b7a_0_16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ec31d0b7a_0_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0" name="Google Shape;160;g3dec31d0b7a_0_22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9" name="Google Shape;169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ec31d0b7a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g3dec31d0b7a_0_2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ec31d0b7a_0_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g3dec31d0b7a_0_29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ee2848945_0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g3dee2848945_0_1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7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1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7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7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GIF"/><Relationship Id="rId1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GIF"/><Relationship Id="rId1" Type="http://schemas.openxmlformats.org/officeDocument/2006/relationships/image" Target="../media/image6.GIF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GIF"/><Relationship Id="rId1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GIF"/><Relationship Id="rId1" Type="http://schemas.openxmlformats.org/officeDocument/2006/relationships/image" Target="../media/image8.GIF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image" Target="../media/image8.GIF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GIF"/><Relationship Id="rId1" Type="http://schemas.openxmlformats.org/officeDocument/2006/relationships/image" Target="../media/image4.GIF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GIF"/><Relationship Id="rId1" Type="http://schemas.openxmlformats.org/officeDocument/2006/relationships/image" Target="../media/image3.GIF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image" Target="../media/image11.GIF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GIF"/><Relationship Id="rId2" Type="http://schemas.openxmlformats.org/officeDocument/2006/relationships/image" Target="../media/image6.GIF"/><Relationship Id="rId1" Type="http://schemas.openxmlformats.org/officeDocument/2006/relationships/image" Target="../media/image12.GIF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GIF"/><Relationship Id="rId1" Type="http://schemas.openxmlformats.org/officeDocument/2006/relationships/image" Target="../media/image4.GIF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GIF"/><Relationship Id="rId1" Type="http://schemas.openxmlformats.org/officeDocument/2006/relationships/image" Target="../media/image6.GIF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GIF"/><Relationship Id="rId1" Type="http://schemas.openxmlformats.org/officeDocument/2006/relationships/image" Target="../media/image8.GIF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GIF"/><Relationship Id="rId1" Type="http://schemas.openxmlformats.org/officeDocument/2006/relationships/image" Target="../media/image6.GIF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GIF"/><Relationship Id="rId3" Type="http://schemas.openxmlformats.org/officeDocument/2006/relationships/image" Target="../media/image7.GIF"/><Relationship Id="rId2" Type="http://schemas.openxmlformats.org/officeDocument/2006/relationships/image" Target="../media/image1.GIF"/><Relationship Id="rId1" Type="http://schemas.openxmlformats.org/officeDocument/2006/relationships/image" Target="../media/image1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1">
            <a:alphaModFix amt="25000"/>
          </a:blip>
          <a:srcRect/>
          <a:stretch>
            <a:fillRect/>
          </a:stretch>
        </p:blipFill>
        <p:spPr>
          <a:xfrm rot="10800000">
            <a:off x="6333453" y="-1797179"/>
            <a:ext cx="15735218" cy="1388135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76350" y="1393975"/>
            <a:ext cx="15735300" cy="203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6000" b="1">
                <a:latin typeface="Arial Bold" panose="020B0704020202020204" charset="0"/>
                <a:cs typeface="Arial Bold" panose="020B0704020202020204" charset="0"/>
              </a:rPr>
              <a:t> Cold Chain Breach Alert and Insurance Claim Assistant</a:t>
            </a:r>
            <a:endParaRPr lang="en-US" altLang="en-US" sz="6000" b="1">
              <a:latin typeface="Arial Bold" panose="020B0704020202020204" charset="0"/>
              <a:cs typeface="Arial Bold" panose="020B0704020202020204" charset="0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2">
            <a:alphaModFix amt="50000"/>
          </a:blip>
          <a:srcRect/>
          <a:stretch>
            <a:fillRect/>
          </a:stretch>
        </p:blipFill>
        <p:spPr>
          <a:xfrm>
            <a:off x="-2318726" y="-376453"/>
            <a:ext cx="9743013" cy="1709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 rotWithShape="1">
          <a:blip r:embed="rId3">
            <a:alphaModFix amt="25000"/>
          </a:blip>
          <a:srcRect/>
          <a:stretch>
            <a:fillRect/>
          </a:stretch>
        </p:blipFill>
        <p:spPr>
          <a:xfrm rot="-7199120">
            <a:off x="-2896988" y="-1002021"/>
            <a:ext cx="5793977" cy="58954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" name="Google Shape;88;p13"/>
          <p:cNvGraphicFramePr/>
          <p:nvPr/>
        </p:nvGraphicFramePr>
        <p:xfrm>
          <a:off x="1545150" y="5729200"/>
          <a:ext cx="15070700" cy="3953250"/>
        </p:xfrm>
        <a:graphic>
          <a:graphicData uri="http://schemas.openxmlformats.org/drawingml/2006/table">
            <a:tbl>
              <a:tblPr>
                <a:noFill/>
                <a:tableStyleId>{89A4F911-9580-4BC9-865E-C3AFB14826BE}</a:tableStyleId>
              </a:tblPr>
              <a:tblGrid>
                <a:gridCol w="7535350"/>
                <a:gridCol w="7535350"/>
              </a:tblGrid>
              <a:tr h="809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/>
                        <a:t>Name</a:t>
                      </a:r>
                      <a:endParaRPr sz="3000" b="1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/>
                        <a:t>USN</a:t>
                      </a:r>
                      <a:endParaRPr sz="3000" b="1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09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Afrah Mohammad</a:t>
                      </a:r>
                      <a:endParaRPr sz="30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01FE23BCS200</a:t>
                      </a:r>
                      <a:endParaRPr sz="30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78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Manasi</a:t>
                      </a:r>
                      <a:endParaRPr lang="en-US" sz="30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01FE24BCS403</a:t>
                      </a:r>
                      <a:endParaRPr lang="en-US" sz="30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78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Ummeed</a:t>
                      </a:r>
                      <a:endParaRPr lang="en-US" sz="30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01FE24BCS407</a:t>
                      </a:r>
                      <a:endParaRPr lang="en-US" sz="30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78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Pratibha</a:t>
                      </a:r>
                      <a:endParaRPr lang="en-US" sz="30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01FE24BCS413</a:t>
                      </a:r>
                      <a:endParaRPr lang="en-US" sz="30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9" name="Google Shape;89;p13"/>
          <p:cNvSpPr txBox="1"/>
          <p:nvPr/>
        </p:nvSpPr>
        <p:spPr>
          <a:xfrm>
            <a:off x="5741035" y="3590925"/>
            <a:ext cx="680593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Guide: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Dr. Guru Prasad</a:t>
            </a:r>
            <a:endParaRPr lang="en-US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details:</a:t>
            </a:r>
            <a:endParaRPr lang="en-US"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 rotWithShape="1">
          <a:blip r:embed="rId1">
            <a:alphaModFix amt="25000"/>
          </a:blip>
          <a:srcRect/>
          <a:stretch>
            <a:fillRect/>
          </a:stretch>
        </p:blipFill>
        <p:spPr>
          <a:xfrm rot="3203220">
            <a:off x="10055853" y="-265970"/>
            <a:ext cx="11814494" cy="12461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 rotWithShape="1">
          <a:blip r:embed="rId2">
            <a:alphaModFix amt="25000"/>
          </a:blip>
          <a:srcRect/>
          <a:stretch>
            <a:fillRect/>
          </a:stretch>
        </p:blipFill>
        <p:spPr>
          <a:xfrm rot="-5741405">
            <a:off x="8316155" y="8504485"/>
            <a:ext cx="4865516" cy="616878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96150" y="229375"/>
            <a:ext cx="1277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2B2B2B"/>
                </a:solidFill>
              </a:rPr>
              <a:t>Introduction</a:t>
            </a:r>
            <a:endParaRPr lang="en-US" sz="7000">
              <a:solidFill>
                <a:srgbClr val="2B2B2B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96325" y="2088450"/>
            <a:ext cx="17610600" cy="69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n-US" alt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Cold chain logistics is essential for transporting temperature-sensitive pharmaceutical products, vaccines, and perishable food items while maintaining the required temperature range.</a:t>
            </a:r>
            <a:endParaRPr lang="en-US" altLang="en-US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lang="en-US" altLang="en-US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n-US" alt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temperature excursion during storage or transit can compromise product quality, cause regulatory non-compliance, and result in significant financial losses.</a:t>
            </a:r>
            <a:endParaRPr lang="en-US" altLang="en-US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lang="en-US" altLang="en-US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n-US" alt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proposed AI-powered Cold Chain Breach Alert and Insurance Claim Assistant automatically analyzes sensor data, detects temperature breaches, classifies their severity, and generates compliance reports and insurance claim documents with supporting evidence.</a:t>
            </a:r>
            <a:endParaRPr lang="en-US" altLang="en-US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243440" y="283150"/>
            <a:ext cx="142065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2B2B2B"/>
                </a:solidFill>
              </a:rPr>
              <a:t>Motivation</a:t>
            </a:r>
            <a:endParaRPr lang="en-US" sz="7000">
              <a:solidFill>
                <a:srgbClr val="2B2B2B"/>
              </a:solidFill>
            </a:endParaRPr>
          </a:p>
        </p:txBody>
      </p:sp>
      <p:pic>
        <p:nvPicPr>
          <p:cNvPr id="103" name="Google Shape;103;p15"/>
          <p:cNvPicPr preferRelativeResize="0"/>
          <p:nvPr/>
        </p:nvPicPr>
        <p:blipFill rotWithShape="1"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6" cy="1052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3864791" y="-387464"/>
            <a:ext cx="5865675" cy="523105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409225" y="2017900"/>
            <a:ext cx="17469600" cy="7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n-US" alt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monitoring and documentation of cold chain breaches are time-consuming, error-prone, and often delay corrective actions.</a:t>
            </a:r>
            <a:endParaRPr lang="en-US" altLang="en-US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lang="en-US" altLang="en-US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n-US" alt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Temperature excursions can lead to spoilage of pharmaceutical and food products, resulting in financial losses and safety risks.</a:t>
            </a:r>
            <a:endParaRPr lang="en-US" altLang="en-US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lang="en-US" altLang="en-US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n-US" alt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a need for an intelligent system that can automatically detect breaches, ensure regulatory compliance, and simplify insurance claim processing through automated report generation.</a:t>
            </a:r>
            <a:endParaRPr lang="en-US" altLang="en-US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/>
        </p:nvSpPr>
        <p:spPr>
          <a:xfrm>
            <a:off x="225676" y="226850"/>
            <a:ext cx="9398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18" name="Google Shape;118;p17"/>
          <p:cNvPicPr preferRelativeResize="0"/>
          <p:nvPr/>
        </p:nvPicPr>
        <p:blipFill rotWithShape="1">
          <a:blip r:embed="rId1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 rotWithShape="1">
          <a:blip r:embed="rId2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/>
        </p:nvSpPr>
        <p:spPr>
          <a:xfrm>
            <a:off x="243440" y="283150"/>
            <a:ext cx="142065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2B2B2B"/>
                </a:solidFill>
              </a:rPr>
              <a:t>Problem</a:t>
            </a:r>
            <a:r>
              <a:rPr lang="en-US" sz="7000">
                <a:solidFill>
                  <a:srgbClr val="2B2B2B"/>
                </a:solidFill>
              </a:rPr>
              <a:t> Statement</a:t>
            </a:r>
            <a:endParaRPr lang="en-US" sz="7000">
              <a:solidFill>
                <a:srgbClr val="2B2B2B"/>
              </a:solidFill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409200" y="5255480"/>
            <a:ext cx="17469600" cy="3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ingest and process cold chain temperature sensor logs from CSV/JSON files.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automatically detect temperature excursions and identify cold chain breaches.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classify breaches based on their duration and severity levels.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generate FDA/WHO-compliant cold chain deviation reports.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insurance claim documents with supporting evidence automatically.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improve monitoring efficiency, regulatory compliance, and claim processing in cold chain logistics.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243440" y="3927130"/>
            <a:ext cx="142065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2B2B2B"/>
                </a:solidFill>
              </a:rPr>
              <a:t>Objectives</a:t>
            </a:r>
            <a:endParaRPr lang="en-US" sz="7000">
              <a:solidFill>
                <a:srgbClr val="2B2B2B"/>
              </a:solidFill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225675" y="1462947"/>
            <a:ext cx="17469600" cy="30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704020202020204"/>
              <a:buNone/>
            </a:pPr>
            <a:r>
              <a:rPr lang="en-US" alt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Cold Chain Breach Alert and Insurance Claim Assistant</a:t>
            </a:r>
            <a:endParaRPr lang="en-US" altLang="en-US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/>
        </p:nvSpPr>
        <p:spPr>
          <a:xfrm>
            <a:off x="276215" y="346274"/>
            <a:ext cx="12184800" cy="129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2B2B2B"/>
                </a:solidFill>
              </a:rPr>
              <a:t>Proposed Solution</a:t>
            </a:r>
            <a:endParaRPr lang="en-US" sz="7000">
              <a:solidFill>
                <a:srgbClr val="2B2B2B"/>
              </a:solidFill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1">
            <a:alphaModFix amt="25000"/>
          </a:blip>
          <a:srcRect/>
          <a:stretch>
            <a:fillRect/>
          </a:stretch>
        </p:blipFill>
        <p:spPr>
          <a:xfrm rot="-3982960">
            <a:off x="13745551" y="-3705176"/>
            <a:ext cx="5352514" cy="741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/>
          <p:cNvPicPr preferRelativeResize="0"/>
          <p:nvPr/>
        </p:nvPicPr>
        <p:blipFill rotWithShape="1">
          <a:blip r:embed="rId2">
            <a:alphaModFix amt="25000"/>
          </a:blip>
          <a:srcRect/>
          <a:stretch>
            <a:fillRect/>
          </a:stretch>
        </p:blipFill>
        <p:spPr>
          <a:xfrm rot="-1644077">
            <a:off x="16162301" y="-1063836"/>
            <a:ext cx="5468057" cy="610803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409575" y="1814830"/>
            <a:ext cx="17469485" cy="595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an AI-powered platform that automatically monitors cold chain temperature data and identifies temperature excursions.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 and classify breaches based on duration and severity, enabling quick response to potential risks.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FDA/WHO-compliant breach reports and insurance claim documents with supporting evidence automatically.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an interactive dashboard for real-time monitoring, visualization, and report management.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manual effort, improve compliance, and accelerate insurance claim processing.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/>
        </p:nvSpPr>
        <p:spPr>
          <a:xfrm>
            <a:off x="276215" y="346274"/>
            <a:ext cx="1218465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2B2B2B"/>
                </a:solidFill>
              </a:rPr>
              <a:t>System Architecture</a:t>
            </a:r>
            <a:endParaRPr lang="en-US" sz="7000">
              <a:solidFill>
                <a:srgbClr val="2B2B2B"/>
              </a:solidFill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 rotWithShape="1">
          <a:blip r:embed="rId1">
            <a:alphaModFix amt="25000"/>
          </a:blip>
          <a:srcRect/>
          <a:stretch>
            <a:fillRect/>
          </a:stretch>
        </p:blipFill>
        <p:spPr>
          <a:xfrm rot="-3982960">
            <a:off x="13745551" y="-3705176"/>
            <a:ext cx="5352514" cy="741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 rotWithShape="1">
          <a:blip r:embed="rId2">
            <a:alphaModFix amt="25000"/>
          </a:blip>
          <a:srcRect/>
          <a:stretch>
            <a:fillRect/>
          </a:stretch>
        </p:blipFill>
        <p:spPr>
          <a:xfrm rot="-1644077">
            <a:off x="16162301" y="-1063836"/>
            <a:ext cx="5468057" cy="6108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Gemini_Generated_Image_jnv7t8jnv7t8jnv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900" y="1868805"/>
            <a:ext cx="14554200" cy="79387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9"/>
          <p:cNvPicPr preferRelativeResize="0"/>
          <p:nvPr/>
        </p:nvPicPr>
        <p:blipFill rotWithShape="1">
          <a:blip r:embed="rId1">
            <a:alphaModFix amt="25000"/>
          </a:blip>
          <a:srcRect/>
          <a:stretch>
            <a:fillRect/>
          </a:stretch>
        </p:blipFill>
        <p:spPr>
          <a:xfrm rot="3203220">
            <a:off x="10055853" y="-265970"/>
            <a:ext cx="11814495" cy="12461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 rotWithShape="1">
          <a:blip r:embed="rId2">
            <a:alphaModFix amt="25000"/>
          </a:blip>
          <a:srcRect/>
          <a:stretch>
            <a:fillRect/>
          </a:stretch>
        </p:blipFill>
        <p:spPr>
          <a:xfrm rot="-5741405">
            <a:off x="8316155" y="8504486"/>
            <a:ext cx="4865516" cy="616877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 txBox="1"/>
          <p:nvPr/>
        </p:nvSpPr>
        <p:spPr>
          <a:xfrm>
            <a:off x="196150" y="229375"/>
            <a:ext cx="1277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2B2B2B"/>
                </a:solidFill>
              </a:rPr>
              <a:t>Proposed Workflow</a:t>
            </a:r>
            <a:endParaRPr lang="en-US" sz="7000">
              <a:solidFill>
                <a:srgbClr val="2B2B2B"/>
              </a:solidFill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296325" y="2088450"/>
            <a:ext cx="10724400" cy="69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296325" y="1552225"/>
            <a:ext cx="8367900" cy="8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5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alt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1: Data Ingestion</a:t>
            </a:r>
            <a:endParaRPr lang="en-US" altLang="en-US"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Upload cold chain temperature sensor logs in CSV format.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 timestamp, shipment details, and temperature readings.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35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35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alt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 Data Preprocessing</a:t>
            </a:r>
            <a:endParaRPr lang="en-US" altLang="en-US"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 and validate the uploaded data.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Handle missing values and ensure data consistency for accurate analysis.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35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35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alt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 Excursion Detection</a:t>
            </a:r>
            <a:endParaRPr lang="en-US" altLang="en-US"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temperature readings against predefined safe temperature limits.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temperature excursions and breach events automatically.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9031100" y="1552225"/>
            <a:ext cx="9003000" cy="8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4: Severity Assessment</a:t>
            </a:r>
            <a:endParaRPr lang="en-US" altLang="en-US"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breach duration and temperature deviation.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Classify each breach as Low, Medium, or High severity.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5: Compliance Report Generation</a:t>
            </a:r>
            <a:endParaRPr lang="en-US" altLang="en-US"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an FDA/WHO-compliant cold chain breach report.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 excursion details, severity analysis, and supporting evidence.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6: Insurance Claim Generation</a:t>
            </a:r>
            <a:endParaRPr lang="en-US" altLang="en-US"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Automatically create an insurance claim document with breach information and evidence annexure.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 reports and claim documents for further review and submission.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/>
        </p:nvSpPr>
        <p:spPr>
          <a:xfrm>
            <a:off x="225676" y="226850"/>
            <a:ext cx="9398100" cy="129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000">
                <a:solidFill>
                  <a:srgbClr val="2B2B2B"/>
                </a:solidFill>
              </a:rPr>
              <a:t>Technologies Used</a:t>
            </a:r>
            <a:endParaRPr lang="en-US" altLang="en-US" sz="7000">
              <a:solidFill>
                <a:srgbClr val="2B2B2B"/>
              </a:solidFill>
            </a:endParaRPr>
          </a:p>
        </p:txBody>
      </p:sp>
      <p:pic>
        <p:nvPicPr>
          <p:cNvPr id="155" name="Google Shape;155;p21"/>
          <p:cNvPicPr preferRelativeResize="0"/>
          <p:nvPr/>
        </p:nvPicPr>
        <p:blipFill rotWithShape="1">
          <a:blip r:embed="rId1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1"/>
          <p:cNvPicPr preferRelativeResize="0"/>
          <p:nvPr/>
        </p:nvPicPr>
        <p:blipFill rotWithShape="1">
          <a:blip r:embed="rId2">
            <a:alphaModFix amt="50000"/>
          </a:blip>
          <a:srcRect/>
          <a:stretch>
            <a:fillRect/>
          </a:stretch>
        </p:blipFill>
        <p:spPr>
          <a:xfrm rot="9720163">
            <a:off x="12600386" y="-3298660"/>
            <a:ext cx="8670040" cy="865472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1"/>
          <p:cNvSpPr txBox="1"/>
          <p:nvPr/>
        </p:nvSpPr>
        <p:spPr>
          <a:xfrm>
            <a:off x="437450" y="1373000"/>
            <a:ext cx="17370900" cy="82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259205" y="1842770"/>
          <a:ext cx="15727680" cy="7510145"/>
        </p:xfrm>
        <a:graphic>
          <a:graphicData uri="http://schemas.openxmlformats.org/drawingml/2006/table">
            <a:tbl>
              <a:tblPr/>
              <a:tblGrid>
                <a:gridCol w="5478780"/>
                <a:gridCol w="10248900"/>
              </a:tblGrid>
              <a:tr h="682625">
                <a:tc>
                  <a:txBody>
                    <a:bodyPr/>
                    <a:p>
                      <a:pPr algn="ctr"/>
                      <a:r>
                        <a:rPr lang="en-US" altLang="zh-CN" sz="3200" b="1" i="0">
                          <a:solidFill>
                            <a:schemeClr val="tx1"/>
                          </a:solidFill>
                          <a:latin typeface="Arial Bold" panose="020B0704020202020204" charset="0"/>
                          <a:cs typeface="Arial Bold" panose="020B0704020202020204" charset="0"/>
                        </a:rPr>
                        <a:t>Technology</a:t>
                      </a:r>
                      <a:endParaRPr lang="en-US" altLang="zh-CN" sz="3200" b="1" i="0">
                        <a:solidFill>
                          <a:schemeClr val="tx1"/>
                        </a:solidFill>
                        <a:latin typeface="Arial Bold" panose="020B0704020202020204" charset="0"/>
                        <a:cs typeface="Arial Bold" panose="020B07040202020202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3200" b="1" i="0">
                          <a:solidFill>
                            <a:schemeClr val="tx1"/>
                          </a:solidFill>
                          <a:latin typeface="Arial Bold" panose="020B0704020202020204" charset="0"/>
                          <a:cs typeface="Arial Bold" panose="020B0704020202020204" charset="0"/>
                        </a:rPr>
                        <a:t>Purpose</a:t>
                      </a:r>
                      <a:endParaRPr lang="en-US" altLang="zh-CN" sz="3200" b="1" i="0">
                        <a:solidFill>
                          <a:schemeClr val="tx1"/>
                        </a:solidFill>
                        <a:latin typeface="Arial Bold" panose="020B0704020202020204" charset="0"/>
                        <a:cs typeface="Arial Bold" panose="020B07040202020202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3200" b="0" i="0">
                          <a:solidFill>
                            <a:schemeClr val="tx1"/>
                          </a:solidFill>
                        </a:rPr>
                        <a:t>Python</a:t>
                      </a:r>
                      <a:endParaRPr lang="en-US" altLang="zh-CN" sz="3200" b="0" i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3200" b="0" i="0">
                          <a:solidFill>
                            <a:schemeClr val="tx1"/>
                          </a:solidFill>
                        </a:rPr>
                        <a:t> Core programming language used for data processing, analysis, and automation.</a:t>
                      </a:r>
                      <a:endParaRPr lang="en-US" altLang="zh-CN" sz="3200" b="0" i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3200" b="0" i="0">
                          <a:solidFill>
                            <a:schemeClr val="tx1"/>
                          </a:solidFill>
                        </a:rPr>
                        <a:t>Pandas</a:t>
                      </a:r>
                      <a:endParaRPr lang="en-US" altLang="zh-CN" sz="3200" b="0" i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3200" b="0" i="0">
                          <a:solidFill>
                            <a:schemeClr val="tx1"/>
                          </a:solidFill>
                        </a:rPr>
                        <a:t> Handles sensor log ingestion, data cleaning, validation, and analysis.</a:t>
                      </a:r>
                      <a:endParaRPr lang="en-US" altLang="zh-CN" sz="3200" b="0" i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3200" b="0" i="0">
                          <a:solidFill>
                            <a:schemeClr val="tx1"/>
                          </a:solidFill>
                        </a:rPr>
                        <a:t>Streamlit</a:t>
                      </a:r>
                      <a:endParaRPr lang="en-US" altLang="zh-CN" sz="3200" b="0" i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3200" b="0" i="0">
                          <a:solidFill>
                            <a:schemeClr val="tx1"/>
                          </a:solidFill>
                        </a:rPr>
                        <a:t> Develops the interactive web dashboard for monitoring and visualization.</a:t>
                      </a:r>
                      <a:endParaRPr lang="en-US" altLang="zh-CN" sz="3200" b="0" i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3200" b="0" i="0">
                          <a:solidFill>
                            <a:schemeClr val="tx1"/>
                          </a:solidFill>
                        </a:rPr>
                        <a:t>Plotly</a:t>
                      </a:r>
                      <a:endParaRPr lang="en-US" altLang="zh-CN" sz="3200" b="0" i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3200" b="0" i="0">
                          <a:solidFill>
                            <a:schemeClr val="tx1"/>
                          </a:solidFill>
                        </a:rPr>
                        <a:t> Creates dynamic graphs and temperature trend visualizations.</a:t>
                      </a:r>
                      <a:endParaRPr lang="en-US" altLang="zh-CN" sz="3200" b="0" i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3200" b="0" i="0">
                          <a:solidFill>
                            <a:schemeClr val="tx1"/>
                          </a:solidFill>
                        </a:rPr>
                        <a:t>Generative AI / LLM</a:t>
                      </a:r>
                      <a:endParaRPr lang="en-US" altLang="zh-CN" sz="3200" b="0" i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3200" b="0" i="0">
                          <a:solidFill>
                            <a:schemeClr val="tx1"/>
                          </a:solidFill>
                        </a:rPr>
                        <a:t> Generates FDA/WHO-compliant breach reports and insurance claim documents.</a:t>
                      </a:r>
                      <a:endParaRPr lang="en-US" altLang="zh-CN" sz="3200" b="0" i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3200" b="0" i="0">
                          <a:solidFill>
                            <a:schemeClr val="tx1"/>
                          </a:solidFill>
                        </a:rPr>
                        <a:t>python-docx</a:t>
                      </a:r>
                      <a:endParaRPr lang="en-US" altLang="zh-CN" sz="3200" b="0" i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3200" b="0" i="0">
                          <a:solidFill>
                            <a:schemeClr val="tx1"/>
                          </a:solidFill>
                        </a:rPr>
                        <a:t> Creates downloadable DOCX reports and claim letters automatically.</a:t>
                      </a:r>
                      <a:endParaRPr lang="en-US" altLang="zh-CN" sz="3200" b="0" i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3200" b="0" i="0">
                          <a:solidFill>
                            <a:schemeClr val="tx1"/>
                          </a:solidFill>
                        </a:rPr>
                        <a:t>CSV Dataset</a:t>
                      </a:r>
                      <a:endParaRPr lang="en-US" altLang="zh-CN" sz="3200" b="0" i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3200" b="0" i="0">
                          <a:solidFill>
                            <a:schemeClr val="tx1"/>
                          </a:solidFill>
                        </a:rPr>
                        <a:t> Stores and provides cold chain temperature sensor readings for analysis.</a:t>
                      </a:r>
                      <a:endParaRPr lang="en-US" altLang="zh-CN" sz="3200" b="0" i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2"/>
          <p:cNvPicPr preferRelativeResize="0"/>
          <p:nvPr/>
        </p:nvPicPr>
        <p:blipFill rotWithShape="1">
          <a:blip r:embed="rId1">
            <a:alphaModFix amt="25000"/>
          </a:blip>
          <a:srcRect/>
          <a:stretch>
            <a:fillRect/>
          </a:stretch>
        </p:blipFill>
        <p:spPr>
          <a:xfrm>
            <a:off x="-2511451" y="1028700"/>
            <a:ext cx="19770751" cy="1826253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2"/>
          <p:cNvSpPr txBox="1"/>
          <p:nvPr/>
        </p:nvSpPr>
        <p:spPr>
          <a:xfrm>
            <a:off x="276215" y="346274"/>
            <a:ext cx="121848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2B2B2B"/>
                </a:solidFill>
              </a:rPr>
              <a:t>Real time applications</a:t>
            </a:r>
            <a:endParaRPr lang="en-US" sz="7000">
              <a:solidFill>
                <a:srgbClr val="2B2B2B"/>
              </a:solidFill>
            </a:endParaRPr>
          </a:p>
        </p:txBody>
      </p:sp>
      <p:pic>
        <p:nvPicPr>
          <p:cNvPr id="164" name="Google Shape;164;p22"/>
          <p:cNvPicPr preferRelativeResize="0"/>
          <p:nvPr/>
        </p:nvPicPr>
        <p:blipFill rotWithShape="1">
          <a:blip r:embed="rId2">
            <a:alphaModFix amt="25000"/>
          </a:blip>
          <a:srcRect/>
          <a:stretch>
            <a:fillRect/>
          </a:stretch>
        </p:blipFill>
        <p:spPr>
          <a:xfrm rot="-3982960">
            <a:off x="13745551" y="-3705176"/>
            <a:ext cx="5352514" cy="741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2"/>
          <p:cNvPicPr preferRelativeResize="0"/>
          <p:nvPr/>
        </p:nvPicPr>
        <p:blipFill rotWithShape="1">
          <a:blip r:embed="rId3">
            <a:alphaModFix amt="25000"/>
          </a:blip>
          <a:srcRect/>
          <a:stretch>
            <a:fillRect/>
          </a:stretch>
        </p:blipFill>
        <p:spPr>
          <a:xfrm rot="-1644077">
            <a:off x="16162301" y="-1063836"/>
            <a:ext cx="5468057" cy="610803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2"/>
          <p:cNvSpPr txBox="1"/>
          <p:nvPr/>
        </p:nvSpPr>
        <p:spPr>
          <a:xfrm>
            <a:off x="409225" y="1735675"/>
            <a:ext cx="17412900" cy="81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00000"/>
              <a:buFont typeface="Arial" panose="020B0704020202020204" pitchFamily="34" charset="0"/>
              <a:buNone/>
            </a:pP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409575" y="1814830"/>
            <a:ext cx="17469485" cy="595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alt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Name: </a:t>
            </a:r>
            <a:endParaRPr lang="en-US" altLang="en-US" sz="3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81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Cold Chain IoT Sensor Dataset (Healthcare IoT Temperature Monitoring Dataset)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81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81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dataset contains time-stamped sensor readings collected from temperature-sensitive healthcare and pharmaceutical products during storage and transportation.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attributes include temperature values, timestamps, device information, and target labels indicating normal conditions or temperature excursion events.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dataset is used to identify cold chain breaches, analyze excursion duration and severity, and validate the performance of the proposed detection system.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simulates real-world cold chain monitoring scenarios, enabling automated breach reporting and insurance claim generation based on detected temperature deviations.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3"/>
          <p:cNvPicPr preferRelativeResize="0"/>
          <p:nvPr/>
        </p:nvPicPr>
        <p:blipFill rotWithShape="1">
          <a:blip r:embed="rId1">
            <a:alphaModFix amt="25000"/>
          </a:blip>
          <a:srcRect/>
          <a:stretch>
            <a:fillRect/>
          </a:stretch>
        </p:blipFill>
        <p:spPr>
          <a:xfrm rot="-6481524">
            <a:off x="-5112611" y="-2789595"/>
            <a:ext cx="14212948" cy="15866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3"/>
          <p:cNvPicPr preferRelativeResize="0"/>
          <p:nvPr/>
        </p:nvPicPr>
        <p:blipFill rotWithShape="1">
          <a:blip r:embed="rId2">
            <a:alphaModFix amt="25000"/>
          </a:blip>
          <a:srcRect/>
          <a:stretch>
            <a:fillRect/>
          </a:stretch>
        </p:blipFill>
        <p:spPr>
          <a:xfrm rot="8540967">
            <a:off x="11045685" y="-4839949"/>
            <a:ext cx="8031035" cy="8016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3"/>
          <p:cNvPicPr preferRelativeResize="0"/>
          <p:nvPr/>
        </p:nvPicPr>
        <p:blipFill rotWithShape="1">
          <a:blip r:embed="rId3">
            <a:alphaModFix amt="25000"/>
          </a:blip>
          <a:srcRect/>
          <a:stretch>
            <a:fillRect/>
          </a:stretch>
        </p:blipFill>
        <p:spPr>
          <a:xfrm rot="-3311130">
            <a:off x="14790428" y="6444896"/>
            <a:ext cx="5413008" cy="562680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3"/>
          <p:cNvSpPr txBox="1"/>
          <p:nvPr/>
        </p:nvSpPr>
        <p:spPr>
          <a:xfrm>
            <a:off x="238475" y="248903"/>
            <a:ext cx="16230600" cy="129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000">
                <a:solidFill>
                  <a:srgbClr val="2B2B2B"/>
                </a:solidFill>
              </a:rPr>
              <a:t>Excursion Detection Module</a:t>
            </a:r>
            <a:endParaRPr lang="en-US" altLang="en-US" sz="7000">
              <a:solidFill>
                <a:srgbClr val="2B2B2B"/>
              </a:solidFill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352775" y="1552225"/>
            <a:ext cx="17582400" cy="475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57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Continuously monitors temperature readings and compares them with predefined safe temperature thresholds.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Automatically identifies temperature excursions when readings exceed the acceptable range.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Determines the start time, end time, and total duration of each excursion event.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Analyzes temperature trends to detect potential cold chain breaches accurately.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Generates alerts and records excursion details for further reporting and compliance assessment.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9"/>
          <p:cNvPicPr preferRelativeResize="0"/>
          <p:nvPr/>
        </p:nvPicPr>
        <p:blipFill rotWithShape="1">
          <a:blip r:embed="rId1">
            <a:alphaModFix amt="25000"/>
          </a:blip>
          <a:srcRect/>
          <a:stretch>
            <a:fillRect/>
          </a:stretch>
        </p:blipFill>
        <p:spPr>
          <a:xfrm rot="3203220">
            <a:off x="10055853" y="-265970"/>
            <a:ext cx="11814495" cy="12461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 rotWithShape="1">
          <a:blip r:embed="rId2">
            <a:alphaModFix amt="25000"/>
          </a:blip>
          <a:srcRect/>
          <a:stretch>
            <a:fillRect/>
          </a:stretch>
        </p:blipFill>
        <p:spPr>
          <a:xfrm rot="-5741405">
            <a:off x="8316155" y="8504486"/>
            <a:ext cx="4865516" cy="616877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 txBox="1"/>
          <p:nvPr/>
        </p:nvSpPr>
        <p:spPr>
          <a:xfrm>
            <a:off x="196150" y="229375"/>
            <a:ext cx="12771900" cy="129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000">
                <a:solidFill>
                  <a:srgbClr val="2B2B2B"/>
                </a:solidFill>
                <a:sym typeface="+mn-ea"/>
              </a:rPr>
              <a:t>Severity Classification</a:t>
            </a:r>
            <a:endParaRPr lang="en-US" sz="7000">
              <a:solidFill>
                <a:srgbClr val="2B2B2B"/>
              </a:solidFill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296325" y="2088450"/>
            <a:ext cx="10724400" cy="69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296325" y="1552225"/>
            <a:ext cx="8367900" cy="8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5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detected temperature excursions are classified based on their duration and degree of deviation from the safe temperature range.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35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35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alt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Severity</a:t>
            </a:r>
            <a:endParaRPr lang="en-US" altLang="en-US"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Minor temperature deviation for a short duration.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impact on product quality and safety.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monitoring but may not need immediate action.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35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35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alt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Medium Severity</a:t>
            </a:r>
            <a:endParaRPr lang="en-US" altLang="en-US"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Moderate temperature deviation or prolonged exposure.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 impact on product integrity.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review and corrective measures.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9031100" y="1552225"/>
            <a:ext cx="9003000" cy="8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Severity</a:t>
            </a:r>
            <a:endParaRPr lang="en-US" altLang="en-US"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Significant temperature deviation and/or extended duration.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risk of product spoilage or regulatory non-compliance.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immediate investigation and corrective action.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Benefits of Classification</a:t>
            </a:r>
            <a:endParaRPr lang="en-US" altLang="en-US"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Prioritizes response efforts based on risk level.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regulatory compliance and decision-making.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structured evidence for report and insurance claim generation.</a:t>
            </a:r>
            <a:endParaRPr lang="en-US" altLang="en-US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/>
        </p:nvSpPr>
        <p:spPr>
          <a:xfrm>
            <a:off x="243205" y="283210"/>
            <a:ext cx="17593310" cy="129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000">
                <a:solidFill>
                  <a:srgbClr val="2B2B2B"/>
                </a:solidFill>
              </a:rPr>
              <a:t>Automated Reporting &amp; Decision Support</a:t>
            </a:r>
            <a:endParaRPr lang="en-US" altLang="en-US" sz="7000">
              <a:solidFill>
                <a:srgbClr val="2B2B2B"/>
              </a:solidFill>
            </a:endParaRPr>
          </a:p>
        </p:txBody>
      </p:sp>
      <p:pic>
        <p:nvPicPr>
          <p:cNvPr id="181" name="Google Shape;181;p24"/>
          <p:cNvPicPr preferRelativeResize="0"/>
          <p:nvPr/>
        </p:nvPicPr>
        <p:blipFill rotWithShape="1"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6" cy="1052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3463659" y="-599139"/>
            <a:ext cx="5865675" cy="523105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409575" y="1814830"/>
            <a:ext cx="17469485" cy="595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automatically generates FDA/WHO-compliant cold chain breach reports based on detected excursion events and severity analysis.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Summarizes key information such as breach duration, temperature deviations, severity level, and supporting evidence.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Automatically drafts insurance claim documents containing shipment details, excursion records, and relevant evidence.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manual documentation effort and accelerates claim processing workflows.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downloadable reports and claim letters in a structured and professional format.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Integrated Streamlit dashboard visualizes temperature trends, breach events, severity distribution, and report summaries for effective decision-making.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Enables users to monitor cold chain performance, review alerts, and access generated documents through a single interface.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/>
        </p:nvSpPr>
        <p:spPr>
          <a:xfrm>
            <a:off x="276215" y="346274"/>
            <a:ext cx="12184800" cy="129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000">
                <a:solidFill>
                  <a:srgbClr val="2B2B2B"/>
                </a:solidFill>
              </a:rPr>
              <a:t>Results &amp; Advantages</a:t>
            </a:r>
            <a:endParaRPr lang="en-US" altLang="en-US" sz="7000">
              <a:solidFill>
                <a:srgbClr val="2B2B2B"/>
              </a:solidFill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1">
            <a:alphaModFix amt="25000"/>
          </a:blip>
          <a:srcRect/>
          <a:stretch>
            <a:fillRect/>
          </a:stretch>
        </p:blipFill>
        <p:spPr>
          <a:xfrm rot="-3982960">
            <a:off x="13745551" y="-3705176"/>
            <a:ext cx="5352514" cy="741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/>
          <p:cNvPicPr preferRelativeResize="0"/>
          <p:nvPr/>
        </p:nvPicPr>
        <p:blipFill rotWithShape="1">
          <a:blip r:embed="rId2">
            <a:alphaModFix amt="25000"/>
          </a:blip>
          <a:srcRect/>
          <a:stretch>
            <a:fillRect/>
          </a:stretch>
        </p:blipFill>
        <p:spPr>
          <a:xfrm rot="-1644077">
            <a:off x="16162301" y="-1063836"/>
            <a:ext cx="5468057" cy="610803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409575" y="1814830"/>
            <a:ext cx="17469485" cy="595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altLang="en-US" sz="3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lang="en-US" altLang="en-US" sz="3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Successfully detected temperature excursion events from cold chain sensor data.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Classified breaches based on severity level and duration of temperature deviation.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Generated FDA/WHO-compliant breach reports automatically.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Created structured insurance claim documents with supporting evidence.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Visualized temperature trends, alerts, and breach summaries through an interactive dashboard.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81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altLang="en-US" sz="3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Advantages</a:t>
            </a:r>
            <a:endParaRPr lang="en-US" altLang="en-US" sz="3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Automates cold chain monitoring and breach detection.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manual documentation and reporting effort.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Improves accuracy and consistency in compliance reporting.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Accelerates insurance claim preparation and processing.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Enhances visibility and decision-making through real-time data visualization.</a:t>
            </a:r>
            <a:endParaRPr lang="en-US" altLang="en-US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243440" y="283150"/>
            <a:ext cx="14206500" cy="129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000">
                <a:solidFill>
                  <a:srgbClr val="2B2B2B"/>
                </a:solidFill>
              </a:rPr>
              <a:t>Conclusion &amp; Future Work</a:t>
            </a:r>
            <a:endParaRPr lang="en-US" altLang="en-US" sz="7000">
              <a:solidFill>
                <a:srgbClr val="2B2B2B"/>
              </a:solidFill>
            </a:endParaRPr>
          </a:p>
        </p:txBody>
      </p:sp>
      <p:pic>
        <p:nvPicPr>
          <p:cNvPr id="103" name="Google Shape;103;p15"/>
          <p:cNvPicPr preferRelativeResize="0"/>
          <p:nvPr/>
        </p:nvPicPr>
        <p:blipFill rotWithShape="1"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6" cy="1052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3864791" y="-387464"/>
            <a:ext cx="5865675" cy="523105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408940" y="1575435"/>
            <a:ext cx="17469485" cy="776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alt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lang="en-US" altLang="en-US" sz="3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Developed an AI-powered solution for automated cold chain breach detection, compliance reporting, and insurance claim generation.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improves operational efficiency, reduces manual effort, and supports regulatory compliance through intelligent data analysis and automated documentation.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alt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lang="en-US" altLang="en-US" sz="3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 real-time IoT sensors for live temperature monitoring.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email and SMS notifications for instant breach alerts.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Incorporate predictive analytics to identify potential risks before breaches occur.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 the system on cloud platforms for large-scale logistics operations.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n-US" alt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 AI capabilities to provide advanced recommendations and decision support.</a:t>
            </a:r>
            <a:endParaRPr lang="en-US" altLang="en-US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5"/>
          <p:cNvPicPr preferRelativeResize="0"/>
          <p:nvPr/>
        </p:nvPicPr>
        <p:blipFill rotWithShape="1">
          <a:blip r:embed="rId1">
            <a:alphaModFix amt="25000"/>
          </a:blip>
          <a:srcRect/>
          <a:stretch>
            <a:fillRect/>
          </a:stretch>
        </p:blipFill>
        <p:spPr>
          <a:xfrm>
            <a:off x="-1662681" y="-6438340"/>
            <a:ext cx="13761077" cy="1415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 txBox="1"/>
          <p:nvPr/>
        </p:nvSpPr>
        <p:spPr>
          <a:xfrm>
            <a:off x="4911263" y="4076303"/>
            <a:ext cx="84654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0" i="0" u="none" strike="noStrike" cap="none">
                <a:solidFill>
                  <a:srgbClr val="2B2B2B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Thank you!</a:t>
            </a:r>
            <a:endParaRPr lang="en-US" sz="7000" b="0" i="0" u="none" strike="noStrike" cap="none">
              <a:solidFill>
                <a:srgbClr val="2B2B2B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pic>
        <p:nvPicPr>
          <p:cNvPr id="190" name="Google Shape;190;p25"/>
          <p:cNvPicPr preferRelativeResize="0"/>
          <p:nvPr/>
        </p:nvPicPr>
        <p:blipFill rotWithShape="1">
          <a:blip r:embed="rId2">
            <a:alphaModFix amt="25000"/>
          </a:blip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5"/>
          <p:cNvPicPr preferRelativeResize="0"/>
          <p:nvPr/>
        </p:nvPicPr>
        <p:blipFill rotWithShape="1">
          <a:blip r:embed="rId3">
            <a:alphaModFix amt="25000"/>
          </a:blip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5"/>
          <p:cNvPicPr preferRelativeResize="0"/>
          <p:nvPr/>
        </p:nvPicPr>
        <p:blipFill rotWithShape="1">
          <a:blip r:embed="rId4">
            <a:alphaModFix amt="25000"/>
          </a:blip>
          <a:srcRect/>
          <a:stretch>
            <a:fillRect/>
          </a:stretch>
        </p:blipFill>
        <p:spPr>
          <a:xfrm rot="-3435299">
            <a:off x="-3167656" y="638455"/>
            <a:ext cx="6335313" cy="7076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8219</Words>
  <Application>WPS Presentation</Application>
  <PresentationFormat/>
  <Paragraphs>207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Calibri</vt:lpstr>
      <vt:lpstr>Helvetica Neue</vt:lpstr>
      <vt:lpstr>Arial Bold</vt:lpstr>
      <vt:lpstr>Microsoft YaHei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Mohammad Ayub</cp:lastModifiedBy>
  <cp:revision>4</cp:revision>
  <dcterms:created xsi:type="dcterms:W3CDTF">2026-05-30T18:20:17Z</dcterms:created>
  <dcterms:modified xsi:type="dcterms:W3CDTF">2026-05-30T18:20:17Z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2FFB727FFFCB1DF0BD38196A7B452CE6_42</vt:lpwstr>
  </property>
  <property fmtid="{D5CDD505-2E9C-101B-9397-08002B2CF9AE}" pid="3" name="KSOProductBuildVer">
    <vt:lpwstr>1033-12.1.25897.25897</vt:lpwstr>
  </property>
</Properties>
</file>