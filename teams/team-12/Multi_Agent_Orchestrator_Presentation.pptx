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4"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D73B4-30FD-4399-B406-78C1C34D505A}" type="datetimeFigureOut">
              <a:rPr lang="en-IN" smtClean="0"/>
              <a:t>31-05-2026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E3EDF-4A22-42F2-BEF2-AA538CF97C98}" type="slidenum">
              <a:rPr lang="en-IN" smtClean="0"/>
              <a:t>‹#›</a:t>
            </a:fld>
            <a:endParaRPr lang="en-IN"/>
          </a:p>
        </p:txBody>
      </p:sp>
    </p:spTree>
    <p:extLst>
      <p:ext uri="{BB962C8B-B14F-4D97-AF65-F5344CB8AC3E}">
        <p14:creationId xmlns:p14="http://schemas.microsoft.com/office/powerpoint/2010/main" val="133777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9" name="TextBox 8">
            <a:extLst>
              <a:ext uri="{FF2B5EF4-FFF2-40B4-BE49-F238E27FC236}">
                <a16:creationId xmlns:a16="http://schemas.microsoft.com/office/drawing/2014/main" id="{B47C8AE0-9B75-3CD3-E08C-A7118FF2216F}"/>
              </a:ext>
            </a:extLst>
          </p:cNvPr>
          <p:cNvSpPr txBox="1"/>
          <p:nvPr/>
        </p:nvSpPr>
        <p:spPr>
          <a:xfrm>
            <a:off x="5075854" y="2059386"/>
            <a:ext cx="184731" cy="369332"/>
          </a:xfrm>
          <a:prstGeom prst="rect">
            <a:avLst/>
          </a:prstGeom>
          <a:noFill/>
        </p:spPr>
        <p:txBody>
          <a:bodyPr wrap="square" rtlCol="0">
            <a:spAutoFit/>
          </a:bodyPr>
          <a:lstStyle/>
          <a:p>
            <a:endParaRPr lang="en-IN"/>
          </a:p>
        </p:txBody>
      </p:sp>
      <p:sp>
        <p:nvSpPr>
          <p:cNvPr id="10" name="TextBox 9">
            <a:extLst>
              <a:ext uri="{FF2B5EF4-FFF2-40B4-BE49-F238E27FC236}">
                <a16:creationId xmlns:a16="http://schemas.microsoft.com/office/drawing/2014/main" id="{4766C20E-3F26-DF03-A585-233C203B47EF}"/>
              </a:ext>
            </a:extLst>
          </p:cNvPr>
          <p:cNvSpPr txBox="1"/>
          <p:nvPr/>
        </p:nvSpPr>
        <p:spPr>
          <a:xfrm>
            <a:off x="1639105" y="2219747"/>
            <a:ext cx="6873498" cy="646331"/>
          </a:xfrm>
          <a:prstGeom prst="rect">
            <a:avLst/>
          </a:prstGeom>
          <a:noFill/>
        </p:spPr>
        <p:txBody>
          <a:bodyPr wrap="square" rtlCol="0">
            <a:spAutoFit/>
          </a:bodyPr>
          <a:lstStyle/>
          <a:p>
            <a:pPr algn="just"/>
            <a:r>
              <a:rPr lang="en-IN" sz="3600" b="1" dirty="0">
                <a:latin typeface="Times New Roman" panose="02020603050405020304" pitchFamily="18" charset="0"/>
                <a:cs typeface="Times New Roman" panose="02020603050405020304" pitchFamily="18" charset="0"/>
              </a:rPr>
              <a:t>Multi-Agent Event Orchestrator</a:t>
            </a:r>
          </a:p>
        </p:txBody>
      </p:sp>
      <p:graphicFrame>
        <p:nvGraphicFramePr>
          <p:cNvPr id="11" name="Table 10">
            <a:extLst>
              <a:ext uri="{FF2B5EF4-FFF2-40B4-BE49-F238E27FC236}">
                <a16:creationId xmlns:a16="http://schemas.microsoft.com/office/drawing/2014/main" id="{54940EE7-973B-A0ED-B878-B6E837EB0188}"/>
              </a:ext>
            </a:extLst>
          </p:cNvPr>
          <p:cNvGraphicFramePr>
            <a:graphicFrameLocks noGrp="1"/>
          </p:cNvGraphicFramePr>
          <p:nvPr>
            <p:extLst>
              <p:ext uri="{D42A27DB-BD31-4B8C-83A1-F6EECF244321}">
                <p14:modId xmlns:p14="http://schemas.microsoft.com/office/powerpoint/2010/main" val="4269527292"/>
              </p:ext>
            </p:extLst>
          </p:nvPr>
        </p:nvGraphicFramePr>
        <p:xfrm>
          <a:off x="1635069" y="3393584"/>
          <a:ext cx="6873498" cy="1676400"/>
        </p:xfrm>
        <a:graphic>
          <a:graphicData uri="http://schemas.openxmlformats.org/drawingml/2006/table">
            <a:tbl>
              <a:tblPr>
                <a:tableStyleId>{5C22544A-7EE6-4342-B048-85BDC9FD1C3A}</a:tableStyleId>
              </a:tblPr>
              <a:tblGrid>
                <a:gridCol w="1217877">
                  <a:extLst>
                    <a:ext uri="{9D8B030D-6E8A-4147-A177-3AD203B41FA5}">
                      <a16:colId xmlns:a16="http://schemas.microsoft.com/office/drawing/2014/main" val="2775251590"/>
                    </a:ext>
                  </a:extLst>
                </a:gridCol>
                <a:gridCol w="2302288">
                  <a:extLst>
                    <a:ext uri="{9D8B030D-6E8A-4147-A177-3AD203B41FA5}">
                      <a16:colId xmlns:a16="http://schemas.microsoft.com/office/drawing/2014/main" val="1270957110"/>
                    </a:ext>
                  </a:extLst>
                </a:gridCol>
                <a:gridCol w="1459784">
                  <a:extLst>
                    <a:ext uri="{9D8B030D-6E8A-4147-A177-3AD203B41FA5}">
                      <a16:colId xmlns:a16="http://schemas.microsoft.com/office/drawing/2014/main" val="2304951176"/>
                    </a:ext>
                  </a:extLst>
                </a:gridCol>
                <a:gridCol w="1893549">
                  <a:extLst>
                    <a:ext uri="{9D8B030D-6E8A-4147-A177-3AD203B41FA5}">
                      <a16:colId xmlns:a16="http://schemas.microsoft.com/office/drawing/2014/main" val="2881243833"/>
                    </a:ext>
                  </a:extLst>
                </a:gridCol>
              </a:tblGrid>
              <a:tr h="0">
                <a:tc>
                  <a:txBody>
                    <a:bodyPr/>
                    <a:lstStyle/>
                    <a:p>
                      <a:pPr>
                        <a:buNone/>
                      </a:pPr>
                      <a:r>
                        <a:rPr lang="en-IN" sz="1600" b="1" dirty="0">
                          <a:solidFill>
                            <a:schemeClr val="bg2">
                              <a:lumMod val="10000"/>
                            </a:schemeClr>
                          </a:solidFill>
                        </a:rPr>
                        <a:t>S. NO.</a:t>
                      </a:r>
                      <a:endParaRPr lang="en-IN" sz="1600" b="1"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solidFill>
                            <a:schemeClr val="bg2">
                              <a:lumMod val="10000"/>
                            </a:schemeClr>
                          </a:solidFill>
                        </a:rPr>
                        <a:t>Name</a:t>
                      </a:r>
                      <a:endParaRPr lang="en-IN" sz="1600" b="1"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solidFill>
                            <a:schemeClr val="bg2">
                              <a:lumMod val="10000"/>
                            </a:schemeClr>
                          </a:solidFill>
                        </a:rPr>
                        <a:t>Roll No.</a:t>
                      </a:r>
                      <a:endParaRPr lang="en-IN" sz="1600" b="1"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solidFill>
                            <a:schemeClr val="bg2">
                              <a:lumMod val="10000"/>
                            </a:schemeClr>
                          </a:solidFill>
                        </a:rPr>
                        <a:t>USN</a:t>
                      </a:r>
                      <a:endParaRPr lang="en-IN" sz="1600" b="1" dirty="0">
                        <a:solidFill>
                          <a:schemeClr val="bg2">
                            <a:lumMod val="1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74644354"/>
                  </a:ext>
                </a:extLst>
              </a:tr>
              <a:tr h="0">
                <a:tc>
                  <a:txBody>
                    <a:bodyPr/>
                    <a:lstStyle/>
                    <a:p>
                      <a:pPr>
                        <a:buNone/>
                      </a:pPr>
                      <a:r>
                        <a:rPr lang="en-IN" sz="1600" dirty="0">
                          <a:solidFill>
                            <a:schemeClr val="bg2">
                              <a:lumMod val="10000"/>
                            </a:schemeClr>
                          </a:solidFill>
                        </a:rPr>
                        <a:t>1.</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latin typeface="Times New Roman" panose="02020603050405020304" pitchFamily="18" charset="0"/>
                          <a:cs typeface="Times New Roman" panose="02020603050405020304" pitchFamily="18" charset="0"/>
                        </a:rPr>
                        <a:t>Eranna Police Patil</a:t>
                      </a:r>
                    </a:p>
                  </a:txBody>
                  <a:tcPr anchor="ctr"/>
                </a:tc>
                <a:tc>
                  <a:txBody>
                    <a:bodyPr/>
                    <a:lstStyle/>
                    <a:p>
                      <a:pPr>
                        <a:buNone/>
                      </a:pPr>
                      <a:r>
                        <a:rPr lang="en-IN" sz="1600" dirty="0">
                          <a:solidFill>
                            <a:schemeClr val="bg2">
                              <a:lumMod val="10000"/>
                            </a:schemeClr>
                          </a:solidFill>
                        </a:rPr>
                        <a:t>450</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rPr>
                        <a:t>01FE23BCS304</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40623479"/>
                  </a:ext>
                </a:extLst>
              </a:tr>
              <a:tr h="0">
                <a:tc>
                  <a:txBody>
                    <a:bodyPr/>
                    <a:lstStyle/>
                    <a:p>
                      <a:pPr>
                        <a:buNone/>
                      </a:pPr>
                      <a:r>
                        <a:rPr lang="en-IN" sz="1600">
                          <a:solidFill>
                            <a:schemeClr val="bg2">
                              <a:lumMod val="10000"/>
                            </a:schemeClr>
                          </a:solidFill>
                        </a:rPr>
                        <a:t>2.</a:t>
                      </a:r>
                      <a:endParaRPr lang="en-IN" sz="160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latin typeface="Times New Roman" panose="02020603050405020304" pitchFamily="18" charset="0"/>
                          <a:cs typeface="Times New Roman" panose="02020603050405020304" pitchFamily="18" charset="0"/>
                        </a:rPr>
                        <a:t>Darshan R </a:t>
                      </a:r>
                      <a:r>
                        <a:rPr lang="en-IN" sz="1600" dirty="0" err="1">
                          <a:solidFill>
                            <a:schemeClr val="bg2">
                              <a:lumMod val="10000"/>
                            </a:schemeClr>
                          </a:solidFill>
                          <a:latin typeface="Times New Roman" panose="02020603050405020304" pitchFamily="18" charset="0"/>
                          <a:cs typeface="Times New Roman" panose="02020603050405020304" pitchFamily="18" charset="0"/>
                        </a:rPr>
                        <a:t>Talawar</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rPr>
                        <a:t>449</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rPr>
                        <a:t>01FE23BCS303</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96258620"/>
                  </a:ext>
                </a:extLst>
              </a:tr>
              <a:tr h="0">
                <a:tc>
                  <a:txBody>
                    <a:bodyPr/>
                    <a:lstStyle/>
                    <a:p>
                      <a:pPr>
                        <a:buNone/>
                      </a:pPr>
                      <a:r>
                        <a:rPr lang="en-IN" sz="1600">
                          <a:solidFill>
                            <a:schemeClr val="bg2">
                              <a:lumMod val="10000"/>
                            </a:schemeClr>
                          </a:solidFill>
                        </a:rPr>
                        <a:t>3.</a:t>
                      </a:r>
                      <a:endParaRPr lang="en-IN" sz="160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latin typeface="Times New Roman" panose="02020603050405020304" pitchFamily="18" charset="0"/>
                          <a:cs typeface="Times New Roman" panose="02020603050405020304" pitchFamily="18" charset="0"/>
                        </a:rPr>
                        <a:t>Sai Kiran Yelgurthi</a:t>
                      </a:r>
                    </a:p>
                  </a:txBody>
                  <a:tcPr anchor="ctr"/>
                </a:tc>
                <a:tc>
                  <a:txBody>
                    <a:bodyPr/>
                    <a:lstStyle/>
                    <a:p>
                      <a:pPr>
                        <a:buNone/>
                      </a:pPr>
                      <a:r>
                        <a:rPr lang="en-IN" sz="1600" dirty="0">
                          <a:solidFill>
                            <a:schemeClr val="bg2">
                              <a:lumMod val="10000"/>
                            </a:schemeClr>
                          </a:solidFill>
                        </a:rPr>
                        <a:t>466</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rPr>
                        <a:t>01FE22BCS312</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03327352"/>
                  </a:ext>
                </a:extLst>
              </a:tr>
              <a:tr h="0">
                <a:tc>
                  <a:txBody>
                    <a:bodyPr/>
                    <a:lstStyle/>
                    <a:p>
                      <a:pPr>
                        <a:buNone/>
                      </a:pPr>
                      <a:r>
                        <a:rPr lang="en-IN" sz="1600">
                          <a:solidFill>
                            <a:schemeClr val="bg2">
                              <a:lumMod val="10000"/>
                            </a:schemeClr>
                          </a:solidFill>
                        </a:rPr>
                        <a:t>4.</a:t>
                      </a:r>
                      <a:endParaRPr lang="en-IN" sz="160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latin typeface="Times New Roman" panose="02020603050405020304" pitchFamily="18" charset="0"/>
                          <a:cs typeface="Times New Roman" panose="02020603050405020304" pitchFamily="18" charset="0"/>
                        </a:rPr>
                        <a:t>Sohan </a:t>
                      </a:r>
                      <a:r>
                        <a:rPr lang="en-IN" sz="1600" dirty="0" err="1">
                          <a:solidFill>
                            <a:schemeClr val="bg2">
                              <a:lumMod val="10000"/>
                            </a:schemeClr>
                          </a:solidFill>
                          <a:latin typeface="Times New Roman" panose="02020603050405020304" pitchFamily="18" charset="0"/>
                          <a:cs typeface="Times New Roman" panose="02020603050405020304" pitchFamily="18" charset="0"/>
                        </a:rPr>
                        <a:t>Kallur</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rPr>
                        <a:t>462</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solidFill>
                            <a:schemeClr val="bg2">
                              <a:lumMod val="10000"/>
                            </a:schemeClr>
                          </a:solidFill>
                        </a:rPr>
                        <a:t>01FE23BCS020</a:t>
                      </a:r>
                      <a:endParaRPr lang="en-IN" sz="1600" dirty="0">
                        <a:solidFill>
                          <a:schemeClr val="bg2">
                            <a:lumMod val="1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45587204"/>
                  </a:ext>
                </a:extLst>
              </a:tr>
            </a:tbl>
          </a:graphicData>
        </a:graphic>
      </p:graphicFrame>
      <p:graphicFrame>
        <p:nvGraphicFramePr>
          <p:cNvPr id="12" name="Table 11">
            <a:extLst>
              <a:ext uri="{FF2B5EF4-FFF2-40B4-BE49-F238E27FC236}">
                <a16:creationId xmlns:a16="http://schemas.microsoft.com/office/drawing/2014/main" id="{C040C926-77F2-6A72-8AF6-FFA90D9B0AFF}"/>
              </a:ext>
            </a:extLst>
          </p:cNvPr>
          <p:cNvGraphicFramePr>
            <a:graphicFrameLocks noGrp="1"/>
          </p:cNvGraphicFramePr>
          <p:nvPr/>
        </p:nvGraphicFramePr>
        <p:xfrm>
          <a:off x="1635070" y="3058160"/>
          <a:ext cx="6873497" cy="370840"/>
        </p:xfrm>
        <a:graphic>
          <a:graphicData uri="http://schemas.openxmlformats.org/drawingml/2006/table">
            <a:tbl>
              <a:tblPr firstRow="1" bandRow="1">
                <a:tableStyleId>{3C2FFA5D-87B4-456A-9821-1D502468CF0F}</a:tableStyleId>
              </a:tblPr>
              <a:tblGrid>
                <a:gridCol w="6873497">
                  <a:extLst>
                    <a:ext uri="{9D8B030D-6E8A-4147-A177-3AD203B41FA5}">
                      <a16:colId xmlns:a16="http://schemas.microsoft.com/office/drawing/2014/main" val="2746730573"/>
                    </a:ext>
                  </a:extLst>
                </a:gridCol>
              </a:tblGrid>
              <a:tr h="370840">
                <a:tc>
                  <a:txBody>
                    <a:bodyPr/>
                    <a:lstStyle/>
                    <a:p>
                      <a:pPr algn="ctr"/>
                      <a:r>
                        <a:rPr lang="en-US" sz="1600" dirty="0">
                          <a:solidFill>
                            <a:schemeClr val="bg2">
                              <a:lumMod val="10000"/>
                            </a:schemeClr>
                          </a:solidFill>
                        </a:rPr>
                        <a:t>TEAM NO: 00</a:t>
                      </a:r>
                      <a:endParaRPr lang="en-IN" sz="1600" dirty="0">
                        <a:solidFill>
                          <a:schemeClr val="bg2">
                            <a:lumMod val="10000"/>
                          </a:schemeClr>
                        </a:solidFill>
                      </a:endParaRPr>
                    </a:p>
                  </a:txBody>
                  <a:tcPr/>
                </a:tc>
                <a:extLst>
                  <a:ext uri="{0D108BD9-81ED-4DB2-BD59-A6C34878D82A}">
                    <a16:rowId xmlns:a16="http://schemas.microsoft.com/office/drawing/2014/main" val="3744478474"/>
                  </a:ext>
                </a:extLst>
              </a:tr>
            </a:tbl>
          </a:graphicData>
        </a:graphic>
      </p:graphicFrame>
      <p:pic>
        <p:nvPicPr>
          <p:cNvPr id="2" name="Google Shape;62;p1">
            <a:extLst>
              <a:ext uri="{FF2B5EF4-FFF2-40B4-BE49-F238E27FC236}">
                <a16:creationId xmlns:a16="http://schemas.microsoft.com/office/drawing/2014/main" id="{7B85695E-7A56-48C9-3438-F9141F08A6D7}"/>
              </a:ext>
            </a:extLst>
          </p:cNvPr>
          <p:cNvPicPr preferRelativeResize="0"/>
          <p:nvPr/>
        </p:nvPicPr>
        <p:blipFill rotWithShape="1">
          <a:blip r:embed="rId3"/>
          <a:srcRect/>
          <a:stretch>
            <a:fillRect/>
          </a:stretch>
        </p:blipFill>
        <p:spPr>
          <a:xfrm>
            <a:off x="8508567" y="512031"/>
            <a:ext cx="492600" cy="492600"/>
          </a:xfrm>
          <a:prstGeom prst="rect">
            <a:avLst/>
          </a:prstGeom>
          <a:noFill/>
          <a:ln>
            <a:noFill/>
          </a:ln>
        </p:spPr>
      </p:pic>
      <p:sp>
        <p:nvSpPr>
          <p:cNvPr id="3" name="TextBox 2">
            <a:extLst>
              <a:ext uri="{FF2B5EF4-FFF2-40B4-BE49-F238E27FC236}">
                <a16:creationId xmlns:a16="http://schemas.microsoft.com/office/drawing/2014/main" id="{31E3560B-F486-CDDC-C007-4808CCE34929}"/>
              </a:ext>
            </a:extLst>
          </p:cNvPr>
          <p:cNvSpPr txBox="1"/>
          <p:nvPr/>
        </p:nvSpPr>
        <p:spPr>
          <a:xfrm>
            <a:off x="1635069" y="5405408"/>
            <a:ext cx="2609817" cy="369332"/>
          </a:xfrm>
          <a:prstGeom prst="rect">
            <a:avLst/>
          </a:prstGeom>
          <a:noFill/>
        </p:spPr>
        <p:txBody>
          <a:bodyPr wrap="none" rtlCol="0">
            <a:spAutoFit/>
          </a:bodyPr>
          <a:lstStyle/>
          <a:p>
            <a:r>
              <a:rPr lang="en-IN" b="1" dirty="0"/>
              <a:t>Guide: </a:t>
            </a:r>
            <a:r>
              <a:rPr lang="en-IN" b="1" dirty="0" err="1"/>
              <a:t>Prof.Guruprasad</a:t>
            </a:r>
            <a:r>
              <a:rPr lang="en-IN" b="1" dirty="0"/>
              <a:t> 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1A5276"/>
                </a:solidFill>
              </a:defRPr>
            </a:pPr>
            <a:r>
              <a:t>1. Problem Statement &amp; Vision</a:t>
            </a:r>
          </a:p>
        </p:txBody>
      </p:sp>
      <p:sp>
        <p:nvSpPr>
          <p:cNvPr id="3" name="Content Placeholder 2"/>
          <p:cNvSpPr>
            <a:spLocks noGrp="1"/>
          </p:cNvSpPr>
          <p:nvPr>
            <p:ph idx="1"/>
          </p:nvPr>
        </p:nvSpPr>
        <p:spPr/>
        <p:txBody>
          <a:bodyPr/>
          <a:lstStyle/>
          <a:p>
            <a:r>
              <a:t>Organizing a corporate, academic, or cultural convention is a multi-dimensional challenge.</a:t>
            </a:r>
          </a:p>
          <a:p>
            <a:pPr>
              <a:defRPr sz="1800">
                <a:solidFill>
                  <a:srgbClr val="2C3E50"/>
                </a:solidFill>
              </a:defRPr>
            </a:pPr>
            <a:r>
              <a:t>• The Challenge: Single massive LLM prompts often hallucinate details, generate shallow timeline schedules, or fail to handle multiple domains (AV, catering, speakers) simultaneously.</a:t>
            </a:r>
          </a:p>
          <a:p>
            <a:pPr>
              <a:defRPr sz="1800">
                <a:solidFill>
                  <a:srgbClr val="2C3E50"/>
                </a:solidFill>
              </a:defRPr>
            </a:pPr>
            <a:r>
              <a:t>• Our Solution: Build an autonomous, cooperative network of 5 domain-specialized agents executing in parallel, synthesized by a 6th Lead Coordinator Agent.</a:t>
            </a:r>
          </a:p>
          <a:p>
            <a:pPr>
              <a:defRPr sz="1800">
                <a:solidFill>
                  <a:srgbClr val="2C3E50"/>
                </a:solidFill>
              </a:defRPr>
            </a:pPr>
            <a:r>
              <a:t>• The Output: Renders dynamic dashboards with metrics and exports a beautifully structured Microsoft Word plan containing timelines, briefs, and email templates.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1A5276"/>
                </a:solidFill>
              </a:defRPr>
            </a:pPr>
            <a:r>
              <a:t>2. Cooperative System Architecture</a:t>
            </a:r>
          </a:p>
        </p:txBody>
      </p:sp>
      <p:sp>
        <p:nvSpPr>
          <p:cNvPr id="3" name="TextBox 2"/>
          <p:cNvSpPr txBox="1"/>
          <p:nvPr/>
        </p:nvSpPr>
        <p:spPr>
          <a:xfrm>
            <a:off x="731520" y="1371600"/>
            <a:ext cx="7680960" cy="4572000"/>
          </a:xfrm>
          <a:prstGeom prst="rect">
            <a:avLst/>
          </a:prstGeom>
          <a:noFill/>
        </p:spPr>
        <p:txBody>
          <a:bodyPr wrap="square">
            <a:spAutoFit/>
          </a:bodyPr>
          <a:lstStyle/>
          <a:p>
            <a:pPr>
              <a:defRPr sz="950" b="1">
                <a:solidFill>
                  <a:srgbClr val="1A5276"/>
                </a:solidFill>
                <a:latin typeface="Courier New"/>
              </a:defRPr>
            </a:pPr>
            <a:r>
              <a:t>                      +--------------------------------+</a:t>
            </a:r>
            <a:br/>
            <a:r>
              <a:t>                      |   Streamlit: Event Input Form  |</a:t>
            </a:r>
            <a:br/>
            <a:r>
              <a:t>                      +--------------------------------+</a:t>
            </a:r>
            <a:br/>
            <a:r>
              <a:t>                                       |</a:t>
            </a:r>
            <a:br/>
            <a:r>
              <a:t>                                       v (Parallel Execution Thread)</a:t>
            </a:r>
            <a:br/>
            <a:r>
              <a:t>            +--------------------------+--------------------------+</a:t>
            </a:r>
            <a:br/>
            <a:r>
              <a:t>            |                          |                          |</a:t>
            </a:r>
            <a:br/>
            <a:r>
              <a:t>            v                          v                          v</a:t>
            </a:r>
            <a:br/>
            <a:r>
              <a:t>   +-----------------+        +-----------------+        +-----------------+</a:t>
            </a:r>
            <a:br/>
            <a:r>
              <a:t>   |   Venue Agent   |        |  Speaker Agent  |        | Catering Agent  |</a:t>
            </a:r>
            <a:br/>
            <a:r>
              <a:t>   | (Scouts Meetup  |        | (Panel Bios &amp;   |        | (Menu Designs &amp; |</a:t>
            </a:r>
            <a:br/>
            <a:r>
              <a:t>   | Events Dataset) |        |  Topics Finder) |        |  Dietary Align) |</a:t>
            </a:r>
            <a:br/>
            <a:r>
              <a:t>   +-----------------+        +-----------------+        +-----------------+</a:t>
            </a:r>
            <a:br/>
            <a:r>
              <a:t>            |                          |                          |</a:t>
            </a:r>
            <a:br/>
            <a:r>
              <a:t>            +--------------------------+--------------------------+</a:t>
            </a:r>
            <a:br/>
            <a:r>
              <a:t>            v                          v                          </a:t>
            </a:r>
            <a:br/>
            <a:r>
              <a:t>   +-----------------+        +-----------------+</a:t>
            </a:r>
            <a:br/>
            <a:r>
              <a:t>   | Logistics Agent |        |  Comms Agent    |</a:t>
            </a:r>
            <a:br/>
            <a:r>
              <a:t>   | (AV Rigging &amp;   |        | (Attendee/VIP   |</a:t>
            </a:r>
            <a:br/>
            <a:r>
              <a:t>   | Setup Schedule) |        | Invite Mailers) |</a:t>
            </a:r>
            <a:br/>
            <a:r>
              <a:t>   +-----------------+        +-----------------+</a:t>
            </a:r>
            <a:br/>
            <a:r>
              <a:t>            |                          |</a:t>
            </a:r>
            <a:br/>
            <a:r>
              <a:t>            +--------------------------+</a:t>
            </a:r>
            <a:br/>
            <a:r>
              <a:t>                                       |</a:t>
            </a:r>
            <a:br/>
            <a:r>
              <a:t>                                       v</a:t>
            </a:r>
            <a:br/>
            <a:r>
              <a:t>                      +--------------------------------+</a:t>
            </a:r>
            <a:br/>
            <a:r>
              <a:t>                      |  Coordinator Synthesis Engine  |</a:t>
            </a:r>
            <a:br/>
            <a:r>
              <a:t>                      | (Incorporates Asana Checklist) |</a:t>
            </a:r>
            <a:br/>
            <a:r>
              <a:t>                      +--------------------------------+</a:t>
            </a:r>
            <a:b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1A5276"/>
                </a:solidFill>
              </a:defRPr>
            </a:pPr>
            <a:r>
              <a:t>3. Multi-Agent Execution Flow</a:t>
            </a:r>
          </a:p>
        </p:txBody>
      </p:sp>
      <p:sp>
        <p:nvSpPr>
          <p:cNvPr id="3" name="Content Placeholder 2"/>
          <p:cNvSpPr>
            <a:spLocks noGrp="1"/>
          </p:cNvSpPr>
          <p:nvPr>
            <p:ph idx="1"/>
          </p:nvPr>
        </p:nvSpPr>
        <p:spPr/>
        <p:txBody>
          <a:bodyPr/>
          <a:lstStyle/>
          <a:p>
            <a:r>
              <a:t>Cooperative Multi-Agent Execution Flow:</a:t>
            </a:r>
          </a:p>
          <a:p>
            <a:pPr>
              <a:defRPr sz="1600">
                <a:solidFill>
                  <a:srgbClr val="2C3E50"/>
                </a:solidFill>
              </a:defRPr>
            </a:pPr>
            <a:r>
              <a:t>1. Conception Input: User fills out event configurations on Streamlit UI (Page 1).</a:t>
            </a:r>
          </a:p>
          <a:p>
            <a:pPr>
              <a:defRPr sz="1600">
                <a:solidFill>
                  <a:srgbClr val="2C3E50"/>
                </a:solidFill>
              </a:defRPr>
            </a:pPr>
            <a:r>
              <a:t>2. Parallel Scouting: Venue, Speaker, and Catering agents execute programmatically in parallel threads.</a:t>
            </a:r>
          </a:p>
          <a:p>
            <a:pPr>
              <a:defRPr sz="1600">
                <a:solidFill>
                  <a:srgbClr val="2C3E50"/>
                </a:solidFill>
              </a:defRPr>
            </a:pPr>
            <a:r>
              <a:t>3. Sourcing Logistics: Logistics (AV rigging &amp; transport plans) and Comms (copywriting) agents execute.</a:t>
            </a:r>
          </a:p>
          <a:p>
            <a:pPr>
              <a:defRPr sz="1600">
                <a:solidFill>
                  <a:srgbClr val="2C3E50"/>
                </a:solidFill>
              </a:defRPr>
            </a:pPr>
            <a:r>
              <a:t>4. Coordinator Synthesis: The Lead Coordinator Agent consolidates the briefs, incorporating Asana checklists.</a:t>
            </a:r>
          </a:p>
          <a:p>
            <a:pPr>
              <a:defRPr sz="1600">
                <a:solidFill>
                  <a:srgbClr val="2C3E50"/>
                </a:solidFill>
              </a:defRPr>
            </a:pPr>
            <a:r>
              <a:t>5. Standardized Export: python-docx formats a styled Word Strategy Portfolio with timelines and headers.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1A5276"/>
                </a:solidFill>
              </a:defRPr>
            </a:pPr>
            <a:r>
              <a:t>4. Core Technology Stack</a:t>
            </a:r>
          </a:p>
        </p:txBody>
      </p:sp>
      <p:sp>
        <p:nvSpPr>
          <p:cNvPr id="3" name="Content Placeholder 2"/>
          <p:cNvSpPr>
            <a:spLocks noGrp="1"/>
          </p:cNvSpPr>
          <p:nvPr>
            <p:ph idx="1"/>
          </p:nvPr>
        </p:nvSpPr>
        <p:spPr/>
        <p:txBody>
          <a:bodyPr/>
          <a:lstStyle/>
          <a:p>
            <a:r>
              <a:t>Modern and lightweight Python technologies chosen for production-ready speeds:</a:t>
            </a:r>
          </a:p>
          <a:p>
            <a:pPr>
              <a:defRPr sz="1600">
                <a:solidFill>
                  <a:srgbClr val="2C3E50"/>
                </a:solidFill>
              </a:defRPr>
            </a:pPr>
            <a:r>
              <a:t>• Streamlit: Custom HSL Dark-theme styling, visual console execution loading bars, metrics cards, and stateful navigation.</a:t>
            </a:r>
          </a:p>
          <a:p>
            <a:pPr>
              <a:defRPr sz="1600">
                <a:solidFill>
                  <a:srgbClr val="2C3E50"/>
                </a:solidFill>
              </a:defRPr>
            </a:pPr>
            <a:r>
              <a:t>• Groq SDK &amp; LangChain: High-performance API connectivity to Llama 3 models (llama3-8b-8192) with sub-second execution speeds.</a:t>
            </a:r>
          </a:p>
          <a:p>
            <a:pPr>
              <a:defRPr sz="1600">
                <a:solidFill>
                  <a:srgbClr val="2C3E50"/>
                </a:solidFill>
              </a:defRPr>
            </a:pPr>
            <a:r>
              <a:t>• python-docx: Programmatic MS Word compiler with margin paddings, styled borders, bullet grids, and highlighted callout tables.</a:t>
            </a:r>
          </a:p>
          <a:p>
            <a:pPr>
              <a:defRPr sz="1600">
                <a:solidFill>
                  <a:srgbClr val="2C3E50"/>
                </a:solidFill>
              </a:defRPr>
            </a:pPr>
            <a:r>
              <a:t>• pandas &amp; csv: Performs database operations on Kaggle meetup files to extract typical attendance sizes.</a:t>
            </a:r>
          </a:p>
          <a:p>
            <a:pPr>
              <a:defRPr sz="1600">
                <a:solidFill>
                  <a:srgbClr val="2C3E50"/>
                </a:solidFill>
              </a:defRPr>
            </a:pPr>
            <a:r>
              <a:t>• python-dotenv: Manages credentials securely without hardcoding API keys.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1A5276"/>
                </a:solidFill>
              </a:defRPr>
            </a:pPr>
            <a:r>
              <a:t>5. Modular Agent Responsibilities</a:t>
            </a:r>
          </a:p>
        </p:txBody>
      </p:sp>
      <p:sp>
        <p:nvSpPr>
          <p:cNvPr id="3" name="Content Placeholder 2"/>
          <p:cNvSpPr>
            <a:spLocks noGrp="1"/>
          </p:cNvSpPr>
          <p:nvPr>
            <p:ph idx="1"/>
          </p:nvPr>
        </p:nvSpPr>
        <p:spPr/>
        <p:txBody>
          <a:bodyPr/>
          <a:lstStyle/>
          <a:p>
            <a:r>
              <a:t>Five Specialized Agents + One Lead Coordinator COO:</a:t>
            </a:r>
          </a:p>
          <a:p>
            <a:pPr>
              <a:defRPr sz="1500">
                <a:solidFill>
                  <a:srgbClr val="2C3E50"/>
                </a:solidFill>
              </a:defRPr>
            </a:pPr>
            <a:r>
              <a:t>• Venue Scout Agent: Queries historical meetup records to recommend capacity-appropriate and budget-appropriate venue properties.</a:t>
            </a:r>
          </a:p>
          <a:p>
            <a:pPr>
              <a:defRPr sz="1500">
                <a:solidFill>
                  <a:srgbClr val="2C3E50"/>
                </a:solidFill>
              </a:defRPr>
            </a:pPr>
            <a:r>
              <a:t>• Speaker Scout Agent: Suggests panel boards, topics, detailed speaker biographies, abstracts, and calculates honorariums.</a:t>
            </a:r>
          </a:p>
          <a:p>
            <a:pPr>
              <a:defRPr sz="1500">
                <a:solidFill>
                  <a:srgbClr val="2C3E50"/>
                </a:solidFill>
              </a:defRPr>
            </a:pPr>
            <a:r>
              <a:t>• Culinary Planner Agent: Designs three styled catering menu configurations respecting vegetarian, vegan, and allergen rules.</a:t>
            </a:r>
          </a:p>
          <a:p>
            <a:pPr>
              <a:defRPr sz="1500">
                <a:solidFill>
                  <a:srgbClr val="2C3E50"/>
                </a:solidFill>
              </a:defRPr>
            </a:pPr>
            <a:r>
              <a:t>• AV &amp; Ops Director Agent: Builds redundant audio-visual checklists, stage layouts, and day-of hourly timelines.</a:t>
            </a:r>
          </a:p>
          <a:p>
            <a:pPr>
              <a:defRPr sz="1500">
                <a:solidFill>
                  <a:srgbClr val="2C3E50"/>
                </a:solidFill>
              </a:defRPr>
            </a:pPr>
            <a:r>
              <a:t>• Comms Specialist Agent: Drafts copywriting assets for speaker pitches, invites, and post-event appreciations.</a:t>
            </a:r>
          </a:p>
          <a:p>
            <a:pPr>
              <a:defRPr sz="1500">
                <a:solidFill>
                  <a:srgbClr val="2C3E50"/>
                </a:solidFill>
              </a:defRPr>
            </a:pPr>
            <a:r>
              <a:t>• Lead Coordinator Agent: Weaves all plans together with Asana milestone checklists into a single cohesive strategy.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1A5276"/>
                </a:solidFill>
              </a:defRPr>
            </a:pPr>
            <a:r>
              <a:t>6. Data Integrations &amp; Schemas</a:t>
            </a:r>
          </a:p>
        </p:txBody>
      </p:sp>
      <p:sp>
        <p:nvSpPr>
          <p:cNvPr id="3" name="Content Placeholder 2"/>
          <p:cNvSpPr>
            <a:spLocks noGrp="1"/>
          </p:cNvSpPr>
          <p:nvPr>
            <p:ph idx="1"/>
          </p:nvPr>
        </p:nvSpPr>
        <p:spPr/>
        <p:txBody>
          <a:bodyPr/>
          <a:lstStyle/>
          <a:p>
            <a:r>
              <a:t>Leverages real-world data patterns for realistic planning:</a:t>
            </a:r>
          </a:p>
          <a:p>
            <a:pPr>
              <a:defRPr sz="1600">
                <a:solidFill>
                  <a:srgbClr val="2C3E50"/>
                </a:solidFill>
              </a:defRPr>
            </a:pPr>
            <a:r>
              <a:t>• Kaggle Meetup Events (150 rows): A localized tech-meetup CSV mapping 10 global cities (New York, SF, London, Bangalore, Tokyo) with categories (AI, Biotech, Fintech). Evaluates historical attendance averages and typical costs to verify that proposed venue capacities are realistic.</a:t>
            </a:r>
          </a:p>
          <a:p>
            <a:pPr>
              <a:defRPr sz="1600">
                <a:solidFill>
                  <a:srgbClr val="2C3E50"/>
                </a:solidFill>
              </a:defRPr>
            </a:pPr>
            <a:r>
              <a:t>• Asana Event Checklist JSON: A five-phase milestone corporate schema representing conception, sourcing, logistics, comms, and execution checklists, loaded by the Coordinator to pre-populate timeline agendas.</a:t>
            </a:r>
          </a:p>
          <a:p>
            <a:pPr>
              <a:defRPr sz="1600">
                <a:solidFill>
                  <a:srgbClr val="2C3E50"/>
                </a:solidFill>
              </a:defRPr>
            </a:pPr>
            <a:r>
              <a:t>• AgentBench Metrics: Provides benchmarking parameters to ensure LLM task coordination quality, latency tracking, and budget safety constraints.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solidFill>
                  <a:srgbClr val="1A5276"/>
                </a:solidFill>
              </a:defRPr>
            </a:pPr>
            <a:r>
              <a:t>7. Competitive Hackathon Edge</a:t>
            </a:r>
          </a:p>
        </p:txBody>
      </p:sp>
      <p:sp>
        <p:nvSpPr>
          <p:cNvPr id="3" name="Content Placeholder 2"/>
          <p:cNvSpPr>
            <a:spLocks noGrp="1"/>
          </p:cNvSpPr>
          <p:nvPr>
            <p:ph idx="1"/>
          </p:nvPr>
        </p:nvSpPr>
        <p:spPr/>
        <p:txBody>
          <a:bodyPr/>
          <a:lstStyle/>
          <a:p>
            <a:r>
              <a:t>Key software engineering features designed for a flawless evaluation:</a:t>
            </a:r>
          </a:p>
          <a:p>
            <a:pPr>
              <a:defRPr sz="1600">
                <a:solidFill>
                  <a:srgbClr val="2C3E50"/>
                </a:solidFill>
              </a:defRPr>
            </a:pPr>
            <a:r>
              <a:t>• Automated Simulation Mode Fallback: If a Groq API Key is not configured, the app runs offline using procedural, theme-matched generation models, ensuring 100% stable presentation delivery.</a:t>
            </a:r>
          </a:p>
          <a:p>
            <a:pPr>
              <a:defRPr sz="1600">
                <a:solidFill>
                  <a:srgbClr val="2C3E50"/>
                </a:solidFill>
              </a:defRPr>
            </a:pPr>
            <a:r>
              <a:t>• Stateful Sidebar Navigation: Managed entirely within Streamlit session states to prevent variable resets during page navigation, providing a highly reliable and cohesive user experience.</a:t>
            </a:r>
          </a:p>
          <a:p>
            <a:pPr>
              <a:defRPr sz="1600">
                <a:solidFill>
                  <a:srgbClr val="2C3E50"/>
                </a:solidFill>
              </a:defRPr>
            </a:pPr>
            <a:r>
              <a:t>• Production-Ready Export Delivery: Downloads styled deliverables matching standard corporate formatting, with custom headers, footer tracking strings, and pre-packaged timelines.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908</Words>
  <Application>Microsoft Office PowerPoint</Application>
  <PresentationFormat>On-screen Show (4:3)</PresentationFormat>
  <Paragraphs>62</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1. Problem Statement &amp; Vision</vt:lpstr>
      <vt:lpstr>2. Cooperative System Architecture</vt:lpstr>
      <vt:lpstr>3. Multi-Agent Execution Flow</vt:lpstr>
      <vt:lpstr>4. Core Technology Stack</vt:lpstr>
      <vt:lpstr>5. Modular Agent Responsibilities</vt:lpstr>
      <vt:lpstr>6. Data Integrations &amp; Schemas</vt:lpstr>
      <vt:lpstr>7. Competitive Hackathon Edge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Darshan Talawar</cp:lastModifiedBy>
  <cp:revision>2</cp:revision>
  <dcterms:created xsi:type="dcterms:W3CDTF">2013-01-27T09:14:16Z</dcterms:created>
  <dcterms:modified xsi:type="dcterms:W3CDTF">2026-05-30T21:40:03Z</dcterms:modified>
  <cp:category/>
</cp:coreProperties>
</file>