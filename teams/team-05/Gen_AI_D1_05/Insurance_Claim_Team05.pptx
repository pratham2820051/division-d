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560320"/>
            <a:ext cx="11155680" cy="4572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DOMAIN 5  ·  FINANCE &amp; BANKING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</a:rPr>
              <a:t>Insurance Claim Rejection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F5C99"/>
                </a:solidFill>
              </a:rPr>
              <a:t>Explainer &amp; Re-Appeal Drafter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 GenAI system that analyses rejection letters, explains grounds in plain language,
and drafts structured appeal letters — powered by LangChain, LLaMA3, and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Claim Types Covered: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  🏥  Health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39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  🚗  Motor 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8698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  💼  Life 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The Challenge Faced by Insurance Policyholders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Insurance claim rejections are one of the most frustrating experiences for policyholders. Millions of claims are rejected every year across health, motor, and life insurance segments in India.</a:t>
            </a:r>
          </a:p>
          <a:p>
            <a:pPr algn="l"/>
            <a:endParaRPr sz="1300" b="0">
              <a:solidFill>
                <a:srgbClr val="555555"/>
              </a:solidFill>
            </a:endParaRPr>
          </a:p>
          <a:p>
            <a:pPr algn="l"/>
            <a:r>
              <a:rPr sz="1300" b="0">
                <a:solidFill>
                  <a:srgbClr val="555555"/>
                </a:solidFill>
              </a:rPr>
              <a:t>The rejection letters sent by insurers are typically dense with legal jargon, references to obscure policy clauses, and regulatory citations — leaving ordinary policyholders with little to no understanding of what went wrong or what they can do next.</a:t>
            </a:r>
          </a:p>
          <a:p>
            <a:pPr algn="l"/>
            <a:endParaRPr sz="1300" b="0">
              <a:solidFill>
                <a:srgbClr val="555555"/>
              </a:solidFill>
            </a:endParaRPr>
          </a:p>
          <a:p>
            <a:pPr algn="l"/>
            <a:r>
              <a:rPr sz="1300" b="0">
                <a:solidFill>
                  <a:srgbClr val="555555"/>
                </a:solidFill>
              </a:rPr>
              <a:t>Most claimants either accept the rejection silently or spend weeks consulting agents and lawyers — both of which result in delayed or lost benefits that they were rightfully entitled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</a:rPr>
              <a:t>→   1 in 3 insurance claims in India faces some form of rejection or partial settlement (IRDAI data).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</a:rPr>
              <a:t>→   Policyholders lack access to legal expertise needed to challenge rejections effectively.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</a:rPr>
              <a:t>→   Valid appeals, when properly filed, have a high success rate — but most go unfiled.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</a:rPr>
              <a:t>→   There is no accessible tool today that explains rejections AND helps draft a formal appeal.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Our Solution: A GenAI system that bridges the gap between complex insurance language and the common policyholder.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Domain 5: Finance &amp; Banking AI  [CO4/CO5]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</a:rPr>
              <a:t>"Insurance policyholders frequently receive opaque claim rejection letters without understanding why their claim was rejected or how to appeal. Build a GenAI system that analyses an insurance rejection letter, explains the specific grounds of rejection in plain language, and drafts a structured appeal letter with supporting arguments."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Core Challenges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Policy Jargon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1089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Rejection letters reference specific clauses, sub-clauses, and IRDAI regulations that are incomprehensible to most policyholders without legal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75887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767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No Clear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7673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Letters rarely explain what the policyholder can do — appeal window, required documents, or which authority to approach.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34256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425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Information Asymmetry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42569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Insurers have legal teams; policyholders are on their own. This power imbalance leads to valid claims going unchallenged.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92624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084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Lack of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08406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No existing consumer tool automates the end-to-end process of analysing a rejection and drafting a professional appeal.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50992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What the System is Designed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01.  Automated Rejection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325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Accept rejection letters in PDF or plain text format. Use PyPDF2 for extraction and LLaMA3 to comprehend and analyse the rejection grounds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02.  Plain-Language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20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Translate complex policy and legal language into simple, clear English that any policyholder can read and understand without legal expertise.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03.  Policy Clause Cross-Reference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514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Match the identified rejection reason against a curated 1,000-row insurance dataset to retrieve the exact policy clause violated and its plain-English meaning.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04.  Structured Appeal Letter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Use LangChain prompt engineering with LLaMA3 to draft a formal, professional appeal letter with supporting arguments — exported directly as a .docx 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1188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05.  Multi-Claim Type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703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Handle all three major insurance domains: Health, Motor, and Life — each with domain-specific reasoning, clause references, and appeal strategies.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062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06.  Local &amp; Privacy-First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297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Run the entire pipeline locally using Ollama on an RTX 4060 GPU with 32GB RAM. No cloud dependency, no paid API, no data leaving the user's machine.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0060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Tools Used and Why They Were Chosen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28600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Tool /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325880"/>
            <a:ext cx="411480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371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 in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325880"/>
            <a:ext cx="4572000" cy="34747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78040" y="137160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This 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91640"/>
            <a:ext cx="2286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1691640"/>
            <a:ext cx="41148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86600" y="1691640"/>
            <a:ext cx="4572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76479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7373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Web UI — file upload, results display, DOCX download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73736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Rapid prototyping of interactive data apps; easy file handling; no frontend coding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85416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80360" y="2185416"/>
            <a:ext cx="4114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86600" y="2185416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2585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PyPDF2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231136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Extract raw text from uploaded PDF rejection letters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23113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Lightweight, reliable PDF text extraction without OCR overhead for text-based PDFs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79192"/>
            <a:ext cx="2286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80360" y="2679192"/>
            <a:ext cx="41148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86600" y="2679192"/>
            <a:ext cx="4572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275234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LangChain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724912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Build structured prompt pipeline; chain LLM with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72491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Enables modular, reusable prompt templates and seamless LLM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72968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80360" y="3172968"/>
            <a:ext cx="4114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086600" y="3172968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461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Ollama + LLaMA3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218688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Local LLM inference — generates explanations and appeal letters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218688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No API cost; runs on RTX 4060; full data privacy; LLaMA3 excels at instruction following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66744"/>
            <a:ext cx="2286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80360" y="3666744"/>
            <a:ext cx="41148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086600" y="3666744"/>
            <a:ext cx="4572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37398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python-docx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712463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Generate and export formatted appeal letter as .docx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712463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Native Word format output; allows rich text formatting, headers, paragraphs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60520"/>
            <a:ext cx="2286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80360" y="4160520"/>
            <a:ext cx="4114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086600" y="4160520"/>
            <a:ext cx="4572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4233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Pandas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420624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Load dataset, filter by claim type, keyword-match rejection reasons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20624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Fast tabular operations; simple CSV/Excel ingestion for the RAG knowledge base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654296"/>
            <a:ext cx="2286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80360" y="4654296"/>
            <a:ext cx="41148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086600" y="4654296"/>
            <a:ext cx="45720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7274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5C99"/>
                </a:solidFill>
              </a:rPr>
              <a:t>fpdf2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4700016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Create sample rejection letter PDFs for testing the pipeline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70001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Pure-Python PDF creation; no external dependency; useful for test fixture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Dataset &amp; RAG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How the Knowledge Base Powers the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Name:   Insurance Claim Rejections Dataset (custom)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Size:     1,000 rows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Format: CSV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Scope:  Health · Motor · Life insurance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Claim_ID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00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Unique row identifier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Claim_Type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4747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Health / Motor / 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Rejection_Reason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4903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Root cause of rejection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Rejection_Letter_Text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2335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Sample rejection letter 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Policy_Clause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29767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Exact clause violated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719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Plain_English_Explanation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57199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Simplified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• Appeal_Suggestion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463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— Recommended action to take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325880"/>
            <a:ext cx="36576" cy="5212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RAG Pipeline (Step by Step)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7830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User selects claim type (Health / Motor / Life) from the Streamlit dropdown.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2585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2585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Dataset is filtered to rows matching the selected claim type 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340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73405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Keywords extracted from the rejection letter are matched against the Rejection_Reason column using Pandas string search.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2095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2095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The matched row's Policy_Clause, Plain_English_Explanation, and Appeal_Suggestion are extracted.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6850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685031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All four retrieved fields are injected as context into a LangChain PromptTemplate.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1605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1605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LLaMA3 (via Ollama) generates a grounded explanation and full appeal letter using this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63600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3600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Streamlit displays the AI output; python-docx packages it into a downloadable .docx file.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Why RAG?  Without the dataset, the LLM would hallucinate policy clauses. RAG grounds every response in real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End-to-End Pipeline from Input to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691640" cy="685800"/>
          </a:xfrm>
          <a:prstGeom prst="rect">
            <a:avLst/>
          </a:prstGeom>
          <a:solidFill>
            <a:srgbClr val="E8F1FB"/>
          </a:solidFill>
          <a:ln w="9525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49047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PDF Upload
(Streamlit)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417320"/>
            <a:ext cx="1691640" cy="685800"/>
          </a:xfrm>
          <a:prstGeom prst="rect">
            <a:avLst/>
          </a:prstGeom>
          <a:solidFill>
            <a:srgbClr val="E8F1FB"/>
          </a:solidFill>
          <a:ln w="9525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21992" y="149047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PyPDF2
Text Extractor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417320"/>
            <a:ext cx="1691640" cy="685800"/>
          </a:xfrm>
          <a:prstGeom prst="rect">
            <a:avLst/>
          </a:prstGeom>
          <a:solidFill>
            <a:srgbClr val="E8F1FB"/>
          </a:solidFill>
          <a:ln w="9525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50791" y="149047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Pandas
Keyword Matcher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1691640" cy="685800"/>
          </a:xfrm>
          <a:prstGeom prst="rect">
            <a:avLst/>
          </a:prstGeom>
          <a:solidFill>
            <a:srgbClr val="E8F1FB"/>
          </a:solidFill>
          <a:ln w="9525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79592" y="149047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RAG Dataset
(1000 rows)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417320"/>
            <a:ext cx="1691640" cy="685800"/>
          </a:xfrm>
          <a:prstGeom prst="rect">
            <a:avLst/>
          </a:prstGeom>
          <a:solidFill>
            <a:srgbClr val="E8F1FB"/>
          </a:solidFill>
          <a:ln w="9525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49047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LangChain
Prompt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1417320"/>
            <a:ext cx="1691640" cy="685800"/>
          </a:xfrm>
          <a:prstGeom prst="rect">
            <a:avLst/>
          </a:prstGeom>
          <a:solidFill>
            <a:srgbClr val="E8F1FB"/>
          </a:solidFill>
          <a:ln w="9525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7192" y="149047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Ollama
LLaMA3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7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148839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5C99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71800"/>
            <a:ext cx="16916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304495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Download
Appeal .docx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2971800"/>
            <a:ext cx="16916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304495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python-docx
DOCX Builder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2971800"/>
            <a:ext cx="16916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50791" y="304495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Streamlit
Output Display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971800"/>
            <a:ext cx="16916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79592" y="304495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Policy Clause
Shown to 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2971800"/>
            <a:ext cx="16916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08392" y="304495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AI Explanation
+ Appeal Letter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40" y="2971800"/>
            <a:ext cx="169164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37192" y="3044952"/>
            <a:ext cx="1581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A1A1A"/>
                </a:solidFill>
              </a:rPr>
              <a:t>LLaMA3
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31546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7" y="31546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7" y="31546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7" y="31546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73967" y="31546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5555"/>
                </a:solidFill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12618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5C99"/>
                </a:solidFill>
              </a:rPr>
              <a:t>INPUT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1261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5C99"/>
                </a:solidFill>
              </a:rPr>
              <a:t>PROCESSING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28163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</a:rPr>
              <a:t>OUTPUT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Key Design 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2062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2976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 Local LLM (Ollama + LLaMA3) — eliminates API costs and ensures complete data privacy on-device.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6817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 RAG over fine-tuning — faster to build, easier to update the knowledge base without retraining.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06577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 Streamlit UI — enables non-technical users (claimants) to interact without any coding knowledge.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44982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→   python-docx output — appeal letter delivered in universally editable Word format for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A1A"/>
                </a:solidFill>
              </a:rPr>
              <a:t>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User-Facing Interface and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9953" y="139072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646" y="237208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Claim Type 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8526" y="237208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Dropdown menu to select Health, Motor, or Life — used to filter the dataset before matching.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646" y="293547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46" y="29871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PDF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8526" y="293901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File uploader component accepts standard PDF rejection letters; PyPDF2 extracts text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03775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46" y="350593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Manual Text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8526" y="350593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Text area for users who want to paste rejection text directly without uploading a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646" y="4061559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646" y="407286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AI Analysis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8526" y="407286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Single-click trigger that runs the full RAG + LLM pipeline and streams results to the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46" y="4626913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D20473-68FC-B54D-238A-580ADFDCDCC7}"/>
              </a:ext>
            </a:extLst>
          </p:cNvPr>
          <p:cNvSpPr txBox="1"/>
          <p:nvPr/>
        </p:nvSpPr>
        <p:spPr>
          <a:xfrm>
            <a:off x="6245352" y="140677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Output Features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227525-8BCF-5E66-545C-0B087F0D4831}"/>
              </a:ext>
            </a:extLst>
          </p:cNvPr>
          <p:cNvSpPr txBox="1"/>
          <p:nvPr/>
        </p:nvSpPr>
        <p:spPr>
          <a:xfrm>
            <a:off x="6245352" y="237208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1A1A"/>
                </a:solidFill>
              </a:rPr>
              <a:t>▸  Policy Clause Display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81BA4B-F0B3-7C93-3C17-025656E8120D}"/>
              </a:ext>
            </a:extLst>
          </p:cNvPr>
          <p:cNvSpPr txBox="1"/>
          <p:nvPr/>
        </p:nvSpPr>
        <p:spPr>
          <a:xfrm>
            <a:off x="8714232" y="237208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Shows the exact policy clause retrieved from the dataset that caused the rejection.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41AC0F-0903-8373-E4A8-478003E2BA8A}"/>
              </a:ext>
            </a:extLst>
          </p:cNvPr>
          <p:cNvSpPr/>
          <p:nvPr/>
        </p:nvSpPr>
        <p:spPr>
          <a:xfrm>
            <a:off x="6258626" y="293901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498410-7605-54D2-9659-15005C55EF6F}"/>
              </a:ext>
            </a:extLst>
          </p:cNvPr>
          <p:cNvSpPr txBox="1"/>
          <p:nvPr/>
        </p:nvSpPr>
        <p:spPr>
          <a:xfrm>
            <a:off x="6245352" y="293901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Plain-Language Explanation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78D143-3B80-3D80-BCA3-EECA7C7087D7}"/>
              </a:ext>
            </a:extLst>
          </p:cNvPr>
          <p:cNvSpPr txBox="1"/>
          <p:nvPr/>
        </p:nvSpPr>
        <p:spPr>
          <a:xfrm>
            <a:off x="8714232" y="293901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AI-generated explanation of the rejection in simple, accessible language.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96B1BDB-E370-0626-8C22-463ABF83CEC1}"/>
              </a:ext>
            </a:extLst>
          </p:cNvPr>
          <p:cNvSpPr/>
          <p:nvPr/>
        </p:nvSpPr>
        <p:spPr>
          <a:xfrm>
            <a:off x="6245352" y="3423642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AD71E2-8238-E383-D57D-A77D9EDBEF57}"/>
              </a:ext>
            </a:extLst>
          </p:cNvPr>
          <p:cNvSpPr txBox="1"/>
          <p:nvPr/>
        </p:nvSpPr>
        <p:spPr>
          <a:xfrm>
            <a:off x="6245352" y="349679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Appeal Letter Display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EF47E2-20E2-DD03-243D-CCC070CA3153}"/>
              </a:ext>
            </a:extLst>
          </p:cNvPr>
          <p:cNvSpPr txBox="1"/>
          <p:nvPr/>
        </p:nvSpPr>
        <p:spPr>
          <a:xfrm>
            <a:off x="8714232" y="350593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Full structured appeal letter shown on screen with sections for facts, arguments, and request.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924B66F-023B-0F53-006C-91AAE6B9A168}"/>
              </a:ext>
            </a:extLst>
          </p:cNvPr>
          <p:cNvSpPr/>
          <p:nvPr/>
        </p:nvSpPr>
        <p:spPr>
          <a:xfrm>
            <a:off x="6245352" y="4063722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D3EC2C-1710-815D-6EC6-AE9DF1272B11}"/>
              </a:ext>
            </a:extLst>
          </p:cNvPr>
          <p:cNvSpPr txBox="1"/>
          <p:nvPr/>
        </p:nvSpPr>
        <p:spPr>
          <a:xfrm>
            <a:off x="6245352" y="407286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DOCX Download Button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38590E-B92D-93DF-8364-D47A43825043}"/>
              </a:ext>
            </a:extLst>
          </p:cNvPr>
          <p:cNvSpPr txBox="1"/>
          <p:nvPr/>
        </p:nvSpPr>
        <p:spPr>
          <a:xfrm>
            <a:off x="8714232" y="407286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555555"/>
                </a:solidFill>
              </a:rPr>
              <a:t>One-click download of the formatted appeal letter as a Word document ready for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Results — Demo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Three End-to-End Demonstrations Completed Successfully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🏥  Health Insurance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733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Scenario:      Non-network hospital treatment for emergency surgery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11095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Clause:          Section 3.1 — Network Provider Restriction Clause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AI Explanation:  Policy only covers treatment at empanelled network hospitals. Non-network hospitalisations are excluded unless prior authorisation is obtained. Emergency exceptions require post-facto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Appeal Drafted:  Drafted appeal citing emergency circumstances, attached treating doctor's certificate and hospital registration, requested post-facto authorisation under the emergency exceptions clause.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98648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0632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🚗  Motor Insurance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10711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Scenario:      Vehicle involved in accident while driven without a valid driving licence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4845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Clause:          Clause 5.2 — Valid Driving Licence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AI Explanation:  Coverage is void if the vehicle was being operated without a valid, unexpired driving licence at the time of the incident. This is a fundamental pre-condition of the motor insurance contract.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Appeal Drafted:  Drafted appeal with renewed licence copy, traffic authority verification, and argument that licence was valid at policy inception — requesting claims review with documentation of licence renewal timeline.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36007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💼  Life Insurance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480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Scenario:      Policy lapsed due to unpaid premium before paid-up value was established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858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Clause:          Clause 3.4 — Paid-Up Value Threshold and Grace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23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AI Explanation:  Premium payment is required within the 30-day grace period to keep the policy in force. If the insured sum has not reached the paid-up value threshold, lapse voids the policy and no death benefit is payable.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43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Appeal Drafted:  Drafted appeal presenting bank records showing payment was initiated on time, claiming processing delay caused the lapse — requesting reinstatement with back-premium payment under mercy clause.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Summary, Impact, and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We designed and implemented a complete, end-to-end GenAI system that allows any insurance policyholder to upload a rejection letter, receive a plain-language explanation of why their claim was rejected, and download a professionally drafted appeal letter — all within seconds, at zero cost, running entirely on local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Key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77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✓   All 5 required tools integrated and functional (Streamlit, PyPDF2, LangChain, python-docx, Ollama)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2783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✓   All 3 claim types demonstrated end-to-end: Health, Motor, and 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4787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✓   1,000-row custom dataset built and used as RAG knowledge base — no 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6791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✓   DOCX appeal letter export working with formatted sections and 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879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✓   PDF upload pipeline tested with real PDFs generated via fpdf2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0799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✓   Fully local — RTX 4060 + 32GB RAM, no paid API, complete data privacy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68880"/>
            <a:ext cx="36576" cy="3520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2514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5C99"/>
                </a:solidFill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07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IRDAI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Connect to the live IRDAI grievance portal for real-time complaint filing.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273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Multilingual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2735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Extend to Hindi, Kannada, Tamil for regional policyholder accessibility.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6393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Cloud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6393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Deploy on AWS/GCP with a managed LLM API for broader public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050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Policy Document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0050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Allow users to upload their own policy PDF for custom clause extraction.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3708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Mobile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708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Build a React Native wrapper for on-the-go rejection analysis and appeal filing.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365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▸  Claim Success Predictor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7365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5555"/>
                </a:solidFill>
              </a:rPr>
              <a:t>Add a scoring model that estimates appeal success probability before filing.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08076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Thank You  ·  Built with GenAI for Financial Inclusion  ·  Hackathon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1934</Words>
  <Application>Microsoft Office PowerPoint</Application>
  <PresentationFormat>Custom</PresentationFormat>
  <Paragraphs>208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sahana gidnandi</cp:lastModifiedBy>
  <cp:revision>2</cp:revision>
  <dcterms:created xsi:type="dcterms:W3CDTF">2013-01-27T09:14:16Z</dcterms:created>
  <dcterms:modified xsi:type="dcterms:W3CDTF">2026-05-30T18:29:20Z</dcterms:modified>
  <cp:category/>
</cp:coreProperties>
</file>